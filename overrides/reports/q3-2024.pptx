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60" r:id="rId3"/>
    <p:sldId id="275" r:id="rId4"/>
    <p:sldId id="277" r:id="rId5"/>
    <p:sldId id="274" r:id="rId6"/>
    <p:sldId id="278" r:id="rId7"/>
    <p:sldId id="279" r:id="rId8"/>
    <p:sldId id="273" r:id="rId9"/>
    <p:sldId id="280" r:id="rId10"/>
    <p:sldId id="263" r:id="rId11"/>
    <p:sldId id="262" r:id="rId12"/>
    <p:sldId id="290" r:id="rId13"/>
    <p:sldId id="265" r:id="rId14"/>
    <p:sldId id="284" r:id="rId15"/>
    <p:sldId id="264" r:id="rId16"/>
    <p:sldId id="272" r:id="rId17"/>
    <p:sldId id="268" r:id="rId18"/>
    <p:sldId id="270" r:id="rId19"/>
    <p:sldId id="283" r:id="rId20"/>
    <p:sldId id="285" r:id="rId21"/>
    <p:sldId id="286" r:id="rId22"/>
    <p:sldId id="287" r:id="rId23"/>
    <p:sldId id="288" r:id="rId24"/>
    <p:sldId id="258" r:id="rId25"/>
  </p:sldIdLst>
  <p:sldSz cx="12192000" cy="6858000"/>
  <p:notesSz cx="6858000" cy="9144000"/>
  <p:defaultTextStyle>
    <a:defPPr>
      <a:defRPr lang="en-OM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A564C"/>
    <a:srgbClr val="C48F22"/>
    <a:srgbClr val="F4F6F5"/>
    <a:srgbClr val="CCA862"/>
    <a:srgbClr val="E4E8E7"/>
    <a:srgbClr val="F3F5F4"/>
    <a:srgbClr val="E6EA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879" autoAdjust="0"/>
    <p:restoredTop sz="94658"/>
  </p:normalViewPr>
  <p:slideViewPr>
    <p:cSldViewPr snapToGrid="0">
      <p:cViewPr varScale="1">
        <p:scale>
          <a:sx n="109" d="100"/>
          <a:sy n="109" d="100"/>
        </p:scale>
        <p:origin x="108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C27E05-829B-4BA6-B816-DC73FAA7FE16}" type="datetimeFigureOut">
              <a:rPr lang="en-US" smtClean="0"/>
              <a:t>10/3/2024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352CBF-3CC8-40CC-9115-F65A4FCD68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8404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352CBF-3CC8-40CC-9115-F65A4FCD682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2429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OM" dirty="0" smtClean="0"/>
              <a:t>تعديل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352CBF-3CC8-40CC-9115-F65A4FCD682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2015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OM" dirty="0" smtClean="0"/>
              <a:t>تعديل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352CBF-3CC8-40CC-9115-F65A4FCD682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3192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352CBF-3CC8-40CC-9115-F65A4FCD6824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2171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F0FB1-2D02-BD59-7DF6-1F7FA345D7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OM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5AB9ED-F7A5-96A3-0C5B-A6E5EA49BC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OM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50F420-EC38-8574-E6BB-6C67A255B9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4B064-EAD0-5541-87BA-5CB903E89B2C}" type="datetimeFigureOut">
              <a:rPr lang="en-OM" smtClean="0"/>
              <a:t>10/03/2024</a:t>
            </a:fld>
            <a:endParaRPr lang="en-OM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A0B159-64CE-590A-EC92-46FCD6298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OM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962017-F796-7560-30E3-57BB37BEA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EE26-75BB-314C-921E-2022448C2262}" type="slidenum">
              <a:rPr lang="en-OM" smtClean="0"/>
              <a:t>‹#›</a:t>
            </a:fld>
            <a:endParaRPr lang="en-OM"/>
          </a:p>
        </p:txBody>
      </p:sp>
    </p:spTree>
    <p:extLst>
      <p:ext uri="{BB962C8B-B14F-4D97-AF65-F5344CB8AC3E}">
        <p14:creationId xmlns:p14="http://schemas.microsoft.com/office/powerpoint/2010/main" val="38944345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10A22-5C0E-F6A7-B79B-92CADA187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OM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A1381C-AA23-EEC7-79BD-057BA035A7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OM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106999-05C0-A0BB-46FD-64AE30640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4B064-EAD0-5541-87BA-5CB903E89B2C}" type="datetimeFigureOut">
              <a:rPr lang="en-OM" smtClean="0"/>
              <a:t>10/03/2024</a:t>
            </a:fld>
            <a:endParaRPr lang="en-OM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4E724F-C9DB-6568-E3B8-A690199ED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OM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A8A2F9-A5EA-90D1-4E64-FC377EE83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EE26-75BB-314C-921E-2022448C2262}" type="slidenum">
              <a:rPr lang="en-OM" smtClean="0"/>
              <a:t>‹#›</a:t>
            </a:fld>
            <a:endParaRPr lang="en-OM"/>
          </a:p>
        </p:txBody>
      </p:sp>
    </p:spTree>
    <p:extLst>
      <p:ext uri="{BB962C8B-B14F-4D97-AF65-F5344CB8AC3E}">
        <p14:creationId xmlns:p14="http://schemas.microsoft.com/office/powerpoint/2010/main" val="27101531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DF63F-D6D1-8A91-99FB-E3B4F5345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OM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43E3D9-3CDF-A5DE-984B-080C2BF59D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3F7E9A-3C5E-2C71-C71C-C37FF6583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4B064-EAD0-5541-87BA-5CB903E89B2C}" type="datetimeFigureOut">
              <a:rPr lang="en-OM" smtClean="0"/>
              <a:t>10/03/2024</a:t>
            </a:fld>
            <a:endParaRPr lang="en-OM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65A6EE-BA19-B14F-ACCB-E7A8C1DFE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OM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D05D88-4676-1984-C199-DA0C656AA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EE26-75BB-314C-921E-2022448C2262}" type="slidenum">
              <a:rPr lang="en-OM" smtClean="0"/>
              <a:t>‹#›</a:t>
            </a:fld>
            <a:endParaRPr lang="en-OM"/>
          </a:p>
        </p:txBody>
      </p:sp>
    </p:spTree>
    <p:extLst>
      <p:ext uri="{BB962C8B-B14F-4D97-AF65-F5344CB8AC3E}">
        <p14:creationId xmlns:p14="http://schemas.microsoft.com/office/powerpoint/2010/main" val="1514947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94D35-E122-E92E-825F-965A344CB6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OM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52C8B7-5898-50B0-6FE6-DAE5523758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OM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212541-A05D-8C6D-6A5E-D8A901E2EE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OM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53A730-0017-C678-5734-7CA34CF27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4B064-EAD0-5541-87BA-5CB903E89B2C}" type="datetimeFigureOut">
              <a:rPr lang="en-OM" smtClean="0"/>
              <a:t>10/03/2024</a:t>
            </a:fld>
            <a:endParaRPr lang="en-OM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884DA6-6A2C-E701-A533-B3EA751597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OM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24B334-54CB-A310-79DD-6C838A8E6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EE26-75BB-314C-921E-2022448C2262}" type="slidenum">
              <a:rPr lang="en-OM" smtClean="0"/>
              <a:t>‹#›</a:t>
            </a:fld>
            <a:endParaRPr lang="en-OM"/>
          </a:p>
        </p:txBody>
      </p:sp>
    </p:spTree>
    <p:extLst>
      <p:ext uri="{BB962C8B-B14F-4D97-AF65-F5344CB8AC3E}">
        <p14:creationId xmlns:p14="http://schemas.microsoft.com/office/powerpoint/2010/main" val="13940486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699C5-2307-CC45-3753-5A83AE8DCB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OM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A8AC8A-C08A-4CA4-C619-BDEECF25AE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294D4A-AA7A-35B9-CC72-788BCFE56D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OM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B01046-F7A4-E4B5-8FEA-818E6AFA20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B6BF7C-D3F6-FA53-2BDD-902EED7BD5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OM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F52984-AFEC-BB2D-64DB-FF76DA554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4B064-EAD0-5541-87BA-5CB903E89B2C}" type="datetimeFigureOut">
              <a:rPr lang="en-OM" smtClean="0"/>
              <a:t>10/03/2024</a:t>
            </a:fld>
            <a:endParaRPr lang="en-OM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0540AA-6A0F-3736-CB9E-53F74A414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OM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9D3497-39D5-0D54-4902-5F7C2B326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EE26-75BB-314C-921E-2022448C2262}" type="slidenum">
              <a:rPr lang="en-OM" smtClean="0"/>
              <a:t>‹#›</a:t>
            </a:fld>
            <a:endParaRPr lang="en-OM"/>
          </a:p>
        </p:txBody>
      </p:sp>
    </p:spTree>
    <p:extLst>
      <p:ext uri="{BB962C8B-B14F-4D97-AF65-F5344CB8AC3E}">
        <p14:creationId xmlns:p14="http://schemas.microsoft.com/office/powerpoint/2010/main" val="16170879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03A53-826B-0B40-03F2-B1EBAB39E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OM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5A0DFE-6ABF-5766-BB49-DAD106A65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4B064-EAD0-5541-87BA-5CB903E89B2C}" type="datetimeFigureOut">
              <a:rPr lang="en-OM" smtClean="0"/>
              <a:t>10/03/2024</a:t>
            </a:fld>
            <a:endParaRPr lang="en-OM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6BD99E-94EE-E827-65E9-4B72228C7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OM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DB6860-8666-96A2-6FE7-6F71A5BFE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EE26-75BB-314C-921E-2022448C2262}" type="slidenum">
              <a:rPr lang="en-OM" smtClean="0"/>
              <a:t>‹#›</a:t>
            </a:fld>
            <a:endParaRPr lang="en-OM"/>
          </a:p>
        </p:txBody>
      </p:sp>
    </p:spTree>
    <p:extLst>
      <p:ext uri="{BB962C8B-B14F-4D97-AF65-F5344CB8AC3E}">
        <p14:creationId xmlns:p14="http://schemas.microsoft.com/office/powerpoint/2010/main" val="3796800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1AB111-AC8A-AC8E-FD22-AEEF83E95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4B064-EAD0-5541-87BA-5CB903E89B2C}" type="datetimeFigureOut">
              <a:rPr lang="en-OM" smtClean="0"/>
              <a:t>10/03/2024</a:t>
            </a:fld>
            <a:endParaRPr lang="en-OM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F8F253-B1A6-1D1B-32CF-17610FCA3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OM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3B9844-F292-F9C2-E2F2-621085172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EE26-75BB-314C-921E-2022448C2262}" type="slidenum">
              <a:rPr lang="en-OM" smtClean="0"/>
              <a:t>‹#›</a:t>
            </a:fld>
            <a:endParaRPr lang="en-OM"/>
          </a:p>
        </p:txBody>
      </p:sp>
    </p:spTree>
    <p:extLst>
      <p:ext uri="{BB962C8B-B14F-4D97-AF65-F5344CB8AC3E}">
        <p14:creationId xmlns:p14="http://schemas.microsoft.com/office/powerpoint/2010/main" val="872808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1FF5C-BB6F-8315-DAD4-E1D7BC9EC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OM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61BC1A-5A56-D581-7EF6-B507853C58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OM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F5ADCD-9DA2-5314-8DF5-3F13C51E17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34C5AE-FE1F-5640-889F-39917FC5E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4B064-EAD0-5541-87BA-5CB903E89B2C}" type="datetimeFigureOut">
              <a:rPr lang="en-OM" smtClean="0"/>
              <a:t>10/03/2024</a:t>
            </a:fld>
            <a:endParaRPr lang="en-OM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8AF1D4-4508-5CD9-2A5C-0C38F9B614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OM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C0B2E3-EEED-A398-3992-58521F6E4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EE26-75BB-314C-921E-2022448C2262}" type="slidenum">
              <a:rPr lang="en-OM" smtClean="0"/>
              <a:t>‹#›</a:t>
            </a:fld>
            <a:endParaRPr lang="en-OM"/>
          </a:p>
        </p:txBody>
      </p:sp>
    </p:spTree>
    <p:extLst>
      <p:ext uri="{BB962C8B-B14F-4D97-AF65-F5344CB8AC3E}">
        <p14:creationId xmlns:p14="http://schemas.microsoft.com/office/powerpoint/2010/main" val="2701709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CBCCE-DDF3-5C11-4615-DEC8B7BA9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OM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D7FA8E7-15C7-CAE2-CE40-A10C98850E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OM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4B1307-15C6-B9C7-D286-73BB185E7F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9241B1-03A5-6E65-2184-A556AFF70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4B064-EAD0-5541-87BA-5CB903E89B2C}" type="datetimeFigureOut">
              <a:rPr lang="en-OM" smtClean="0"/>
              <a:t>10/03/2024</a:t>
            </a:fld>
            <a:endParaRPr lang="en-OM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B45B38-5108-AAC3-804B-3B85A3391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OM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08C852-A76E-7141-DD02-41AF6FE96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EE26-75BB-314C-921E-2022448C2262}" type="slidenum">
              <a:rPr lang="en-OM" smtClean="0"/>
              <a:t>‹#›</a:t>
            </a:fld>
            <a:endParaRPr lang="en-OM"/>
          </a:p>
        </p:txBody>
      </p:sp>
    </p:spTree>
    <p:extLst>
      <p:ext uri="{BB962C8B-B14F-4D97-AF65-F5344CB8AC3E}">
        <p14:creationId xmlns:p14="http://schemas.microsoft.com/office/powerpoint/2010/main" val="14753581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29ED4-3BE2-EE4B-CCEC-A30C0E1CB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OM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3E4A70-7F63-6105-7E56-968A45800D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OM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97FCEA-305E-8695-958E-338DE847E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4B064-EAD0-5541-87BA-5CB903E89B2C}" type="datetimeFigureOut">
              <a:rPr lang="en-OM" smtClean="0"/>
              <a:t>10/03/2024</a:t>
            </a:fld>
            <a:endParaRPr lang="en-OM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78D1EE-A272-546D-BABE-7586F0AA9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OM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27984F-C925-FC51-363D-8284B3280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EE26-75BB-314C-921E-2022448C2262}" type="slidenum">
              <a:rPr lang="en-OM" smtClean="0"/>
              <a:t>‹#›</a:t>
            </a:fld>
            <a:endParaRPr lang="en-OM"/>
          </a:p>
        </p:txBody>
      </p:sp>
    </p:spTree>
    <p:extLst>
      <p:ext uri="{BB962C8B-B14F-4D97-AF65-F5344CB8AC3E}">
        <p14:creationId xmlns:p14="http://schemas.microsoft.com/office/powerpoint/2010/main" val="17321159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B54C18-E4AF-02A2-1C2E-D22A8323F0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OM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A11211-181C-0C0C-246D-389BD7C931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OM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2D5C89-7AD1-0084-AD99-8AC83B520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4B064-EAD0-5541-87BA-5CB903E89B2C}" type="datetimeFigureOut">
              <a:rPr lang="en-OM" smtClean="0"/>
              <a:t>10/03/2024</a:t>
            </a:fld>
            <a:endParaRPr lang="en-OM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DFA6E-F843-B0C1-67EA-DDAA539734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OM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C8A029-30E1-4C49-2863-5B3781128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EE26-75BB-314C-921E-2022448C2262}" type="slidenum">
              <a:rPr lang="en-OM" smtClean="0"/>
              <a:t>‹#›</a:t>
            </a:fld>
            <a:endParaRPr lang="en-OM"/>
          </a:p>
        </p:txBody>
      </p:sp>
    </p:spTree>
    <p:extLst>
      <p:ext uri="{BB962C8B-B14F-4D97-AF65-F5344CB8AC3E}">
        <p14:creationId xmlns:p14="http://schemas.microsoft.com/office/powerpoint/2010/main" val="28958815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617E11-75F0-7AB7-480B-5E37A13DC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OM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0D76FE-3416-725D-1555-12D5FCAF83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OM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2246D2-2231-BAD7-73D6-13A041C0F2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44B064-EAD0-5541-87BA-5CB903E89B2C}" type="datetimeFigureOut">
              <a:rPr lang="en-OM" smtClean="0"/>
              <a:t>10/03/2024</a:t>
            </a:fld>
            <a:endParaRPr lang="en-OM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8CEC23-E1F8-DFB5-7306-E0B543CBFA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OM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67A286-1088-35FA-C180-11B3BBE0AD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50EE26-75BB-314C-921E-2022448C2262}" type="slidenum">
              <a:rPr lang="en-OM" smtClean="0"/>
              <a:t>‹#›</a:t>
            </a:fld>
            <a:endParaRPr lang="en-OM"/>
          </a:p>
        </p:txBody>
      </p:sp>
    </p:spTree>
    <p:extLst>
      <p:ext uri="{BB962C8B-B14F-4D97-AF65-F5344CB8AC3E}">
        <p14:creationId xmlns:p14="http://schemas.microsoft.com/office/powerpoint/2010/main" val="41614279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OM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2EA66-9501-7362-012A-8494616810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052817"/>
            <a:ext cx="9144000" cy="1205687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ar-OM" b="1" dirty="0" smtClean="0">
                <a:solidFill>
                  <a:srgbClr val="CCA862"/>
                </a:solidFill>
                <a:latin typeface="DIN Next LT Arabic" panose="020B0503020203050203" pitchFamily="34" charset="-78"/>
                <a:cs typeface="DIN Next LT Arabic" panose="020B0503020203050203" pitchFamily="34" charset="-78"/>
              </a:rPr>
              <a:t>التقرير الربع السنوي</a:t>
            </a:r>
            <a:r>
              <a:rPr lang="en-GB" b="1" dirty="0" smtClean="0">
                <a:solidFill>
                  <a:srgbClr val="CCA862"/>
                </a:solidFill>
                <a:latin typeface="DIN Next LT Arabic" panose="020B0503020203050203" pitchFamily="34" charset="-78"/>
                <a:cs typeface="DIN Next LT Arabic" panose="020B0503020203050203" pitchFamily="34" charset="-78"/>
              </a:rPr>
              <a:t/>
            </a:r>
            <a:br>
              <a:rPr lang="en-GB" b="1" dirty="0" smtClean="0">
                <a:solidFill>
                  <a:srgbClr val="CCA862"/>
                </a:solidFill>
                <a:latin typeface="DIN Next LT Arabic" panose="020B0503020203050203" pitchFamily="34" charset="-78"/>
                <a:cs typeface="DIN Next LT Arabic" panose="020B0503020203050203" pitchFamily="34" charset="-78"/>
              </a:rPr>
            </a:br>
            <a:r>
              <a:rPr lang="ar-OM" sz="3600" b="1" dirty="0" smtClean="0">
                <a:solidFill>
                  <a:schemeClr val="bg1"/>
                </a:solidFill>
                <a:latin typeface="DIN Next LT Arabic" panose="020B0503020203050203" pitchFamily="34" charset="-78"/>
                <a:cs typeface="DIN Next LT Arabic" panose="020B0503020203050203" pitchFamily="34" charset="-78"/>
              </a:rPr>
              <a:t>للمديرية العامة لخدمات المتعاملين  </a:t>
            </a:r>
            <a:endParaRPr lang="en-OM" b="1" dirty="0">
              <a:solidFill>
                <a:schemeClr val="bg1"/>
              </a:solidFill>
              <a:latin typeface="DIN Next LT Arabic" panose="020B0503020203050203" pitchFamily="34" charset="-78"/>
              <a:cs typeface="DIN Next LT Arabic" panose="020B0503020203050203" pitchFamily="34" charset="-78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4200C2-8B6C-9D74-4B7E-4C2A1CD2B4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640282"/>
            <a:ext cx="9144000" cy="1655762"/>
          </a:xfrm>
        </p:spPr>
        <p:txBody>
          <a:bodyPr>
            <a:normAutofit/>
          </a:bodyPr>
          <a:lstStyle/>
          <a:p>
            <a:pPr marL="0" indent="0" algn="ct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ar-OM" sz="1800" b="1" dirty="0" smtClean="0">
                <a:solidFill>
                  <a:schemeClr val="bg1"/>
                </a:solidFill>
                <a:cs typeface="DIN Next LT Arabic" panose="020B0503020203050203" pitchFamily="34" charset="-78"/>
              </a:rPr>
              <a:t>اكتوبر 2024</a:t>
            </a:r>
            <a:endParaRPr lang="en-OM" sz="1800" b="1" dirty="0">
              <a:solidFill>
                <a:schemeClr val="bg1"/>
              </a:solidFill>
              <a:cs typeface="DIN Next LT Arabic" panose="020B0503020203050203" pitchFamily="34" charset="-78"/>
            </a:endParaRPr>
          </a:p>
        </p:txBody>
      </p:sp>
      <p:sp>
        <p:nvSpPr>
          <p:cNvPr id="4" name="Octagon 3">
            <a:extLst>
              <a:ext uri="{FF2B5EF4-FFF2-40B4-BE49-F238E27FC236}">
                <a16:creationId xmlns:a16="http://schemas.microsoft.com/office/drawing/2014/main" id="{8F86244E-E4BF-5A5A-2854-9EE6B1A483EE}"/>
              </a:ext>
            </a:extLst>
          </p:cNvPr>
          <p:cNvSpPr/>
          <p:nvPr/>
        </p:nvSpPr>
        <p:spPr>
          <a:xfrm>
            <a:off x="11724552" y="6469363"/>
            <a:ext cx="268357" cy="268357"/>
          </a:xfrm>
          <a:prstGeom prst="octagon">
            <a:avLst/>
          </a:prstGeom>
          <a:solidFill>
            <a:srgbClr val="CCA862"/>
          </a:solidFill>
          <a:ln>
            <a:noFill/>
          </a:ln>
          <a:effectLst>
            <a:outerShdw blurRad="127000" dist="635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OM" sz="1600" dirty="0" smtClean="0"/>
              <a:t>1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344603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ctagon 10">
            <a:extLst>
              <a:ext uri="{FF2B5EF4-FFF2-40B4-BE49-F238E27FC236}">
                <a16:creationId xmlns:a16="http://schemas.microsoft.com/office/drawing/2014/main" id="{8F86244E-E4BF-5A5A-2854-9EE6B1A483EE}"/>
              </a:ext>
            </a:extLst>
          </p:cNvPr>
          <p:cNvSpPr/>
          <p:nvPr/>
        </p:nvSpPr>
        <p:spPr>
          <a:xfrm>
            <a:off x="11682986" y="6469363"/>
            <a:ext cx="268357" cy="268357"/>
          </a:xfrm>
          <a:prstGeom prst="octagon">
            <a:avLst/>
          </a:prstGeom>
          <a:solidFill>
            <a:srgbClr val="CCA862"/>
          </a:solidFill>
          <a:ln>
            <a:noFill/>
          </a:ln>
          <a:effectLst>
            <a:outerShdw blurRad="127000" dist="635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OM" sz="1600" dirty="0" smtClean="0"/>
              <a:t>2</a:t>
            </a:r>
            <a:endParaRPr lang="en-US" sz="1600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0C6CE04-24CA-7131-63C7-C9054D61804A}"/>
              </a:ext>
            </a:extLst>
          </p:cNvPr>
          <p:cNvCxnSpPr/>
          <p:nvPr/>
        </p:nvCxnSpPr>
        <p:spPr>
          <a:xfrm flipH="1">
            <a:off x="7345027" y="6671338"/>
            <a:ext cx="1408043" cy="0"/>
          </a:xfrm>
          <a:prstGeom prst="line">
            <a:avLst/>
          </a:prstGeom>
          <a:ln>
            <a:solidFill>
              <a:srgbClr val="C48F2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10817388" y="1909413"/>
            <a:ext cx="582286" cy="408791"/>
          </a:xfrm>
          <a:prstGeom prst="ellipse">
            <a:avLst/>
          </a:prstGeom>
          <a:solidFill>
            <a:srgbClr val="C48F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OM" sz="2000" b="1" dirty="0" smtClean="0">
                <a:solidFill>
                  <a:srgbClr val="3A564C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4</a:t>
            </a:r>
            <a:endParaRPr lang="en-US" sz="1600" b="1" dirty="0">
              <a:solidFill>
                <a:srgbClr val="3A564C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sp>
        <p:nvSpPr>
          <p:cNvPr id="6" name="Oval 5"/>
          <p:cNvSpPr/>
          <p:nvPr/>
        </p:nvSpPr>
        <p:spPr>
          <a:xfrm>
            <a:off x="10817388" y="2498193"/>
            <a:ext cx="582286" cy="408722"/>
          </a:xfrm>
          <a:prstGeom prst="ellipse">
            <a:avLst/>
          </a:prstGeom>
          <a:solidFill>
            <a:srgbClr val="C48F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OM" sz="2000" dirty="0" smtClean="0">
                <a:solidFill>
                  <a:srgbClr val="3A564C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5-7</a:t>
            </a:r>
            <a:endParaRPr lang="en-US" dirty="0">
              <a:solidFill>
                <a:srgbClr val="3A564C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sp>
        <p:nvSpPr>
          <p:cNvPr id="7" name="Oval 6"/>
          <p:cNvSpPr/>
          <p:nvPr/>
        </p:nvSpPr>
        <p:spPr>
          <a:xfrm>
            <a:off x="10817388" y="3108889"/>
            <a:ext cx="582288" cy="397127"/>
          </a:xfrm>
          <a:prstGeom prst="ellipse">
            <a:avLst/>
          </a:prstGeom>
          <a:solidFill>
            <a:srgbClr val="C48F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OM" dirty="0" smtClean="0">
                <a:solidFill>
                  <a:srgbClr val="3A564C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8-9</a:t>
            </a:r>
            <a:endParaRPr lang="en-US" b="1" dirty="0">
              <a:solidFill>
                <a:srgbClr val="3A564C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sp>
        <p:nvSpPr>
          <p:cNvPr id="8" name="Oval 7"/>
          <p:cNvSpPr/>
          <p:nvPr/>
        </p:nvSpPr>
        <p:spPr>
          <a:xfrm>
            <a:off x="10817388" y="3665951"/>
            <a:ext cx="582286" cy="376035"/>
          </a:xfrm>
          <a:prstGeom prst="ellipse">
            <a:avLst/>
          </a:prstGeom>
          <a:solidFill>
            <a:srgbClr val="C48F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OM" sz="2000" dirty="0" smtClean="0">
                <a:solidFill>
                  <a:srgbClr val="3A564C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10</a:t>
            </a:r>
            <a:endParaRPr lang="en-US" dirty="0">
              <a:solidFill>
                <a:srgbClr val="3A564C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sp>
        <p:nvSpPr>
          <p:cNvPr id="9" name="Oval 8"/>
          <p:cNvSpPr/>
          <p:nvPr/>
        </p:nvSpPr>
        <p:spPr>
          <a:xfrm>
            <a:off x="10817388" y="4233772"/>
            <a:ext cx="582286" cy="400792"/>
          </a:xfrm>
          <a:prstGeom prst="ellipse">
            <a:avLst/>
          </a:prstGeom>
          <a:solidFill>
            <a:srgbClr val="C48F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OM" sz="2000" dirty="0" smtClean="0">
                <a:solidFill>
                  <a:srgbClr val="3A564C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11</a:t>
            </a:r>
            <a:endParaRPr lang="en-US" dirty="0">
              <a:solidFill>
                <a:srgbClr val="3A564C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sp>
        <p:nvSpPr>
          <p:cNvPr id="10" name="Oval 9"/>
          <p:cNvSpPr/>
          <p:nvPr/>
        </p:nvSpPr>
        <p:spPr>
          <a:xfrm>
            <a:off x="10817388" y="1352908"/>
            <a:ext cx="582286" cy="408791"/>
          </a:xfrm>
          <a:prstGeom prst="ellipse">
            <a:avLst/>
          </a:prstGeom>
          <a:solidFill>
            <a:srgbClr val="C48F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OM" sz="2000" dirty="0" smtClean="0">
                <a:solidFill>
                  <a:srgbClr val="3A564C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3</a:t>
            </a:r>
            <a:endParaRPr lang="en-US" dirty="0">
              <a:solidFill>
                <a:srgbClr val="3A564C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10817388" y="4799798"/>
            <a:ext cx="582286" cy="423404"/>
          </a:xfrm>
          <a:prstGeom prst="ellipse">
            <a:avLst/>
          </a:prstGeom>
          <a:solidFill>
            <a:srgbClr val="C48F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rgbClr val="3A564C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9234910" y="1309248"/>
            <a:ext cx="14686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rtl="1"/>
            <a:r>
              <a:rPr lang="ar-OM" sz="2400" dirty="0" smtClean="0">
                <a:solidFill>
                  <a:srgbClr val="3A564C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rPr>
              <a:t>الملخص التنفيذي</a:t>
            </a:r>
            <a:endParaRPr lang="en-US" sz="2400" dirty="0">
              <a:solidFill>
                <a:srgbClr val="3A564C"/>
              </a:solidFill>
              <a:latin typeface="Microsoft Uighur" panose="02000000000000000000" pitchFamily="2" charset="-78"/>
              <a:ea typeface="SimSun" panose="02010600030101010101" pitchFamily="2" charset="-122"/>
              <a:cs typeface="Microsoft Uighur" panose="02000000000000000000" pitchFamily="2" charset="-78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009935" y="1942275"/>
            <a:ext cx="38074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OM" sz="2400" dirty="0">
                <a:solidFill>
                  <a:srgbClr val="3A564C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rPr>
              <a:t>الأنشطة والفعاليات والإنجازات على مستوى الدائرة </a:t>
            </a:r>
            <a:endParaRPr lang="en-US" sz="2400" dirty="0">
              <a:solidFill>
                <a:srgbClr val="3A564C"/>
              </a:solidFill>
              <a:latin typeface="Microsoft Uighur" panose="02000000000000000000" pitchFamily="2" charset="-78"/>
              <a:ea typeface="SimSun" panose="02010600030101010101" pitchFamily="2" charset="-122"/>
              <a:cs typeface="Microsoft Uighur" panose="02000000000000000000" pitchFamily="2" charset="-78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494452" y="2500135"/>
            <a:ext cx="22468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OM" sz="2400" dirty="0">
                <a:solidFill>
                  <a:srgbClr val="3A564C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rPr>
              <a:t>المبادرات التشغيلية </a:t>
            </a:r>
            <a:r>
              <a:rPr lang="ar-OM" sz="2400" dirty="0" smtClean="0">
                <a:solidFill>
                  <a:srgbClr val="3A564C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rPr>
              <a:t>للمديرية</a:t>
            </a:r>
            <a:endParaRPr lang="en-US" sz="2400" dirty="0">
              <a:solidFill>
                <a:srgbClr val="3A564C"/>
              </a:solidFill>
              <a:latin typeface="Microsoft Uighur" panose="02000000000000000000" pitchFamily="2" charset="-78"/>
              <a:ea typeface="SimSun" panose="02010600030101010101" pitchFamily="2" charset="-122"/>
              <a:cs typeface="Microsoft Uighur" panose="02000000000000000000" pitchFamily="2" charset="-78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474538" y="3108889"/>
            <a:ext cx="22290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ar-OM" sz="2400" dirty="0" smtClean="0">
                <a:solidFill>
                  <a:srgbClr val="3A564C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rPr>
              <a:t>الكوادر البشرية </a:t>
            </a:r>
            <a:endParaRPr lang="en-US" sz="2400" dirty="0">
              <a:solidFill>
                <a:srgbClr val="3A564C"/>
              </a:solidFill>
              <a:latin typeface="Microsoft Uighur" panose="02000000000000000000" pitchFamily="2" charset="-78"/>
              <a:ea typeface="SimSun" panose="02010600030101010101" pitchFamily="2" charset="-122"/>
              <a:cs typeface="Microsoft Uighur" panose="02000000000000000000" pitchFamily="2" charset="-78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9001507" y="3644068"/>
            <a:ext cx="177163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OM" sz="2400" dirty="0" smtClean="0">
                <a:solidFill>
                  <a:srgbClr val="3A564C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rPr>
              <a:t>مؤشرات أداء المديرية </a:t>
            </a:r>
            <a:endParaRPr lang="en-US" sz="2400" dirty="0">
              <a:solidFill>
                <a:srgbClr val="3A564C"/>
              </a:solidFill>
              <a:latin typeface="Microsoft Uighur" panose="02000000000000000000" pitchFamily="2" charset="-78"/>
              <a:ea typeface="SimSun" panose="02010600030101010101" pitchFamily="2" charset="-122"/>
              <a:cs typeface="Microsoft Uighur" panose="02000000000000000000" pitchFamily="2" charset="-78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7489863" y="4198256"/>
            <a:ext cx="349009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ar-OM" sz="2400" dirty="0" smtClean="0">
                <a:solidFill>
                  <a:srgbClr val="3A564C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rPr>
              <a:t>المؤشرات </a:t>
            </a:r>
            <a:r>
              <a:rPr lang="ar-OM" sz="2400" dirty="0">
                <a:solidFill>
                  <a:srgbClr val="3A564C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rPr>
              <a:t>الإحصائية لمركز الخدمة </a:t>
            </a:r>
            <a:r>
              <a:rPr lang="ar-OM" sz="2400" dirty="0" smtClean="0">
                <a:solidFill>
                  <a:srgbClr val="3A564C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rPr>
              <a:t>الهاتفية</a:t>
            </a:r>
            <a:r>
              <a:rPr lang="ar-OM" sz="2400" dirty="0" smtClean="0">
                <a:solidFill>
                  <a:srgbClr val="3A564C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   </a:t>
            </a:r>
            <a:endParaRPr lang="en-US" sz="2400" dirty="0">
              <a:solidFill>
                <a:srgbClr val="3A564C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7145069" y="4761538"/>
            <a:ext cx="371287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OM" sz="2400" dirty="0">
                <a:solidFill>
                  <a:srgbClr val="3A564C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rPr>
              <a:t>أهم المؤشرات الإحصائيات على مستوى </a:t>
            </a:r>
            <a:r>
              <a:rPr lang="ar-OM" sz="2400" dirty="0" smtClean="0">
                <a:solidFill>
                  <a:srgbClr val="3A564C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rPr>
              <a:t>المديرية  </a:t>
            </a:r>
            <a:endParaRPr lang="en-US" sz="2400" dirty="0">
              <a:solidFill>
                <a:srgbClr val="3A564C"/>
              </a:solidFill>
              <a:latin typeface="Microsoft Uighur" panose="02000000000000000000" pitchFamily="2" charset="-78"/>
              <a:ea typeface="SimSun" panose="02010600030101010101" pitchFamily="2" charset="-122"/>
              <a:cs typeface="Microsoft Uighur" panose="02000000000000000000" pitchFamily="2" charset="-78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0857945" y="4825155"/>
            <a:ext cx="6770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OM" b="1" dirty="0">
                <a:solidFill>
                  <a:srgbClr val="3A564C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12-23</a:t>
            </a:r>
            <a:endParaRPr lang="en-US" b="1" dirty="0">
              <a:solidFill>
                <a:srgbClr val="3A564C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  <a:p>
            <a:endParaRPr lang="en-US" dirty="0"/>
          </a:p>
        </p:txBody>
      </p:sp>
      <p:sp>
        <p:nvSpPr>
          <p:cNvPr id="24" name="Rectangle 23"/>
          <p:cNvSpPr/>
          <p:nvPr/>
        </p:nvSpPr>
        <p:spPr>
          <a:xfrm>
            <a:off x="9838632" y="328278"/>
            <a:ext cx="141417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OM" sz="3600" b="1" dirty="0" smtClean="0">
                <a:solidFill>
                  <a:srgbClr val="CCA862"/>
                </a:solidFill>
                <a:cs typeface="Microsoft Uighur" panose="02000000000000000000" pitchFamily="2" charset="-78"/>
              </a:rPr>
              <a:t>المحتوى: </a:t>
            </a:r>
            <a:r>
              <a:rPr lang="ar-OM" sz="3200" dirty="0" smtClean="0">
                <a:solidFill>
                  <a:srgbClr val="3A564C"/>
                </a:solidFill>
                <a:latin typeface="Book Antiqua" panose="02040602050305030304" pitchFamily="18" charset="0"/>
                <a:cs typeface="+mj-cs"/>
              </a:rPr>
              <a:t> </a:t>
            </a:r>
            <a:endParaRPr lang="en-US" sz="3200" dirty="0">
              <a:solidFill>
                <a:srgbClr val="3A564C"/>
              </a:solidFill>
              <a:latin typeface="Book Antiqua" panose="02040602050305030304" pitchFamily="18" charset="0"/>
              <a:cs typeface="+mj-cs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E96DFE5-67FE-5396-69D0-1988537D7F87}"/>
              </a:ext>
            </a:extLst>
          </p:cNvPr>
          <p:cNvCxnSpPr>
            <a:cxnSpLocks/>
          </p:cNvCxnSpPr>
          <p:nvPr/>
        </p:nvCxnSpPr>
        <p:spPr>
          <a:xfrm>
            <a:off x="2993586" y="997563"/>
            <a:ext cx="8406088" cy="0"/>
          </a:xfrm>
          <a:prstGeom prst="line">
            <a:avLst/>
          </a:prstGeom>
          <a:ln>
            <a:solidFill>
              <a:srgbClr val="C48F22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84534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Octagon 50">
            <a:extLst>
              <a:ext uri="{FF2B5EF4-FFF2-40B4-BE49-F238E27FC236}">
                <a16:creationId xmlns:a16="http://schemas.microsoft.com/office/drawing/2014/main" id="{8F86244E-E4BF-5A5A-2854-9EE6B1A483EE}"/>
              </a:ext>
            </a:extLst>
          </p:cNvPr>
          <p:cNvSpPr/>
          <p:nvPr/>
        </p:nvSpPr>
        <p:spPr>
          <a:xfrm>
            <a:off x="11766110" y="6358527"/>
            <a:ext cx="268357" cy="268357"/>
          </a:xfrm>
          <a:prstGeom prst="octagon">
            <a:avLst/>
          </a:prstGeom>
          <a:solidFill>
            <a:srgbClr val="CCA862"/>
          </a:solidFill>
          <a:ln>
            <a:noFill/>
          </a:ln>
          <a:effectLst>
            <a:outerShdw blurRad="127000" dist="635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4F1C4B0-6D2A-BD55-6F9E-B76F09E2FA58}"/>
              </a:ext>
            </a:extLst>
          </p:cNvPr>
          <p:cNvSpPr txBox="1"/>
          <p:nvPr/>
        </p:nvSpPr>
        <p:spPr>
          <a:xfrm>
            <a:off x="8919597" y="133081"/>
            <a:ext cx="3331714" cy="738664"/>
          </a:xfrm>
          <a:prstGeom prst="rect">
            <a:avLst/>
          </a:prstGeom>
          <a:noFill/>
          <a:effectLst/>
        </p:spPr>
        <p:txBody>
          <a:bodyPr wrap="square" lIns="0" tIns="0" rIns="0" bIns="0" rtlCol="0">
            <a:spAutoFit/>
          </a:bodyPr>
          <a:lstStyle/>
          <a:p>
            <a:r>
              <a:rPr lang="ar-OM" sz="4800" dirty="0" smtClean="0">
                <a:solidFill>
                  <a:srgbClr val="CCA862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الملخص التنفيذي: </a:t>
            </a:r>
            <a:endParaRPr lang="en-US" sz="4800" dirty="0">
              <a:solidFill>
                <a:srgbClr val="CCA862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7C23099B-6F7C-4BBD-9F4E-A5126796931E}"/>
              </a:ext>
            </a:extLst>
          </p:cNvPr>
          <p:cNvSpPr/>
          <p:nvPr/>
        </p:nvSpPr>
        <p:spPr>
          <a:xfrm>
            <a:off x="5735782" y="1189421"/>
            <a:ext cx="4301102" cy="499431"/>
          </a:xfrm>
          <a:prstGeom prst="rect">
            <a:avLst/>
          </a:prstGeom>
          <a:solidFill>
            <a:srgbClr val="E4E8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r" rtl="1"/>
            <a:r>
              <a:rPr lang="ar-OM" sz="2000" dirty="0" smtClean="0">
                <a:solidFill>
                  <a:srgbClr val="013631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rPr>
              <a:t> (</a:t>
            </a:r>
            <a:r>
              <a:rPr lang="en-GB" sz="2000" dirty="0" smtClean="0">
                <a:solidFill>
                  <a:srgbClr val="013631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rPr>
              <a:t>18</a:t>
            </a:r>
            <a:r>
              <a:rPr lang="ar-OM" sz="2000" dirty="0" smtClean="0">
                <a:solidFill>
                  <a:srgbClr val="013631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rPr>
              <a:t>)</a:t>
            </a:r>
            <a:r>
              <a:rPr lang="en-US" sz="2000" dirty="0" smtClean="0">
                <a:solidFill>
                  <a:srgbClr val="013631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rPr>
              <a:t> </a:t>
            </a:r>
            <a:r>
              <a:rPr lang="ar-OM" sz="2000" dirty="0">
                <a:solidFill>
                  <a:srgbClr val="013631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rPr>
              <a:t>هدف تشغيلي و (1) هدف </a:t>
            </a:r>
            <a:r>
              <a:rPr lang="ar-OM" sz="2000" dirty="0" smtClean="0">
                <a:solidFill>
                  <a:srgbClr val="013631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rPr>
              <a:t>استراتيجي</a:t>
            </a:r>
            <a:endParaRPr lang="en-US" sz="2000" dirty="0">
              <a:solidFill>
                <a:srgbClr val="013631"/>
              </a:solidFill>
              <a:latin typeface="Microsoft Uighur" panose="02000000000000000000" pitchFamily="2" charset="-78"/>
              <a:ea typeface="SimSun" panose="02010600030101010101" pitchFamily="2" charset="-122"/>
              <a:cs typeface="Microsoft Uighur" panose="02000000000000000000" pitchFamily="2" charset="-78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7C23099B-6F7C-4BBD-9F4E-A5126796931E}"/>
              </a:ext>
            </a:extLst>
          </p:cNvPr>
          <p:cNvSpPr/>
          <p:nvPr/>
        </p:nvSpPr>
        <p:spPr>
          <a:xfrm>
            <a:off x="10036884" y="1189422"/>
            <a:ext cx="2155116" cy="499431"/>
          </a:xfrm>
          <a:prstGeom prst="rect">
            <a:avLst/>
          </a:prstGeom>
          <a:solidFill>
            <a:srgbClr val="3A56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b="1" dirty="0">
              <a:solidFill>
                <a:schemeClr val="bg1"/>
              </a:solidFill>
              <a:latin typeface="Microsoft Uighur" panose="02000000000000000000" pitchFamily="2" charset="-78"/>
              <a:ea typeface="Microsoft Sans Serif" panose="020B0604020202020204" pitchFamily="34" charset="0"/>
              <a:cs typeface="Microsoft Uighur" panose="02000000000000000000" pitchFamily="2" charset="-78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7C23099B-6F7C-4BBD-9F4E-A5126796931E}"/>
              </a:ext>
            </a:extLst>
          </p:cNvPr>
          <p:cNvSpPr/>
          <p:nvPr/>
        </p:nvSpPr>
        <p:spPr>
          <a:xfrm>
            <a:off x="10036884" y="1836544"/>
            <a:ext cx="2155115" cy="499431"/>
          </a:xfrm>
          <a:prstGeom prst="rect">
            <a:avLst/>
          </a:prstGeom>
          <a:solidFill>
            <a:srgbClr val="3A56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4A317"/>
              </a:solidFill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7C23099B-6F7C-4BBD-9F4E-A5126796931E}"/>
              </a:ext>
            </a:extLst>
          </p:cNvPr>
          <p:cNvSpPr/>
          <p:nvPr/>
        </p:nvSpPr>
        <p:spPr>
          <a:xfrm>
            <a:off x="5735782" y="2491034"/>
            <a:ext cx="4301101" cy="499431"/>
          </a:xfrm>
          <a:prstGeom prst="rect">
            <a:avLst/>
          </a:prstGeom>
          <a:solidFill>
            <a:srgbClr val="E4E8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r" rtl="1"/>
            <a:endParaRPr lang="en-US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7C23099B-6F7C-4BBD-9F4E-A5126796931E}"/>
              </a:ext>
            </a:extLst>
          </p:cNvPr>
          <p:cNvSpPr/>
          <p:nvPr/>
        </p:nvSpPr>
        <p:spPr>
          <a:xfrm>
            <a:off x="10036883" y="2491035"/>
            <a:ext cx="2155116" cy="499431"/>
          </a:xfrm>
          <a:prstGeom prst="rect">
            <a:avLst/>
          </a:prstGeom>
          <a:solidFill>
            <a:srgbClr val="3A56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b="1" dirty="0">
              <a:solidFill>
                <a:schemeClr val="bg1"/>
              </a:solidFill>
              <a:latin typeface="Microsoft Uighur" panose="02000000000000000000" pitchFamily="2" charset="-78"/>
              <a:ea typeface="Microsoft Sans Serif" panose="020B0604020202020204" pitchFamily="34" charset="0"/>
              <a:cs typeface="Microsoft Uighur" panose="02000000000000000000" pitchFamily="2" charset="-78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7C23099B-6F7C-4BBD-9F4E-A5126796931E}"/>
              </a:ext>
            </a:extLst>
          </p:cNvPr>
          <p:cNvSpPr/>
          <p:nvPr/>
        </p:nvSpPr>
        <p:spPr>
          <a:xfrm>
            <a:off x="5735782" y="3141605"/>
            <a:ext cx="4301103" cy="499431"/>
          </a:xfrm>
          <a:prstGeom prst="rect">
            <a:avLst/>
          </a:prstGeom>
          <a:solidFill>
            <a:srgbClr val="E4E8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>
              <a:solidFill>
                <a:srgbClr val="F4A317"/>
              </a:solidFill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7C23099B-6F7C-4BBD-9F4E-A5126796931E}"/>
              </a:ext>
            </a:extLst>
          </p:cNvPr>
          <p:cNvSpPr/>
          <p:nvPr/>
        </p:nvSpPr>
        <p:spPr>
          <a:xfrm>
            <a:off x="10036885" y="3143552"/>
            <a:ext cx="2155115" cy="499431"/>
          </a:xfrm>
          <a:prstGeom prst="rect">
            <a:avLst/>
          </a:prstGeom>
          <a:solidFill>
            <a:srgbClr val="3A56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7C23099B-6F7C-4BBD-9F4E-A5126796931E}"/>
              </a:ext>
            </a:extLst>
          </p:cNvPr>
          <p:cNvSpPr/>
          <p:nvPr/>
        </p:nvSpPr>
        <p:spPr>
          <a:xfrm>
            <a:off x="5735782" y="3765598"/>
            <a:ext cx="4301101" cy="529902"/>
          </a:xfrm>
          <a:prstGeom prst="rect">
            <a:avLst/>
          </a:prstGeom>
          <a:solidFill>
            <a:srgbClr val="E4E8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ar-OM" dirty="0">
                <a:solidFill>
                  <a:srgbClr val="013631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rPr>
              <a:t>على مستوى الفروع الإقليمية والدائرة، تنوعت بين ورش توعوية عامة، وورش تثقيفية خاصة، وأنشطة تدريبية داخلية</a:t>
            </a:r>
            <a:endParaRPr lang="en-US" dirty="0">
              <a:solidFill>
                <a:srgbClr val="013631"/>
              </a:solidFill>
              <a:latin typeface="Microsoft Uighur" panose="02000000000000000000" pitchFamily="2" charset="-78"/>
              <a:ea typeface="SimSun" panose="02010600030101010101" pitchFamily="2" charset="-122"/>
              <a:cs typeface="Microsoft Uighur" panose="02000000000000000000" pitchFamily="2" charset="-78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7C23099B-6F7C-4BBD-9F4E-A5126796931E}"/>
              </a:ext>
            </a:extLst>
          </p:cNvPr>
          <p:cNvSpPr/>
          <p:nvPr/>
        </p:nvSpPr>
        <p:spPr>
          <a:xfrm>
            <a:off x="10036883" y="3760581"/>
            <a:ext cx="2155116" cy="534920"/>
          </a:xfrm>
          <a:prstGeom prst="rect">
            <a:avLst/>
          </a:prstGeom>
          <a:solidFill>
            <a:srgbClr val="3A56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b="1" dirty="0">
              <a:solidFill>
                <a:schemeClr val="bg1"/>
              </a:solidFill>
              <a:latin typeface="Microsoft Uighur" panose="02000000000000000000" pitchFamily="2" charset="-78"/>
              <a:ea typeface="Microsoft Sans Serif" panose="020B0604020202020204" pitchFamily="34" charset="0"/>
              <a:cs typeface="Microsoft Uighur" panose="02000000000000000000" pitchFamily="2" charset="-78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7C23099B-6F7C-4BBD-9F4E-A5126796931E}"/>
              </a:ext>
            </a:extLst>
          </p:cNvPr>
          <p:cNvSpPr/>
          <p:nvPr/>
        </p:nvSpPr>
        <p:spPr>
          <a:xfrm>
            <a:off x="5735782" y="4441244"/>
            <a:ext cx="4301101" cy="499431"/>
          </a:xfrm>
          <a:prstGeom prst="rect">
            <a:avLst/>
          </a:prstGeom>
          <a:solidFill>
            <a:srgbClr val="E4E8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>
              <a:solidFill>
                <a:srgbClr val="F4A317"/>
              </a:solidFill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7C23099B-6F7C-4BBD-9F4E-A5126796931E}"/>
              </a:ext>
            </a:extLst>
          </p:cNvPr>
          <p:cNvSpPr/>
          <p:nvPr/>
        </p:nvSpPr>
        <p:spPr>
          <a:xfrm>
            <a:off x="10036883" y="4443191"/>
            <a:ext cx="2155115" cy="499431"/>
          </a:xfrm>
          <a:prstGeom prst="rect">
            <a:avLst/>
          </a:prstGeom>
          <a:solidFill>
            <a:srgbClr val="3A56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4A317"/>
              </a:solidFill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7C23099B-6F7C-4BBD-9F4E-A5126796931E}"/>
              </a:ext>
            </a:extLst>
          </p:cNvPr>
          <p:cNvSpPr/>
          <p:nvPr/>
        </p:nvSpPr>
        <p:spPr>
          <a:xfrm>
            <a:off x="5735782" y="5097681"/>
            <a:ext cx="4301100" cy="499431"/>
          </a:xfrm>
          <a:prstGeom prst="rect">
            <a:avLst/>
          </a:prstGeom>
          <a:solidFill>
            <a:srgbClr val="E4E8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r" rtl="1"/>
            <a:endParaRPr lang="en-US" dirty="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7C23099B-6F7C-4BBD-9F4E-A5126796931E}"/>
              </a:ext>
            </a:extLst>
          </p:cNvPr>
          <p:cNvSpPr/>
          <p:nvPr/>
        </p:nvSpPr>
        <p:spPr>
          <a:xfrm>
            <a:off x="10036882" y="5097682"/>
            <a:ext cx="2155116" cy="499431"/>
          </a:xfrm>
          <a:prstGeom prst="rect">
            <a:avLst/>
          </a:prstGeom>
          <a:solidFill>
            <a:srgbClr val="3A56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b="1" dirty="0">
              <a:solidFill>
                <a:schemeClr val="bg1"/>
              </a:solidFill>
              <a:latin typeface="Microsoft Uighur" panose="02000000000000000000" pitchFamily="2" charset="-78"/>
              <a:ea typeface="Microsoft Sans Serif" panose="020B0604020202020204" pitchFamily="34" charset="0"/>
              <a:cs typeface="Microsoft Uighur" panose="02000000000000000000" pitchFamily="2" charset="-78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10036882" y="1225190"/>
            <a:ext cx="19453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OM" sz="2000" b="1" dirty="0" smtClean="0">
                <a:solidFill>
                  <a:srgbClr val="FFFFFF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rPr>
              <a:t>(</a:t>
            </a:r>
            <a:r>
              <a:rPr lang="en-GB" sz="2000" b="1" dirty="0" smtClean="0">
                <a:solidFill>
                  <a:srgbClr val="FFFFFF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rPr>
              <a:t>18</a:t>
            </a:r>
            <a:r>
              <a:rPr lang="ar-OM" sz="2000" b="1" dirty="0" smtClean="0">
                <a:solidFill>
                  <a:srgbClr val="FFFFFF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rPr>
              <a:t>) </a:t>
            </a:r>
            <a:r>
              <a:rPr lang="ar-OM" sz="2000" b="1" dirty="0">
                <a:solidFill>
                  <a:srgbClr val="FFFFFF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rPr>
              <a:t>إجمالي الأهداف </a:t>
            </a:r>
            <a:endParaRPr lang="en-US" sz="2000" b="1" dirty="0">
              <a:solidFill>
                <a:srgbClr val="FFFFFF"/>
              </a:solidFill>
              <a:latin typeface="Microsoft Uighur" panose="02000000000000000000" pitchFamily="2" charset="-78"/>
              <a:ea typeface="SimSun" panose="02010600030101010101" pitchFamily="2" charset="-122"/>
              <a:cs typeface="Microsoft Uighur" panose="02000000000000000000" pitchFamily="2" charset="-78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10203033" y="1899893"/>
            <a:ext cx="16952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OM" sz="2000" b="1" dirty="0" smtClean="0">
                <a:solidFill>
                  <a:srgbClr val="FFFFFF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rPr>
              <a:t>(61,415) </a:t>
            </a:r>
            <a:r>
              <a:rPr lang="ar-OM" sz="2000" b="1" dirty="0">
                <a:solidFill>
                  <a:srgbClr val="FFFFFF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rPr>
              <a:t>معاملة </a:t>
            </a:r>
            <a:endParaRPr lang="en-US" sz="2000" b="1" dirty="0">
              <a:solidFill>
                <a:srgbClr val="FFFFFF"/>
              </a:solidFill>
              <a:latin typeface="Microsoft Uighur" panose="02000000000000000000" pitchFamily="2" charset="-78"/>
              <a:ea typeface="SimSun" panose="02010600030101010101" pitchFamily="2" charset="-122"/>
              <a:cs typeface="Microsoft Uighur" panose="02000000000000000000" pitchFamily="2" charset="-78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8142641" y="3213432"/>
            <a:ext cx="1843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OM" dirty="0">
                <a:solidFill>
                  <a:srgbClr val="013631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rPr>
              <a:t>في مختلق محافظات </a:t>
            </a:r>
            <a:r>
              <a:rPr lang="ar-OM" dirty="0" smtClean="0">
                <a:solidFill>
                  <a:srgbClr val="013631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rPr>
              <a:t>السلطنة</a:t>
            </a:r>
            <a:endParaRPr lang="en-US" dirty="0">
              <a:solidFill>
                <a:srgbClr val="013631"/>
              </a:solidFill>
              <a:latin typeface="Microsoft Uighur" panose="02000000000000000000" pitchFamily="2" charset="-78"/>
              <a:ea typeface="SimSun" panose="02010600030101010101" pitchFamily="2" charset="-122"/>
              <a:cs typeface="Microsoft Uighur" panose="02000000000000000000" pitchFamily="2" charset="-78"/>
            </a:endParaRPr>
          </a:p>
        </p:txBody>
      </p:sp>
      <p:sp>
        <p:nvSpPr>
          <p:cNvPr id="75" name="Rectangle 74"/>
          <p:cNvSpPr/>
          <p:nvPr/>
        </p:nvSpPr>
        <p:spPr>
          <a:xfrm>
            <a:off x="10345779" y="3179819"/>
            <a:ext cx="169629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rtl="1"/>
            <a:r>
              <a:rPr lang="ar-OM" sz="2000" b="1" dirty="0">
                <a:solidFill>
                  <a:srgbClr val="FFFFFF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rPr>
              <a:t> </a:t>
            </a:r>
            <a:r>
              <a:rPr lang="ar-OM" sz="2000" b="1" dirty="0" smtClean="0">
                <a:solidFill>
                  <a:srgbClr val="FFFFFF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rPr>
              <a:t>(7,649) </a:t>
            </a:r>
            <a:r>
              <a:rPr lang="ar-OM" sz="2000" b="1" dirty="0">
                <a:solidFill>
                  <a:srgbClr val="FFFFFF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rPr>
              <a:t>خدمه ميدانيه </a:t>
            </a:r>
            <a:endParaRPr lang="en-US" sz="2000" b="1" dirty="0">
              <a:solidFill>
                <a:srgbClr val="FFFFFF"/>
              </a:solidFill>
              <a:latin typeface="Microsoft Uighur" panose="02000000000000000000" pitchFamily="2" charset="-78"/>
              <a:ea typeface="SimSun" panose="02010600030101010101" pitchFamily="2" charset="-122"/>
              <a:cs typeface="Microsoft Uighur" panose="02000000000000000000" pitchFamily="2" charset="-78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10305756" y="3819178"/>
            <a:ext cx="1894436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OM" sz="2000" b="1" dirty="0">
                <a:solidFill>
                  <a:schemeClr val="bg1"/>
                </a:solidFill>
                <a:latin typeface="Microsoft Uighur" panose="02000000000000000000" pitchFamily="2" charset="-78"/>
                <a:ea typeface="Microsoft Sans Serif" panose="020B0604020202020204" pitchFamily="34" charset="0"/>
                <a:cs typeface="Microsoft Uighur" panose="02000000000000000000" pitchFamily="2" charset="-78"/>
              </a:rPr>
              <a:t> </a:t>
            </a:r>
            <a:r>
              <a:rPr lang="ar-OM" sz="2000" b="1" dirty="0" smtClean="0">
                <a:solidFill>
                  <a:schemeClr val="bg1"/>
                </a:solidFill>
                <a:latin typeface="Microsoft Uighur" panose="02000000000000000000" pitchFamily="2" charset="-78"/>
                <a:ea typeface="Microsoft Sans Serif" panose="020B0604020202020204" pitchFamily="34" charset="0"/>
                <a:cs typeface="Microsoft Uighur" panose="02000000000000000000" pitchFamily="2" charset="-78"/>
              </a:rPr>
              <a:t>(</a:t>
            </a:r>
            <a:r>
              <a:rPr lang="en-GB" sz="2000" b="1" dirty="0" smtClean="0">
                <a:solidFill>
                  <a:schemeClr val="bg1"/>
                </a:solidFill>
                <a:latin typeface="Microsoft Uighur" panose="02000000000000000000" pitchFamily="2" charset="-78"/>
                <a:ea typeface="Microsoft Sans Serif" panose="020B0604020202020204" pitchFamily="34" charset="0"/>
                <a:cs typeface="Microsoft Uighur" panose="02000000000000000000" pitchFamily="2" charset="-78"/>
              </a:rPr>
              <a:t>(</a:t>
            </a:r>
            <a:r>
              <a:rPr lang="en-US" sz="2000" b="1" dirty="0" smtClean="0">
                <a:solidFill>
                  <a:schemeClr val="bg1"/>
                </a:solidFill>
                <a:latin typeface="Microsoft Uighur" panose="02000000000000000000" pitchFamily="2" charset="-78"/>
                <a:ea typeface="Microsoft Sans Serif" panose="020B0604020202020204" pitchFamily="34" charset="0"/>
                <a:cs typeface="Microsoft Uighur" panose="02000000000000000000" pitchFamily="2" charset="-78"/>
              </a:rPr>
              <a:t>179</a:t>
            </a:r>
            <a:r>
              <a:rPr lang="ar-OM" sz="2000" b="1" dirty="0" smtClean="0">
                <a:solidFill>
                  <a:schemeClr val="bg1"/>
                </a:solidFill>
                <a:latin typeface="Microsoft Uighur" panose="02000000000000000000" pitchFamily="2" charset="-78"/>
                <a:ea typeface="Microsoft Sans Serif" panose="020B0604020202020204" pitchFamily="34" charset="0"/>
                <a:cs typeface="Microsoft Uighur" panose="02000000000000000000" pitchFamily="2" charset="-78"/>
              </a:rPr>
              <a:t> </a:t>
            </a:r>
            <a:r>
              <a:rPr lang="ar-OM" sz="2000" b="1" dirty="0" smtClean="0">
                <a:solidFill>
                  <a:srgbClr val="FFFFFF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rPr>
              <a:t>نشاط إعلامي</a:t>
            </a:r>
            <a:endParaRPr lang="en-US" sz="2000" b="1" dirty="0">
              <a:solidFill>
                <a:srgbClr val="FFFFFF"/>
              </a:solidFill>
              <a:latin typeface="Microsoft Uighur" panose="02000000000000000000" pitchFamily="2" charset="-78"/>
              <a:ea typeface="SimSun" panose="02010600030101010101" pitchFamily="2" charset="-122"/>
              <a:cs typeface="Microsoft Uighur" panose="02000000000000000000" pitchFamily="2" charset="-78"/>
            </a:endParaRPr>
          </a:p>
          <a:p>
            <a:endParaRPr lang="en-US" dirty="0"/>
          </a:p>
        </p:txBody>
      </p:sp>
      <p:sp>
        <p:nvSpPr>
          <p:cNvPr id="78" name="Rectangle 77"/>
          <p:cNvSpPr/>
          <p:nvPr/>
        </p:nvSpPr>
        <p:spPr>
          <a:xfrm>
            <a:off x="10548192" y="5116562"/>
            <a:ext cx="130195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rtl="1"/>
            <a:r>
              <a:rPr lang="ar-OM" sz="2000" b="1" dirty="0" smtClean="0">
                <a:solidFill>
                  <a:srgbClr val="FFFFFF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rPr>
              <a:t>(</a:t>
            </a:r>
            <a:r>
              <a:rPr lang="en-US" sz="2000" b="1" dirty="0" smtClean="0">
                <a:solidFill>
                  <a:srgbClr val="FFFFFF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rPr>
              <a:t>67,922</a:t>
            </a:r>
            <a:r>
              <a:rPr lang="ar-OM" sz="2000" b="1" dirty="0" smtClean="0">
                <a:solidFill>
                  <a:srgbClr val="FFFFFF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rPr>
              <a:t>) </a:t>
            </a:r>
            <a:r>
              <a:rPr lang="ar-OM" sz="2000" b="1" dirty="0">
                <a:solidFill>
                  <a:srgbClr val="FFFFFF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rPr>
              <a:t>مكالمه</a:t>
            </a:r>
            <a:endParaRPr lang="en-US" sz="2000" b="1" dirty="0">
              <a:solidFill>
                <a:srgbClr val="FFFFFF"/>
              </a:solidFill>
              <a:latin typeface="Microsoft Uighur" panose="02000000000000000000" pitchFamily="2" charset="-78"/>
              <a:ea typeface="SimSun" panose="02010600030101010101" pitchFamily="2" charset="-122"/>
              <a:cs typeface="Microsoft Uighur" panose="02000000000000000000" pitchFamily="2" charset="-78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7406475" y="5162729"/>
            <a:ext cx="2840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OM" dirty="0" smtClean="0">
                <a:solidFill>
                  <a:srgbClr val="013631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rPr>
              <a:t>مستلمه </a:t>
            </a:r>
            <a:r>
              <a:rPr lang="ar-OM" dirty="0">
                <a:solidFill>
                  <a:srgbClr val="013631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rPr>
              <a:t>من خلال مركز الخدمة الهاتفية </a:t>
            </a:r>
            <a:r>
              <a:rPr lang="ar-OM" dirty="0" smtClean="0">
                <a:solidFill>
                  <a:srgbClr val="013631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rPr>
              <a:t>الذكي</a:t>
            </a:r>
            <a:endParaRPr lang="en-US" dirty="0"/>
          </a:p>
        </p:txBody>
      </p:sp>
      <p:sp>
        <p:nvSpPr>
          <p:cNvPr id="80" name="Rectangle 79"/>
          <p:cNvSpPr/>
          <p:nvPr/>
        </p:nvSpPr>
        <p:spPr>
          <a:xfrm>
            <a:off x="10054695" y="4460126"/>
            <a:ext cx="211949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ar-OM" sz="2000" b="1" dirty="0">
                <a:solidFill>
                  <a:schemeClr val="bg1"/>
                </a:solidFill>
                <a:latin typeface="Microsoft Uighur" panose="02000000000000000000" pitchFamily="2" charset="-78"/>
                <a:ea typeface="Microsoft Sans Serif" panose="020B0604020202020204" pitchFamily="34" charset="0"/>
                <a:cs typeface="Microsoft Uighur" panose="02000000000000000000" pitchFamily="2" charset="-78"/>
              </a:rPr>
              <a:t> </a:t>
            </a:r>
            <a:r>
              <a:rPr lang="ar-OM" sz="2000" b="1" dirty="0" smtClean="0">
                <a:solidFill>
                  <a:schemeClr val="bg1">
                    <a:lumMod val="95000"/>
                  </a:schemeClr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rPr>
              <a:t>(1) </a:t>
            </a:r>
            <a:r>
              <a:rPr lang="ar-OM" sz="2000" b="1" dirty="0">
                <a:solidFill>
                  <a:srgbClr val="FFFFFF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rPr>
              <a:t>فعاليات وأنشطة وإنجازا</a:t>
            </a:r>
            <a:r>
              <a:rPr lang="ar-OM" sz="2000" b="1" dirty="0" smtClean="0">
                <a:solidFill>
                  <a:srgbClr val="FFFFFF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rPr>
              <a:t>ت</a:t>
            </a:r>
            <a:endParaRPr lang="en-US" sz="2000" b="1" dirty="0">
              <a:solidFill>
                <a:srgbClr val="FFFFFF"/>
              </a:solidFill>
              <a:latin typeface="Microsoft Uighur" panose="02000000000000000000" pitchFamily="2" charset="-78"/>
              <a:ea typeface="SimSun" panose="02010600030101010101" pitchFamily="2" charset="-122"/>
              <a:cs typeface="Microsoft Uighur" panose="02000000000000000000" pitchFamily="2" charset="-78"/>
            </a:endParaRPr>
          </a:p>
        </p:txBody>
      </p:sp>
      <p:sp>
        <p:nvSpPr>
          <p:cNvPr id="81" name="Rectangle 80"/>
          <p:cNvSpPr/>
          <p:nvPr/>
        </p:nvSpPr>
        <p:spPr>
          <a:xfrm>
            <a:off x="6733308" y="4540621"/>
            <a:ext cx="30267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OM" dirty="0">
                <a:solidFill>
                  <a:srgbClr val="013631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rPr>
              <a:t>الأنشطة والفعاليات والإنجازات على مستوى </a:t>
            </a:r>
            <a:r>
              <a:rPr lang="ar-OM" dirty="0" smtClean="0">
                <a:solidFill>
                  <a:srgbClr val="013631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rPr>
              <a:t>المديرية  </a:t>
            </a:r>
            <a:endParaRPr lang="en-US" dirty="0">
              <a:solidFill>
                <a:srgbClr val="013631"/>
              </a:solidFill>
              <a:latin typeface="Microsoft Uighur" panose="02000000000000000000" pitchFamily="2" charset="-78"/>
              <a:ea typeface="SimSun" panose="02010600030101010101" pitchFamily="2" charset="-122"/>
              <a:cs typeface="Microsoft Uighur" panose="02000000000000000000" pitchFamily="2" charset="-78"/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7C23099B-6F7C-4BBD-9F4E-A5126796931E}"/>
              </a:ext>
            </a:extLst>
          </p:cNvPr>
          <p:cNvSpPr/>
          <p:nvPr/>
        </p:nvSpPr>
        <p:spPr>
          <a:xfrm>
            <a:off x="5735782" y="1825514"/>
            <a:ext cx="4301101" cy="499431"/>
          </a:xfrm>
          <a:prstGeom prst="rect">
            <a:avLst/>
          </a:prstGeom>
          <a:solidFill>
            <a:srgbClr val="E4E8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rtl="1"/>
            <a:r>
              <a:rPr lang="ar-OM" sz="2000" dirty="0">
                <a:solidFill>
                  <a:srgbClr val="013631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rPr>
              <a:t>لأصحاب الأعمال والمؤمن عليهم  في مختلف الأنظمة التأمينية</a:t>
            </a:r>
            <a:endParaRPr lang="en-US" sz="2000" dirty="0">
              <a:solidFill>
                <a:srgbClr val="013631"/>
              </a:solidFill>
              <a:latin typeface="Microsoft Uighur" panose="02000000000000000000" pitchFamily="2" charset="-78"/>
              <a:ea typeface="SimSun" panose="02010600030101010101" pitchFamily="2" charset="-122"/>
              <a:cs typeface="Microsoft Uighur" panose="02000000000000000000" pitchFamily="2" charset="-78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10305756" y="2518191"/>
            <a:ext cx="1491512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OM" sz="2000" b="1" dirty="0" smtClean="0">
                <a:solidFill>
                  <a:srgbClr val="FFFFFF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rPr>
              <a:t>(58,948) </a:t>
            </a:r>
            <a:r>
              <a:rPr lang="ar-OM" sz="2000" b="1" dirty="0">
                <a:solidFill>
                  <a:srgbClr val="FFFFFF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rPr>
              <a:t>موعد </a:t>
            </a:r>
          </a:p>
          <a:p>
            <a:endParaRPr lang="en-US" dirty="0"/>
          </a:p>
        </p:txBody>
      </p:sp>
      <p:sp>
        <p:nvSpPr>
          <p:cNvPr id="87" name="TextBox 86"/>
          <p:cNvSpPr txBox="1"/>
          <p:nvPr/>
        </p:nvSpPr>
        <p:spPr>
          <a:xfrm>
            <a:off x="6733308" y="2493673"/>
            <a:ext cx="32407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ar-OM" dirty="0">
                <a:solidFill>
                  <a:srgbClr val="013631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rPr>
              <a:t>تم استلامه لمختلف الخدمات </a:t>
            </a:r>
            <a:r>
              <a:rPr lang="ar-OM" dirty="0" smtClean="0">
                <a:solidFill>
                  <a:srgbClr val="013631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rPr>
              <a:t>التأمينية </a:t>
            </a:r>
            <a:r>
              <a:rPr lang="ar-OM" sz="2400" b="1" dirty="0" smtClean="0">
                <a:solidFill>
                  <a:srgbClr val="FFFFFF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rPr>
              <a:t> </a:t>
            </a:r>
            <a:endParaRPr lang="en-US" sz="2400" dirty="0"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2140618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E96DFE5-67FE-5396-69D0-1988537D7F87}"/>
              </a:ext>
            </a:extLst>
          </p:cNvPr>
          <p:cNvCxnSpPr>
            <a:cxnSpLocks/>
          </p:cNvCxnSpPr>
          <p:nvPr/>
        </p:nvCxnSpPr>
        <p:spPr>
          <a:xfrm>
            <a:off x="1652310" y="809327"/>
            <a:ext cx="8406088" cy="0"/>
          </a:xfrm>
          <a:prstGeom prst="line">
            <a:avLst/>
          </a:prstGeom>
          <a:ln>
            <a:solidFill>
              <a:srgbClr val="CCA862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74F1C4B0-6D2A-BD55-6F9E-B76F09E2FA58}"/>
              </a:ext>
            </a:extLst>
          </p:cNvPr>
          <p:cNvSpPr txBox="1"/>
          <p:nvPr/>
        </p:nvSpPr>
        <p:spPr>
          <a:xfrm>
            <a:off x="3468677" y="279381"/>
            <a:ext cx="6314736" cy="430887"/>
          </a:xfrm>
          <a:prstGeom prst="rect">
            <a:avLst/>
          </a:prstGeom>
          <a:noFill/>
          <a:effectLst/>
        </p:spPr>
        <p:txBody>
          <a:bodyPr wrap="square" lIns="0" tIns="0" rIns="0" bIns="0" rtlCol="0">
            <a:spAutoFit/>
          </a:bodyPr>
          <a:lstStyle/>
          <a:p>
            <a:r>
              <a:rPr lang="ar-OM" sz="2800" b="1" dirty="0" smtClean="0">
                <a:solidFill>
                  <a:srgbClr val="CCA862"/>
                </a:solidFill>
                <a:cs typeface="Microsoft Uighur" panose="02000000000000000000" pitchFamily="2" charset="-78"/>
              </a:rPr>
              <a:t>الأنشطة والفعاليات والإنجازات على مستوى المديرية  </a:t>
            </a:r>
            <a:endParaRPr lang="en-US" sz="2800" b="1" dirty="0">
              <a:solidFill>
                <a:srgbClr val="CCA862"/>
              </a:solidFill>
              <a:cs typeface="Microsoft Uighur" panose="02000000000000000000" pitchFamily="2" charset="-78"/>
            </a:endParaRPr>
          </a:p>
        </p:txBody>
      </p:sp>
      <p:sp>
        <p:nvSpPr>
          <p:cNvPr id="11" name="Octagon 10">
            <a:extLst>
              <a:ext uri="{FF2B5EF4-FFF2-40B4-BE49-F238E27FC236}">
                <a16:creationId xmlns:a16="http://schemas.microsoft.com/office/drawing/2014/main" id="{8F86244E-E4BF-5A5A-2854-9EE6B1A483EE}"/>
              </a:ext>
            </a:extLst>
          </p:cNvPr>
          <p:cNvSpPr/>
          <p:nvPr/>
        </p:nvSpPr>
        <p:spPr>
          <a:xfrm>
            <a:off x="11682986" y="6469363"/>
            <a:ext cx="268357" cy="268357"/>
          </a:xfrm>
          <a:prstGeom prst="octagon">
            <a:avLst/>
          </a:prstGeom>
          <a:solidFill>
            <a:srgbClr val="CCA862"/>
          </a:solidFill>
          <a:ln>
            <a:noFill/>
          </a:ln>
          <a:effectLst>
            <a:outerShdw blurRad="127000" dist="635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OM" sz="1600" dirty="0" smtClean="0"/>
              <a:t>2</a:t>
            </a:r>
            <a:endParaRPr lang="en-US" sz="1600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2173056" y="2218962"/>
            <a:ext cx="7885342" cy="0"/>
          </a:xfrm>
          <a:prstGeom prst="line">
            <a:avLst/>
          </a:prstGeom>
          <a:ln w="28575">
            <a:solidFill>
              <a:srgbClr val="3A564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10058398" y="2218962"/>
            <a:ext cx="0" cy="346364"/>
          </a:xfrm>
          <a:prstGeom prst="straightConnector1">
            <a:avLst/>
          </a:prstGeom>
          <a:ln w="28575">
            <a:solidFill>
              <a:srgbClr val="3A564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>
            <a:off x="6359234" y="2225890"/>
            <a:ext cx="0" cy="346364"/>
          </a:xfrm>
          <a:prstGeom prst="straightConnector1">
            <a:avLst/>
          </a:prstGeom>
          <a:ln w="28575">
            <a:solidFill>
              <a:srgbClr val="3A564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>
            <a:off x="2186911" y="2232817"/>
            <a:ext cx="0" cy="346364"/>
          </a:xfrm>
          <a:prstGeom prst="straightConnector1">
            <a:avLst/>
          </a:prstGeom>
          <a:ln w="28575">
            <a:solidFill>
              <a:srgbClr val="3A564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68140" y="4682173"/>
            <a:ext cx="340983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1"/>
            <a:r>
              <a:rPr lang="ar-OM" b="1" dirty="0">
                <a:solidFill>
                  <a:schemeClr val="tx2"/>
                </a:solidFill>
                <a:ea typeface="Open Sans" pitchFamily="34" charset="0"/>
                <a:cs typeface="Microsoft Uighur" panose="02000000000000000000" pitchFamily="2" charset="-78"/>
              </a:rPr>
              <a:t>إقامة ملتقى المتعاملين </a:t>
            </a:r>
            <a:r>
              <a:rPr lang="en-US" b="1" dirty="0">
                <a:solidFill>
                  <a:schemeClr val="tx2"/>
                </a:solidFill>
                <a:ea typeface="Open Sans" pitchFamily="34" charset="0"/>
                <a:cs typeface="Microsoft Uighur" panose="02000000000000000000" pitchFamily="2" charset="-78"/>
              </a:rPr>
              <a:t>Focus Group</a:t>
            </a:r>
            <a:r>
              <a:rPr lang="ar-OM" b="1" dirty="0">
                <a:solidFill>
                  <a:schemeClr val="tx2"/>
                </a:solidFill>
                <a:ea typeface="Open Sans" pitchFamily="34" charset="0"/>
                <a:cs typeface="Microsoft Uighur" panose="02000000000000000000" pitchFamily="2" charset="-78"/>
              </a:rPr>
              <a:t> في كافة دوائر الحماية الاجتماعية بالمحافظات </a:t>
            </a:r>
          </a:p>
          <a:p>
            <a:pPr algn="ctr" rtl="1"/>
            <a:r>
              <a:rPr lang="ar-OM" b="1" dirty="0">
                <a:solidFill>
                  <a:schemeClr val="tx2"/>
                </a:solidFill>
                <a:ea typeface="Open Sans" pitchFamily="34" charset="0"/>
                <a:cs typeface="Microsoft Uighur" panose="02000000000000000000" pitchFamily="2" charset="-78"/>
              </a:rPr>
              <a:t>30 سبتمبر 2024م</a:t>
            </a:r>
          </a:p>
        </p:txBody>
      </p:sp>
      <p:pic>
        <p:nvPicPr>
          <p:cNvPr id="17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30417" t="19616" r="29393" b="24276"/>
          <a:stretch/>
        </p:blipFill>
        <p:spPr>
          <a:xfrm>
            <a:off x="1188720" y="2735062"/>
            <a:ext cx="2142727" cy="168267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248606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E96DFE5-67FE-5396-69D0-1988537D7F87}"/>
              </a:ext>
            </a:extLst>
          </p:cNvPr>
          <p:cNvCxnSpPr>
            <a:cxnSpLocks/>
          </p:cNvCxnSpPr>
          <p:nvPr/>
        </p:nvCxnSpPr>
        <p:spPr>
          <a:xfrm>
            <a:off x="1879344" y="813036"/>
            <a:ext cx="8236069" cy="0"/>
          </a:xfrm>
          <a:prstGeom prst="line">
            <a:avLst/>
          </a:prstGeom>
          <a:ln>
            <a:solidFill>
              <a:srgbClr val="CCA862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7066357"/>
              </p:ext>
            </p:extLst>
          </p:nvPr>
        </p:nvGraphicFramePr>
        <p:xfrm>
          <a:off x="206478" y="943897"/>
          <a:ext cx="10847882" cy="2339532"/>
        </p:xfrm>
        <a:graphic>
          <a:graphicData uri="http://schemas.openxmlformats.org/drawingml/2006/table">
            <a:tbl>
              <a:tblPr rtl="1">
                <a:tableStyleId>{8799B23B-EC83-4686-B30A-512413B5E67A}</a:tableStyleId>
              </a:tblPr>
              <a:tblGrid>
                <a:gridCol w="850748">
                  <a:extLst>
                    <a:ext uri="{9D8B030D-6E8A-4147-A177-3AD203B41FA5}">
                      <a16:colId xmlns:a16="http://schemas.microsoft.com/office/drawing/2014/main" val="3446591263"/>
                    </a:ext>
                  </a:extLst>
                </a:gridCol>
                <a:gridCol w="6562936">
                  <a:extLst>
                    <a:ext uri="{9D8B030D-6E8A-4147-A177-3AD203B41FA5}">
                      <a16:colId xmlns:a16="http://schemas.microsoft.com/office/drawing/2014/main" val="3011913205"/>
                    </a:ext>
                  </a:extLst>
                </a:gridCol>
                <a:gridCol w="2051385">
                  <a:extLst>
                    <a:ext uri="{9D8B030D-6E8A-4147-A177-3AD203B41FA5}">
                      <a16:colId xmlns:a16="http://schemas.microsoft.com/office/drawing/2014/main" val="1434764207"/>
                    </a:ext>
                  </a:extLst>
                </a:gridCol>
                <a:gridCol w="1382813">
                  <a:extLst>
                    <a:ext uri="{9D8B030D-6E8A-4147-A177-3AD203B41FA5}">
                      <a16:colId xmlns:a16="http://schemas.microsoft.com/office/drawing/2014/main" val="4274385730"/>
                    </a:ext>
                  </a:extLst>
                </a:gridCol>
              </a:tblGrid>
              <a:tr h="789005">
                <a:tc>
                  <a:txBody>
                    <a:bodyPr/>
                    <a:lstStyle/>
                    <a:p>
                      <a:pPr marL="0" algn="ctr" defTabSz="914400" rtl="1" eaLnBrk="1" fontAlgn="ctr" latinLnBrk="0" hangingPunct="1"/>
                      <a:r>
                        <a:rPr lang="ar-OM" sz="2200" b="1" u="none" strike="noStrike" kern="1200" dirty="0">
                          <a:solidFill>
                            <a:schemeClr val="bg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الرقم </a:t>
                      </a:r>
                      <a:endParaRPr lang="ar-OM" sz="2200" b="1" u="none" strike="noStrike" kern="1200" dirty="0">
                        <a:solidFill>
                          <a:schemeClr val="bg1"/>
                        </a:solidFill>
                        <a:effectLst/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3A564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fontAlgn="ctr" latinLnBrk="0" hangingPunct="1"/>
                      <a:r>
                        <a:rPr lang="ar-OM" sz="2200" b="1" u="none" strike="noStrike" kern="1200" dirty="0">
                          <a:solidFill>
                            <a:schemeClr val="bg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الأهداف</a:t>
                      </a:r>
                      <a:endParaRPr lang="ar-OM" sz="2200" b="1" u="none" strike="noStrike" kern="1200" dirty="0">
                        <a:solidFill>
                          <a:schemeClr val="bg1"/>
                        </a:solidFill>
                        <a:effectLst/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3A564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OM" sz="2200" b="1" u="none" strike="noStrike" kern="1200" dirty="0" smtClean="0">
                          <a:solidFill>
                            <a:schemeClr val="bg1"/>
                          </a:solidFill>
                          <a:effectLst/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التوزيع النسبي للأعمال المنجزة</a:t>
                      </a:r>
                      <a:r>
                        <a:rPr lang="en-GB" sz="2200" b="1" u="none" strike="noStrike" kern="1200" dirty="0" smtClean="0">
                          <a:solidFill>
                            <a:schemeClr val="bg1"/>
                          </a:solidFill>
                          <a:effectLst/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 </a:t>
                      </a:r>
                      <a:r>
                        <a:rPr lang="ar-OM" sz="2800" b="1" i="0" u="none" strike="noStrike" kern="1200" dirty="0" smtClean="0">
                          <a:solidFill>
                            <a:schemeClr val="bg1"/>
                          </a:solidFill>
                          <a:effectLst/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%</a:t>
                      </a:r>
                    </a:p>
                  </a:txBody>
                  <a:tcPr marL="0" marR="0" marT="0" marB="0" anchor="ctr">
                    <a:solidFill>
                      <a:srgbClr val="3A564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fontAlgn="ctr" latinLnBrk="0" hangingPunct="1"/>
                      <a:r>
                        <a:rPr lang="ar-OM" sz="2200" b="1" u="none" strike="noStrike" kern="1200" dirty="0" smtClean="0">
                          <a:solidFill>
                            <a:schemeClr val="bg1"/>
                          </a:solidFill>
                          <a:effectLst/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الوزن النسبي </a:t>
                      </a:r>
                      <a:endParaRPr lang="ar-OM" sz="2200" b="1" u="none" strike="noStrike" kern="1200" dirty="0">
                        <a:solidFill>
                          <a:schemeClr val="bg1"/>
                        </a:solidFill>
                        <a:effectLst/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3A56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5518359"/>
                  </a:ext>
                </a:extLst>
              </a:tr>
              <a:tr h="500790"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الهدف # 1</a:t>
                      </a: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cs typeface="Microsoft Uighur" panose="02000000000000000000" pitchFamily="2" charset="-78"/>
                        </a:rPr>
                        <a:t>إعداد الخطة التشغيلية للعام </a:t>
                      </a:r>
                      <a:r>
                        <a:rPr lang="ar-OM" sz="2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cs typeface="Microsoft Uighur" panose="02000000000000000000" pitchFamily="2" charset="-78"/>
                        </a:rPr>
                        <a:t>2025م</a:t>
                      </a:r>
                      <a:endParaRPr lang="ar-OM" sz="2000" b="1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fontAlgn="ctr" latinLnBrk="0" hangingPunct="1"/>
                      <a:r>
                        <a:rPr lang="ar-OM" sz="2800" b="1" i="0" u="none" strike="noStrike" kern="1200" dirty="0" smtClean="0">
                          <a:solidFill>
                            <a:srgbClr val="760000"/>
                          </a:solidFill>
                          <a:effectLst/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100</a:t>
                      </a:r>
                      <a:endParaRPr lang="ar-OM" sz="2800" b="1" i="0" u="none" strike="noStrike" kern="1200" dirty="0">
                        <a:solidFill>
                          <a:srgbClr val="760000"/>
                        </a:solidFill>
                        <a:effectLst/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fontAlgn="ctr" latinLnBrk="0" hangingPunct="1"/>
                      <a:r>
                        <a:rPr lang="ar-OM" sz="2800" b="1" i="0" u="none" strike="noStrike" kern="1200" dirty="0" smtClean="0">
                          <a:solidFill>
                            <a:srgbClr val="760000"/>
                          </a:solidFill>
                          <a:effectLst/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100</a:t>
                      </a:r>
                      <a:endParaRPr lang="ar-OM" sz="2800" b="1" i="0" u="none" strike="noStrike" kern="1200" dirty="0">
                        <a:solidFill>
                          <a:srgbClr val="760000"/>
                        </a:solidFill>
                        <a:effectLst/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4F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1771612"/>
                  </a:ext>
                </a:extLst>
              </a:tr>
              <a:tr h="548947"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الهدف # </a:t>
                      </a:r>
                      <a:r>
                        <a:rPr lang="en-US" sz="2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2</a:t>
                      </a:r>
                      <a:endParaRPr lang="ar-OM" sz="2000" b="1" i="0" u="none" strike="noStrike" dirty="0">
                        <a:solidFill>
                          <a:schemeClr val="tx1"/>
                        </a:solidFill>
                        <a:effectLst/>
                        <a:latin typeface="Microsoft Uighur" panose="02000000000000000000" pitchFamily="2" charset="-78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2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رفع كفاءة الخدمات المقدمة (حجز المواعيد + الخدمات الذاتية )</a:t>
                      </a:r>
                      <a:endParaRPr lang="ar-OM" sz="2000" b="1" i="0" u="none" strike="noStrike" dirty="0">
                        <a:solidFill>
                          <a:schemeClr val="tx1"/>
                        </a:solidFill>
                        <a:effectLst/>
                        <a:latin typeface="Microsoft Uighur" panose="02000000000000000000" pitchFamily="2" charset="-78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kumimoji="0" lang="ar-OM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760000"/>
                          </a:solidFill>
                          <a:effectLst/>
                          <a:uLnTx/>
                          <a:uFillTx/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50</a:t>
                      </a:r>
                      <a:endParaRPr lang="ar-OM" sz="2800" b="1" i="0" u="none" strike="noStrike" dirty="0">
                        <a:solidFill>
                          <a:srgbClr val="760000"/>
                        </a:solidFill>
                        <a:effectLst/>
                        <a:latin typeface="Microsoft Uighur" panose="02000000000000000000" pitchFamily="2" charset="-78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OM" sz="28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760000"/>
                          </a:solidFill>
                          <a:effectLst/>
                          <a:uLnTx/>
                          <a:uFillTx/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100</a:t>
                      </a:r>
                      <a:endParaRPr kumimoji="0" lang="ar-OM" sz="2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760000"/>
                        </a:solidFill>
                        <a:effectLst/>
                        <a:uLnTx/>
                        <a:uFillTx/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4F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71507"/>
                  </a:ext>
                </a:extLst>
              </a:tr>
              <a:tr h="500790"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الهدف # </a:t>
                      </a:r>
                      <a:r>
                        <a:rPr lang="en-US" sz="2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3</a:t>
                      </a:r>
                      <a:endParaRPr lang="ar-OM" sz="2000" b="1" i="0" u="none" strike="noStrike" dirty="0">
                        <a:solidFill>
                          <a:schemeClr val="tx1"/>
                        </a:solidFill>
                        <a:effectLst/>
                        <a:latin typeface="Microsoft Uighur" panose="02000000000000000000" pitchFamily="2" charset="-78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2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تحديث سجل مخاطر المديرية والإجراءات التصحيحية المحددة للمديرية</a:t>
                      </a:r>
                      <a:endParaRPr lang="ar-OM" sz="2000" b="1" i="0" u="none" strike="noStrike" dirty="0">
                        <a:solidFill>
                          <a:schemeClr val="tx1"/>
                        </a:solidFill>
                        <a:effectLst/>
                        <a:latin typeface="Microsoft Uighur" panose="02000000000000000000" pitchFamily="2" charset="-78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fontAlgn="ctr" latinLnBrk="0" hangingPunct="1"/>
                      <a:r>
                        <a:rPr kumimoji="0" lang="ar-OM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760000"/>
                          </a:solidFill>
                          <a:effectLst/>
                          <a:uLnTx/>
                          <a:uFillTx/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100</a:t>
                      </a:r>
                      <a:endParaRPr lang="ar-OM" sz="2800" b="1" i="0" u="none" strike="noStrike" kern="1200" dirty="0">
                        <a:solidFill>
                          <a:srgbClr val="760000"/>
                        </a:solidFill>
                        <a:effectLst/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OM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760000"/>
                          </a:solidFill>
                          <a:effectLst/>
                          <a:uLnTx/>
                          <a:uFillTx/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100</a:t>
                      </a:r>
                      <a:endParaRPr kumimoji="0" lang="ar-OM" sz="2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760000"/>
                        </a:solidFill>
                        <a:effectLst/>
                        <a:uLnTx/>
                        <a:uFillTx/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4F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9641936"/>
                  </a:ext>
                </a:extLst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2848303" y="214537"/>
            <a:ext cx="70628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OM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CA862"/>
                </a:solidFill>
                <a:effectLst/>
                <a:uLnTx/>
                <a:uFillTx/>
                <a:latin typeface="Microsoft Uighur" panose="02000000000000000000" pitchFamily="2" charset="-78"/>
                <a:ea typeface="+mn-ea"/>
                <a:cs typeface="Microsoft Uighur" panose="02000000000000000000" pitchFamily="2" charset="-78"/>
              </a:rPr>
              <a:t>الأهداف التشغيلية والاستراتيجية للمديرية العامة لخدمات المتعاملين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rgbClr val="CCA862"/>
              </a:solidFill>
              <a:effectLst/>
              <a:uLnTx/>
              <a:uFillTx/>
              <a:latin typeface="Microsoft Uighur" panose="02000000000000000000" pitchFamily="2" charset="-78"/>
              <a:ea typeface="+mn-ea"/>
              <a:cs typeface="Microsoft Uighur" panose="02000000000000000000" pitchFamily="2" charset="-78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11068767" y="943897"/>
            <a:ext cx="1145054" cy="5571306"/>
          </a:xfrm>
          <a:prstGeom prst="rect">
            <a:avLst/>
          </a:prstGeom>
          <a:solidFill>
            <a:srgbClr val="3A56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4" name="Group 23"/>
          <p:cNvGrpSpPr/>
          <p:nvPr/>
        </p:nvGrpSpPr>
        <p:grpSpPr>
          <a:xfrm>
            <a:off x="11051839" y="1316993"/>
            <a:ext cx="1140807" cy="1680266"/>
            <a:chOff x="11029891" y="1269995"/>
            <a:chExt cx="1164357" cy="1703173"/>
          </a:xfrm>
        </p:grpSpPr>
        <p:sp>
          <p:nvSpPr>
            <p:cNvPr id="25" name="TextBox 24"/>
            <p:cNvSpPr txBox="1"/>
            <p:nvPr/>
          </p:nvSpPr>
          <p:spPr>
            <a:xfrm>
              <a:off x="11029891" y="2130842"/>
              <a:ext cx="1146604" cy="842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r-OM" sz="240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Microsoft Uighur" panose="02000000000000000000" pitchFamily="2" charset="-78"/>
                  <a:ea typeface="+mn-ea"/>
                  <a:cs typeface="Microsoft Uighur" panose="02000000000000000000" pitchFamily="2" charset="-78"/>
                </a:rPr>
                <a:t>هدف تشغيلي  </a:t>
              </a:r>
              <a:endPara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Uighur" panose="02000000000000000000" pitchFamily="2" charset="-78"/>
                <a:ea typeface="+mn-ea"/>
                <a:cs typeface="Microsoft Uighur" panose="02000000000000000000" pitchFamily="2" charset="-78"/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11262915" y="1269995"/>
              <a:ext cx="931333" cy="11231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ar-OM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r-OM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Microsoft Uighur" panose="02000000000000000000" pitchFamily="2" charset="-78"/>
                  <a:ea typeface="+mn-ea"/>
                  <a:cs typeface="Microsoft Uighur" panose="02000000000000000000" pitchFamily="2" charset="-78"/>
                </a:rPr>
                <a:t> </a:t>
              </a:r>
              <a:r>
                <a:rPr kumimoji="0" lang="ar-OM" sz="48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C48F22"/>
                  </a:solidFill>
                  <a:effectLst/>
                  <a:uLnTx/>
                  <a:uFillTx/>
                  <a:latin typeface="Microsoft Uighur" panose="02000000000000000000" pitchFamily="2" charset="-78"/>
                  <a:ea typeface="+mn-ea"/>
                  <a:cs typeface="Microsoft Uighur" panose="02000000000000000000" pitchFamily="2" charset="-78"/>
                </a:rPr>
                <a:t>18</a:t>
              </a:r>
              <a:endParaRPr kumimoji="0" lang="ar-OM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48F22"/>
                </a:solidFill>
                <a:effectLst/>
                <a:uLnTx/>
                <a:uFillTx/>
                <a:latin typeface="Microsoft Uighur" panose="02000000000000000000" pitchFamily="2" charset="-78"/>
                <a:ea typeface="+mn-ea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11053546" y="2817698"/>
            <a:ext cx="1237226" cy="1751229"/>
            <a:chOff x="11049876" y="4540841"/>
            <a:chExt cx="1245377" cy="1775103"/>
          </a:xfrm>
        </p:grpSpPr>
        <p:sp>
          <p:nvSpPr>
            <p:cNvPr id="28" name="TextBox 27"/>
            <p:cNvSpPr txBox="1"/>
            <p:nvPr/>
          </p:nvSpPr>
          <p:spPr>
            <a:xfrm>
              <a:off x="11363920" y="4540841"/>
              <a:ext cx="931333" cy="11231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ar-OM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r-OM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Microsoft Uighur" panose="02000000000000000000" pitchFamily="2" charset="-78"/>
                  <a:ea typeface="+mn-ea"/>
                  <a:cs typeface="Microsoft Uighur" panose="02000000000000000000" pitchFamily="2" charset="-78"/>
                </a:rPr>
                <a:t> </a:t>
              </a:r>
              <a:r>
                <a:rPr kumimoji="0" lang="ar-OM" sz="48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C48F22"/>
                  </a:solidFill>
                  <a:effectLst/>
                  <a:uLnTx/>
                  <a:uFillTx/>
                  <a:latin typeface="Microsoft Uighur" panose="02000000000000000000" pitchFamily="2" charset="-78"/>
                  <a:ea typeface="+mn-ea"/>
                  <a:cs typeface="Microsoft Uighur" panose="02000000000000000000" pitchFamily="2" charset="-78"/>
                </a:rPr>
                <a:t>1</a:t>
              </a:r>
              <a:endParaRPr kumimoji="0" lang="ar-OM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48F22"/>
                </a:solidFill>
                <a:effectLst/>
                <a:uLnTx/>
                <a:uFillTx/>
                <a:latin typeface="Microsoft Uighur" panose="02000000000000000000" pitchFamily="2" charset="-78"/>
                <a:ea typeface="+mn-ea"/>
                <a:cs typeface="Microsoft Uighur" panose="02000000000000000000" pitchFamily="2" charset="-78"/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11049876" y="5473618"/>
              <a:ext cx="1146604" cy="842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r-OM" sz="240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Microsoft Uighur" panose="02000000000000000000" pitchFamily="2" charset="-78"/>
                  <a:ea typeface="+mn-ea"/>
                  <a:cs typeface="Microsoft Uighur" panose="02000000000000000000" pitchFamily="2" charset="-78"/>
                </a:rPr>
                <a:t>هدف استراتيجي </a:t>
              </a:r>
              <a:endPara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Uighur" panose="02000000000000000000" pitchFamily="2" charset="-78"/>
                <a:ea typeface="+mn-ea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10774456" y="4792542"/>
            <a:ext cx="1724072" cy="986925"/>
            <a:chOff x="10667204" y="3066134"/>
            <a:chExt cx="1759662" cy="1000380"/>
          </a:xfrm>
        </p:grpSpPr>
        <p:sp>
          <p:nvSpPr>
            <p:cNvPr id="31" name="TextBox 30"/>
            <p:cNvSpPr txBox="1"/>
            <p:nvPr/>
          </p:nvSpPr>
          <p:spPr>
            <a:xfrm>
              <a:off x="10667204" y="3066134"/>
              <a:ext cx="1759662" cy="7799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r-OM" sz="44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C48F22"/>
                  </a:solidFill>
                  <a:effectLst/>
                  <a:uLnTx/>
                  <a:uFillTx/>
                  <a:latin typeface="Microsoft Uighur" panose="02000000000000000000" pitchFamily="2" charset="-78"/>
                  <a:ea typeface="+mn-ea"/>
                  <a:cs typeface="Microsoft Uighur" panose="02000000000000000000" pitchFamily="2" charset="-78"/>
                </a:rPr>
                <a:t>100%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0990038" y="3598555"/>
              <a:ext cx="1184168" cy="4679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r-OM" sz="240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Microsoft Uighur" panose="02000000000000000000" pitchFamily="2" charset="-78"/>
                  <a:ea typeface="+mn-ea"/>
                  <a:cs typeface="Microsoft Uighur" panose="02000000000000000000" pitchFamily="2" charset="-78"/>
                </a:rPr>
                <a:t>نسبة الإنجاز </a:t>
              </a:r>
              <a:endPara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Uighur" panose="02000000000000000000" pitchFamily="2" charset="-78"/>
                <a:ea typeface="+mn-ea"/>
                <a:cs typeface="Microsoft Uighur" panose="02000000000000000000" pitchFamily="2" charset="-78"/>
              </a:endParaRPr>
            </a:p>
          </p:txBody>
        </p:sp>
      </p:grpSp>
      <p:sp>
        <p:nvSpPr>
          <p:cNvPr id="33" name="Rectangle 32"/>
          <p:cNvSpPr/>
          <p:nvPr/>
        </p:nvSpPr>
        <p:spPr>
          <a:xfrm>
            <a:off x="11061219" y="3179545"/>
            <a:ext cx="1152602" cy="45719"/>
          </a:xfrm>
          <a:prstGeom prst="rect">
            <a:avLst/>
          </a:prstGeom>
          <a:solidFill>
            <a:srgbClr val="DAE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11078152" y="4743350"/>
            <a:ext cx="1152602" cy="45719"/>
          </a:xfrm>
          <a:prstGeom prst="rect">
            <a:avLst/>
          </a:prstGeom>
          <a:solidFill>
            <a:srgbClr val="DAE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35" name="Table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3161547"/>
              </p:ext>
            </p:extLst>
          </p:nvPr>
        </p:nvGraphicFramePr>
        <p:xfrm>
          <a:off x="206478" y="3283429"/>
          <a:ext cx="10847068" cy="2521389"/>
        </p:xfrm>
        <a:graphic>
          <a:graphicData uri="http://schemas.openxmlformats.org/drawingml/2006/table">
            <a:tbl>
              <a:tblPr rtl="1">
                <a:tableStyleId>{8799B23B-EC83-4686-B30A-512413B5E67A}</a:tableStyleId>
              </a:tblPr>
              <a:tblGrid>
                <a:gridCol w="864517">
                  <a:extLst>
                    <a:ext uri="{9D8B030D-6E8A-4147-A177-3AD203B41FA5}">
                      <a16:colId xmlns:a16="http://schemas.microsoft.com/office/drawing/2014/main" val="191819981"/>
                    </a:ext>
                  </a:extLst>
                </a:gridCol>
                <a:gridCol w="6566508">
                  <a:extLst>
                    <a:ext uri="{9D8B030D-6E8A-4147-A177-3AD203B41FA5}">
                      <a16:colId xmlns:a16="http://schemas.microsoft.com/office/drawing/2014/main" val="1698874473"/>
                    </a:ext>
                  </a:extLst>
                </a:gridCol>
                <a:gridCol w="2026648">
                  <a:extLst>
                    <a:ext uri="{9D8B030D-6E8A-4147-A177-3AD203B41FA5}">
                      <a16:colId xmlns:a16="http://schemas.microsoft.com/office/drawing/2014/main" val="4209656204"/>
                    </a:ext>
                  </a:extLst>
                </a:gridCol>
                <a:gridCol w="1389395">
                  <a:extLst>
                    <a:ext uri="{9D8B030D-6E8A-4147-A177-3AD203B41FA5}">
                      <a16:colId xmlns:a16="http://schemas.microsoft.com/office/drawing/2014/main" val="4101016788"/>
                    </a:ext>
                  </a:extLst>
                </a:gridCol>
              </a:tblGrid>
              <a:tr h="710385"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الهدف # </a:t>
                      </a:r>
                      <a:r>
                        <a:rPr lang="en-US" sz="2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4</a:t>
                      </a:r>
                      <a:endParaRPr lang="ar-OM" sz="2000" b="1" i="0" u="none" strike="noStrike" dirty="0">
                        <a:solidFill>
                          <a:schemeClr val="tx1"/>
                        </a:solidFill>
                        <a:effectLst/>
                        <a:latin typeface="Microsoft Uighur" panose="02000000000000000000" pitchFamily="2" charset="-78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2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المشاركة في الفعاليات الداخلية والخارجية ( الفعاليات على مستوى الفرع/القسم أو أية فعاليات أخرى/ مقالات / أنشطة إعلامية )</a:t>
                      </a:r>
                      <a:endParaRPr lang="ar-OM" sz="2000" b="1" i="0" u="none" strike="noStrike" dirty="0">
                        <a:solidFill>
                          <a:schemeClr val="tx1"/>
                        </a:solidFill>
                        <a:effectLst/>
                        <a:latin typeface="Microsoft Uighur" panose="02000000000000000000" pitchFamily="2" charset="-78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fontAlgn="ctr" latinLnBrk="0" hangingPunct="1"/>
                      <a:r>
                        <a:rPr kumimoji="0" lang="ar-OM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760000"/>
                          </a:solidFill>
                          <a:effectLst/>
                          <a:uLnTx/>
                          <a:uFillTx/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50</a:t>
                      </a:r>
                      <a:endParaRPr lang="ar-OM" sz="2800" b="1" i="0" u="none" strike="noStrike" kern="1200" dirty="0">
                        <a:solidFill>
                          <a:srgbClr val="760000"/>
                        </a:solidFill>
                        <a:effectLst/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OM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760000"/>
                          </a:solidFill>
                          <a:effectLst/>
                          <a:uLnTx/>
                          <a:uFillTx/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100</a:t>
                      </a:r>
                      <a:endParaRPr kumimoji="0" lang="ar-OM" sz="2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760000"/>
                        </a:solidFill>
                        <a:effectLst/>
                        <a:uLnTx/>
                        <a:uFillTx/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4F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2482869"/>
                  </a:ext>
                </a:extLst>
              </a:tr>
              <a:tr h="497269"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الهدف # </a:t>
                      </a:r>
                      <a:r>
                        <a:rPr lang="en-US" sz="2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5</a:t>
                      </a:r>
                      <a:endParaRPr lang="ar-OM" sz="2000" b="1" i="0" u="none" strike="noStrike" dirty="0">
                        <a:solidFill>
                          <a:schemeClr val="tx1"/>
                        </a:solidFill>
                        <a:effectLst/>
                        <a:latin typeface="Microsoft Uighur" panose="02000000000000000000" pitchFamily="2" charset="-78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2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مبادرة تلمس احتياجات المواطنين "حاضرين " (تنفيذ الخدمات الميدانية/الخدمات الاستباقية)</a:t>
                      </a:r>
                      <a:endParaRPr lang="ar-OM" sz="2000" b="1" i="0" u="none" strike="noStrike" dirty="0">
                        <a:solidFill>
                          <a:schemeClr val="tx1"/>
                        </a:solidFill>
                        <a:effectLst/>
                        <a:latin typeface="Microsoft Uighur" panose="02000000000000000000" pitchFamily="2" charset="-78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fontAlgn="ctr" latinLnBrk="0" hangingPunct="1"/>
                      <a:r>
                        <a:rPr kumimoji="0" lang="ar-OM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760000"/>
                          </a:solidFill>
                          <a:effectLst/>
                          <a:uLnTx/>
                          <a:uFillTx/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50</a:t>
                      </a:r>
                      <a:endParaRPr lang="ar-OM" sz="2800" b="1" i="0" u="none" strike="noStrike" kern="1200" dirty="0">
                        <a:solidFill>
                          <a:srgbClr val="760000"/>
                        </a:solidFill>
                        <a:effectLst/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OM" sz="28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760000"/>
                          </a:solidFill>
                          <a:effectLst/>
                          <a:uLnTx/>
                          <a:uFillTx/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100</a:t>
                      </a:r>
                      <a:endParaRPr kumimoji="0" lang="ar-OM" sz="2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760000"/>
                        </a:solidFill>
                        <a:effectLst/>
                        <a:uLnTx/>
                        <a:uFillTx/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4F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3805838"/>
                  </a:ext>
                </a:extLst>
              </a:tr>
              <a:tr h="614351"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الهدف # </a:t>
                      </a:r>
                      <a:r>
                        <a:rPr lang="en-US" sz="2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6</a:t>
                      </a:r>
                      <a:endParaRPr lang="ar-OM" sz="2000" b="1" i="0" u="none" strike="noStrike" dirty="0">
                        <a:solidFill>
                          <a:schemeClr val="tx1"/>
                        </a:solidFill>
                        <a:effectLst/>
                        <a:latin typeface="Microsoft Uighur" panose="02000000000000000000" pitchFamily="2" charset="-78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2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متابعة تنفيذ المشروعات الرقمية (المستشار الذكي التطبيق الهاتفي المقابلات الإفتراضية+المنصة الإفتراضية+مقاييس التميز في الخدمات)</a:t>
                      </a:r>
                      <a:endParaRPr lang="ar-OM" sz="2000" b="1" i="0" u="none" strike="noStrike" dirty="0">
                        <a:solidFill>
                          <a:schemeClr val="tx1"/>
                        </a:solidFill>
                        <a:effectLst/>
                        <a:latin typeface="Microsoft Uighur" panose="02000000000000000000" pitchFamily="2" charset="-78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fontAlgn="ctr" latinLnBrk="0" hangingPunct="1"/>
                      <a:r>
                        <a:rPr kumimoji="0" lang="ar-OM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760000"/>
                          </a:solidFill>
                          <a:effectLst/>
                          <a:uLnTx/>
                          <a:uFillTx/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50</a:t>
                      </a:r>
                      <a:endParaRPr lang="ar-OM" sz="2800" b="1" i="0" u="none" strike="noStrike" kern="1200" dirty="0">
                        <a:solidFill>
                          <a:srgbClr val="760000"/>
                        </a:solidFill>
                        <a:effectLst/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OM" sz="28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760000"/>
                          </a:solidFill>
                          <a:effectLst/>
                          <a:uLnTx/>
                          <a:uFillTx/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100</a:t>
                      </a:r>
                      <a:endParaRPr kumimoji="0" lang="ar-OM" sz="2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760000"/>
                        </a:solidFill>
                        <a:effectLst/>
                        <a:uLnTx/>
                        <a:uFillTx/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4F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7446595"/>
                  </a:ext>
                </a:extLst>
              </a:tr>
              <a:tr h="699384"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الهدف # </a:t>
                      </a:r>
                      <a:r>
                        <a:rPr lang="ar-OM" sz="2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7</a:t>
                      </a:r>
                      <a:endParaRPr lang="ar-OM" sz="2000" b="1" i="0" u="none" strike="noStrike" dirty="0">
                        <a:solidFill>
                          <a:schemeClr val="tx1"/>
                        </a:solidFill>
                        <a:effectLst/>
                        <a:latin typeface="Microsoft Uighur" panose="02000000000000000000" pitchFamily="2" charset="-78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2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إعداد تصور لإقامة ملتقى خاص بالمتعاملين بكافة أنواعهم لتطوير الأنظمة والخدمات الحالية ومناقشة التحديات والصعوبات (اختيار شريحة </a:t>
                      </a:r>
                      <a:r>
                        <a:rPr lang="en-US" sz="2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Focus Group)</a:t>
                      </a:r>
                      <a:endParaRPr lang="ar-OM" sz="2000" b="1" i="0" u="none" strike="noStrike" dirty="0">
                        <a:solidFill>
                          <a:schemeClr val="tx1"/>
                        </a:solidFill>
                        <a:effectLst/>
                        <a:latin typeface="Microsoft Uighur" panose="02000000000000000000" pitchFamily="2" charset="-78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fontAlgn="ctr" latinLnBrk="0" hangingPunct="1"/>
                      <a:r>
                        <a:rPr kumimoji="0" lang="ar-OM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760000"/>
                          </a:solidFill>
                          <a:effectLst/>
                          <a:uLnTx/>
                          <a:uFillTx/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50</a:t>
                      </a:r>
                      <a:endParaRPr lang="ar-OM" sz="2800" b="1" i="0" u="none" strike="noStrike" kern="1200" dirty="0">
                        <a:solidFill>
                          <a:srgbClr val="760000"/>
                        </a:solidFill>
                        <a:effectLst/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OM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760000"/>
                          </a:solidFill>
                          <a:effectLst/>
                          <a:uLnTx/>
                          <a:uFillTx/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100</a:t>
                      </a:r>
                      <a:endParaRPr kumimoji="0" lang="ar-OM" sz="2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760000"/>
                        </a:solidFill>
                        <a:effectLst/>
                        <a:uLnTx/>
                        <a:uFillTx/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4F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6054011"/>
                  </a:ext>
                </a:extLst>
              </a:tr>
            </a:tbl>
          </a:graphicData>
        </a:graphic>
      </p:graphicFrame>
      <p:sp>
        <p:nvSpPr>
          <p:cNvPr id="18" name="Octagon 17">
            <a:extLst>
              <a:ext uri="{FF2B5EF4-FFF2-40B4-BE49-F238E27FC236}">
                <a16:creationId xmlns:a16="http://schemas.microsoft.com/office/drawing/2014/main" id="{8F86244E-E4BF-5A5A-2854-9EE6B1A483EE}"/>
              </a:ext>
            </a:extLst>
          </p:cNvPr>
          <p:cNvSpPr/>
          <p:nvPr/>
        </p:nvSpPr>
        <p:spPr>
          <a:xfrm>
            <a:off x="11766110" y="6386237"/>
            <a:ext cx="268357" cy="268357"/>
          </a:xfrm>
          <a:prstGeom prst="octagon">
            <a:avLst/>
          </a:prstGeom>
          <a:solidFill>
            <a:srgbClr val="CCA862"/>
          </a:solidFill>
          <a:ln>
            <a:noFill/>
          </a:ln>
          <a:effectLst>
            <a:outerShdw blurRad="127000" dist="635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0699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E96DFE5-67FE-5396-69D0-1988537D7F87}"/>
              </a:ext>
            </a:extLst>
          </p:cNvPr>
          <p:cNvCxnSpPr>
            <a:cxnSpLocks/>
          </p:cNvCxnSpPr>
          <p:nvPr/>
        </p:nvCxnSpPr>
        <p:spPr>
          <a:xfrm>
            <a:off x="1879344" y="813036"/>
            <a:ext cx="8236069" cy="0"/>
          </a:xfrm>
          <a:prstGeom prst="line">
            <a:avLst/>
          </a:prstGeom>
          <a:ln>
            <a:solidFill>
              <a:srgbClr val="CCA862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3345401"/>
              </p:ext>
            </p:extLst>
          </p:nvPr>
        </p:nvGraphicFramePr>
        <p:xfrm>
          <a:off x="276280" y="1023971"/>
          <a:ext cx="10778079" cy="2155573"/>
        </p:xfrm>
        <a:graphic>
          <a:graphicData uri="http://schemas.openxmlformats.org/drawingml/2006/table">
            <a:tbl>
              <a:tblPr rtl="1">
                <a:tableStyleId>{8799B23B-EC83-4686-B30A-512413B5E67A}</a:tableStyleId>
              </a:tblPr>
              <a:tblGrid>
                <a:gridCol w="845274">
                  <a:extLst>
                    <a:ext uri="{9D8B030D-6E8A-4147-A177-3AD203B41FA5}">
                      <a16:colId xmlns:a16="http://schemas.microsoft.com/office/drawing/2014/main" val="3446591263"/>
                    </a:ext>
                  </a:extLst>
                </a:gridCol>
                <a:gridCol w="6520705">
                  <a:extLst>
                    <a:ext uri="{9D8B030D-6E8A-4147-A177-3AD203B41FA5}">
                      <a16:colId xmlns:a16="http://schemas.microsoft.com/office/drawing/2014/main" val="3011913205"/>
                    </a:ext>
                  </a:extLst>
                </a:gridCol>
                <a:gridCol w="2038185">
                  <a:extLst>
                    <a:ext uri="{9D8B030D-6E8A-4147-A177-3AD203B41FA5}">
                      <a16:colId xmlns:a16="http://schemas.microsoft.com/office/drawing/2014/main" val="1434764207"/>
                    </a:ext>
                  </a:extLst>
                </a:gridCol>
                <a:gridCol w="1373915">
                  <a:extLst>
                    <a:ext uri="{9D8B030D-6E8A-4147-A177-3AD203B41FA5}">
                      <a16:colId xmlns:a16="http://schemas.microsoft.com/office/drawing/2014/main" val="4274385730"/>
                    </a:ext>
                  </a:extLst>
                </a:gridCol>
              </a:tblGrid>
              <a:tr h="792280">
                <a:tc>
                  <a:txBody>
                    <a:bodyPr/>
                    <a:lstStyle/>
                    <a:p>
                      <a:pPr marL="0" algn="ctr" defTabSz="914400" rtl="1" eaLnBrk="1" fontAlgn="ctr" latinLnBrk="0" hangingPunct="1"/>
                      <a:r>
                        <a:rPr lang="ar-OM" sz="2200" b="1" u="none" strike="noStrike" kern="1200" dirty="0">
                          <a:solidFill>
                            <a:schemeClr val="bg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الرقم </a:t>
                      </a:r>
                      <a:endParaRPr lang="ar-OM" sz="2200" b="1" u="none" strike="noStrike" kern="1200" dirty="0">
                        <a:solidFill>
                          <a:schemeClr val="bg1"/>
                        </a:solidFill>
                        <a:effectLst/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3A564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fontAlgn="ctr" latinLnBrk="0" hangingPunct="1"/>
                      <a:r>
                        <a:rPr lang="ar-OM" sz="2200" b="1" u="none" strike="noStrike" kern="1200" dirty="0">
                          <a:solidFill>
                            <a:schemeClr val="bg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الأهداف</a:t>
                      </a:r>
                      <a:endParaRPr lang="ar-OM" sz="2200" b="1" u="none" strike="noStrike" kern="1200" dirty="0">
                        <a:solidFill>
                          <a:schemeClr val="bg1"/>
                        </a:solidFill>
                        <a:effectLst/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3A564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OM" sz="2200" b="1" u="none" strike="noStrike" kern="1200" dirty="0" smtClean="0">
                          <a:solidFill>
                            <a:schemeClr val="bg1"/>
                          </a:solidFill>
                          <a:effectLst/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التوزيع النسبي للأعمال المنجزة</a:t>
                      </a:r>
                      <a:r>
                        <a:rPr lang="en-GB" sz="2200" b="1" u="none" strike="noStrike" kern="1200" dirty="0" smtClean="0">
                          <a:solidFill>
                            <a:schemeClr val="bg1"/>
                          </a:solidFill>
                          <a:effectLst/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 </a:t>
                      </a:r>
                      <a:r>
                        <a:rPr lang="ar-OM" sz="2800" b="1" i="0" u="none" strike="noStrike" kern="1200" dirty="0" smtClean="0">
                          <a:solidFill>
                            <a:schemeClr val="bg1"/>
                          </a:solidFill>
                          <a:effectLst/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%</a:t>
                      </a:r>
                    </a:p>
                  </a:txBody>
                  <a:tcPr marL="0" marR="0" marT="0" marB="0" anchor="ctr">
                    <a:solidFill>
                      <a:srgbClr val="3A564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fontAlgn="ctr" latinLnBrk="0" hangingPunct="1"/>
                      <a:r>
                        <a:rPr lang="ar-OM" sz="2200" b="1" u="none" strike="noStrike" kern="1200" dirty="0" smtClean="0">
                          <a:solidFill>
                            <a:schemeClr val="bg1"/>
                          </a:solidFill>
                          <a:effectLst/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الوزن النسبي  للإنجاز</a:t>
                      </a:r>
                      <a:r>
                        <a:rPr lang="ar-OM" sz="2200" b="1" u="none" strike="noStrike" kern="1200" baseline="0" dirty="0" smtClean="0">
                          <a:solidFill>
                            <a:schemeClr val="bg1"/>
                          </a:solidFill>
                          <a:effectLst/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 %</a:t>
                      </a:r>
                      <a:endParaRPr lang="ar-OM" sz="2200" b="1" u="none" strike="noStrike" kern="1200" dirty="0">
                        <a:solidFill>
                          <a:schemeClr val="bg1"/>
                        </a:solidFill>
                        <a:effectLst/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3A56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5518359"/>
                  </a:ext>
                </a:extLst>
              </a:tr>
              <a:tr h="551225"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الهدف # </a:t>
                      </a:r>
                      <a:r>
                        <a:rPr lang="ar-OM" sz="2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8</a:t>
                      </a:r>
                      <a:endParaRPr lang="ar-OM" sz="2000" b="1" i="0" u="none" strike="noStrike" dirty="0">
                        <a:solidFill>
                          <a:schemeClr val="tx1"/>
                        </a:solidFill>
                        <a:effectLst/>
                        <a:latin typeface="Microsoft Uighur" panose="02000000000000000000" pitchFamily="2" charset="-78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2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إعداد الإطار العام لمركزية المتعاملين </a:t>
                      </a:r>
                      <a:r>
                        <a:rPr lang="en-US" sz="2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Customer Centercity)</a:t>
                      </a:r>
                      <a:r>
                        <a:rPr lang="ar-OM" sz="2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)</a:t>
                      </a:r>
                      <a:endParaRPr lang="ar-OM" sz="2000" b="1" i="0" u="none" strike="noStrike" dirty="0">
                        <a:solidFill>
                          <a:schemeClr val="tx1"/>
                        </a:solidFill>
                        <a:effectLst/>
                        <a:latin typeface="Microsoft Uighur" panose="02000000000000000000" pitchFamily="2" charset="-78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kumimoji="0" lang="ar-OM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760000"/>
                          </a:solidFill>
                          <a:effectLst/>
                          <a:uLnTx/>
                          <a:uFillTx/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50</a:t>
                      </a:r>
                      <a:endParaRPr lang="ar-OM" sz="2800" b="1" i="0" u="none" strike="noStrike" dirty="0">
                        <a:solidFill>
                          <a:srgbClr val="760000"/>
                        </a:solidFill>
                        <a:effectLst/>
                        <a:latin typeface="Microsoft Uighur" panose="02000000000000000000" pitchFamily="2" charset="-78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OM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760000"/>
                          </a:solidFill>
                          <a:effectLst/>
                          <a:uLnTx/>
                          <a:uFillTx/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100</a:t>
                      </a:r>
                      <a:endParaRPr kumimoji="0" lang="ar-OM" sz="2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760000"/>
                        </a:solidFill>
                        <a:effectLst/>
                        <a:uLnTx/>
                        <a:uFillTx/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4F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71507"/>
                  </a:ext>
                </a:extLst>
              </a:tr>
              <a:tr h="812068"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الهدف # </a:t>
                      </a:r>
                      <a:r>
                        <a:rPr lang="ar-OM" sz="2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9</a:t>
                      </a:r>
                      <a:endParaRPr lang="ar-OM" sz="2000" b="1" i="0" u="none" strike="noStrike" dirty="0">
                        <a:solidFill>
                          <a:schemeClr val="tx1"/>
                        </a:solidFill>
                        <a:effectLst/>
                        <a:latin typeface="Microsoft Uighur" panose="02000000000000000000" pitchFamily="2" charset="-78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2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تحديث وثيقة مرجعية تحتوي على كافة المعلومات عن صندوق الحماية الاجتماعية ليتم الاستفادة منها في تغذية خدمة الواتس آب والمستشار الإلكتروني وأي انظمة ذات علاقة</a:t>
                      </a:r>
                      <a:endParaRPr lang="ar-OM" sz="2000" b="1" i="0" u="none" strike="noStrike" dirty="0">
                        <a:solidFill>
                          <a:schemeClr val="tx1"/>
                        </a:solidFill>
                        <a:effectLst/>
                        <a:latin typeface="Microsoft Uighur" panose="02000000000000000000" pitchFamily="2" charset="-78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fontAlgn="ctr" latinLnBrk="0" hangingPunct="1"/>
                      <a:r>
                        <a:rPr kumimoji="0" lang="ar-OM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760000"/>
                          </a:solidFill>
                          <a:effectLst/>
                          <a:uLnTx/>
                          <a:uFillTx/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50</a:t>
                      </a:r>
                      <a:endParaRPr lang="ar-OM" sz="2800" b="1" i="0" u="none" strike="noStrike" kern="1200" dirty="0">
                        <a:solidFill>
                          <a:srgbClr val="760000"/>
                        </a:solidFill>
                        <a:effectLst/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OM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760000"/>
                          </a:solidFill>
                          <a:effectLst/>
                          <a:uLnTx/>
                          <a:uFillTx/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100</a:t>
                      </a:r>
                      <a:endParaRPr kumimoji="0" lang="ar-OM" sz="2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760000"/>
                        </a:solidFill>
                        <a:effectLst/>
                        <a:uLnTx/>
                        <a:uFillTx/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4F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9641936"/>
                  </a:ext>
                </a:extLst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1829329" y="214537"/>
            <a:ext cx="80817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ar-OM" sz="3200" b="1" dirty="0" smtClean="0">
                <a:solidFill>
                  <a:srgbClr val="CCA862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يتابع. الأهداف </a:t>
            </a:r>
            <a:r>
              <a:rPr lang="ar-OM" sz="3200" b="1" dirty="0">
                <a:solidFill>
                  <a:srgbClr val="CCA862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التشغيلية والاستراتيجية للمديرية العامة لخدمات المتعاملين</a:t>
            </a:r>
            <a:endParaRPr lang="en-US" sz="3200" b="1" dirty="0">
              <a:solidFill>
                <a:srgbClr val="CCA862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11068767" y="1023972"/>
            <a:ext cx="1132197" cy="5527512"/>
          </a:xfrm>
          <a:prstGeom prst="rect">
            <a:avLst/>
          </a:prstGeom>
          <a:solidFill>
            <a:srgbClr val="3A56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4" name="Group 23"/>
          <p:cNvGrpSpPr/>
          <p:nvPr/>
        </p:nvGrpSpPr>
        <p:grpSpPr>
          <a:xfrm>
            <a:off x="11050713" y="1392984"/>
            <a:ext cx="1150250" cy="1631723"/>
            <a:chOff x="11028743" y="1347022"/>
            <a:chExt cx="1173995" cy="1653968"/>
          </a:xfrm>
        </p:grpSpPr>
        <p:sp>
          <p:nvSpPr>
            <p:cNvPr id="25" name="TextBox 24"/>
            <p:cNvSpPr txBox="1"/>
            <p:nvPr/>
          </p:nvSpPr>
          <p:spPr>
            <a:xfrm>
              <a:off x="11028743" y="2158664"/>
              <a:ext cx="1146604" cy="842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r-OM" sz="240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Microsoft Uighur" panose="02000000000000000000" pitchFamily="2" charset="-78"/>
                  <a:ea typeface="+mn-ea"/>
                  <a:cs typeface="Microsoft Uighur" panose="02000000000000000000" pitchFamily="2" charset="-78"/>
                </a:rPr>
                <a:t>هدف تشغيلي  </a:t>
              </a:r>
              <a:endPara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Uighur" panose="02000000000000000000" pitchFamily="2" charset="-78"/>
                <a:ea typeface="+mn-ea"/>
                <a:cs typeface="Microsoft Uighur" panose="02000000000000000000" pitchFamily="2" charset="-78"/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11271405" y="1347022"/>
              <a:ext cx="931333" cy="11231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ar-OM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r-OM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Microsoft Uighur" panose="02000000000000000000" pitchFamily="2" charset="-78"/>
                  <a:ea typeface="+mn-ea"/>
                  <a:cs typeface="Microsoft Uighur" panose="02000000000000000000" pitchFamily="2" charset="-78"/>
                </a:rPr>
                <a:t> </a:t>
              </a:r>
              <a:r>
                <a:rPr kumimoji="0" lang="ar-OM" sz="48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C48F22"/>
                  </a:solidFill>
                  <a:effectLst/>
                  <a:uLnTx/>
                  <a:uFillTx/>
                  <a:latin typeface="Microsoft Uighur" panose="02000000000000000000" pitchFamily="2" charset="-78"/>
                  <a:ea typeface="+mn-ea"/>
                  <a:cs typeface="Microsoft Uighur" panose="02000000000000000000" pitchFamily="2" charset="-78"/>
                </a:rPr>
                <a:t>18</a:t>
              </a:r>
              <a:endParaRPr kumimoji="0" lang="ar-OM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48F22"/>
                </a:solidFill>
                <a:effectLst/>
                <a:uLnTx/>
                <a:uFillTx/>
                <a:latin typeface="Microsoft Uighur" panose="02000000000000000000" pitchFamily="2" charset="-78"/>
                <a:ea typeface="+mn-ea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11053546" y="2817698"/>
            <a:ext cx="1237226" cy="1751229"/>
            <a:chOff x="11049876" y="4540841"/>
            <a:chExt cx="1245377" cy="1775103"/>
          </a:xfrm>
        </p:grpSpPr>
        <p:sp>
          <p:nvSpPr>
            <p:cNvPr id="28" name="TextBox 27"/>
            <p:cNvSpPr txBox="1"/>
            <p:nvPr/>
          </p:nvSpPr>
          <p:spPr>
            <a:xfrm>
              <a:off x="11363920" y="4540841"/>
              <a:ext cx="931333" cy="11231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ar-OM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r-OM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Microsoft Uighur" panose="02000000000000000000" pitchFamily="2" charset="-78"/>
                  <a:ea typeface="+mn-ea"/>
                  <a:cs typeface="Microsoft Uighur" panose="02000000000000000000" pitchFamily="2" charset="-78"/>
                </a:rPr>
                <a:t> </a:t>
              </a:r>
              <a:r>
                <a:rPr kumimoji="0" lang="ar-OM" sz="48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C48F22"/>
                  </a:solidFill>
                  <a:effectLst/>
                  <a:uLnTx/>
                  <a:uFillTx/>
                  <a:latin typeface="Microsoft Uighur" panose="02000000000000000000" pitchFamily="2" charset="-78"/>
                  <a:ea typeface="+mn-ea"/>
                  <a:cs typeface="Microsoft Uighur" panose="02000000000000000000" pitchFamily="2" charset="-78"/>
                </a:rPr>
                <a:t>1</a:t>
              </a:r>
              <a:endParaRPr kumimoji="0" lang="ar-OM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48F22"/>
                </a:solidFill>
                <a:effectLst/>
                <a:uLnTx/>
                <a:uFillTx/>
                <a:latin typeface="Microsoft Uighur" panose="02000000000000000000" pitchFamily="2" charset="-78"/>
                <a:ea typeface="+mn-ea"/>
                <a:cs typeface="Microsoft Uighur" panose="02000000000000000000" pitchFamily="2" charset="-78"/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11049876" y="5473618"/>
              <a:ext cx="1146604" cy="842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r-OM" sz="240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Microsoft Uighur" panose="02000000000000000000" pitchFamily="2" charset="-78"/>
                  <a:ea typeface="+mn-ea"/>
                  <a:cs typeface="Microsoft Uighur" panose="02000000000000000000" pitchFamily="2" charset="-78"/>
                </a:rPr>
                <a:t>هدف استراتيجي </a:t>
              </a:r>
              <a:endPara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Uighur" panose="02000000000000000000" pitchFamily="2" charset="-78"/>
                <a:ea typeface="+mn-ea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10774456" y="4792542"/>
            <a:ext cx="1724072" cy="986925"/>
            <a:chOff x="10667204" y="3066134"/>
            <a:chExt cx="1759662" cy="1000380"/>
          </a:xfrm>
        </p:grpSpPr>
        <p:sp>
          <p:nvSpPr>
            <p:cNvPr id="31" name="TextBox 30"/>
            <p:cNvSpPr txBox="1"/>
            <p:nvPr/>
          </p:nvSpPr>
          <p:spPr>
            <a:xfrm>
              <a:off x="10667204" y="3066134"/>
              <a:ext cx="1759662" cy="7799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r-OM" sz="44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C48F22"/>
                  </a:solidFill>
                  <a:effectLst/>
                  <a:uLnTx/>
                  <a:uFillTx/>
                  <a:latin typeface="Microsoft Uighur" panose="02000000000000000000" pitchFamily="2" charset="-78"/>
                  <a:ea typeface="+mn-ea"/>
                  <a:cs typeface="Microsoft Uighur" panose="02000000000000000000" pitchFamily="2" charset="-78"/>
                </a:rPr>
                <a:t>100%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0990038" y="3598555"/>
              <a:ext cx="1184168" cy="4679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r-OM" sz="240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Microsoft Uighur" panose="02000000000000000000" pitchFamily="2" charset="-78"/>
                  <a:ea typeface="+mn-ea"/>
                  <a:cs typeface="Microsoft Uighur" panose="02000000000000000000" pitchFamily="2" charset="-78"/>
                </a:rPr>
                <a:t>نسبة الإنجاز </a:t>
              </a:r>
              <a:endPara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Uighur" panose="02000000000000000000" pitchFamily="2" charset="-78"/>
                <a:ea typeface="+mn-ea"/>
                <a:cs typeface="Microsoft Uighur" panose="02000000000000000000" pitchFamily="2" charset="-78"/>
              </a:endParaRPr>
            </a:p>
          </p:txBody>
        </p:sp>
      </p:grpSp>
      <p:sp>
        <p:nvSpPr>
          <p:cNvPr id="33" name="Rectangle 32"/>
          <p:cNvSpPr/>
          <p:nvPr/>
        </p:nvSpPr>
        <p:spPr>
          <a:xfrm>
            <a:off x="11061219" y="3179545"/>
            <a:ext cx="1152602" cy="45719"/>
          </a:xfrm>
          <a:prstGeom prst="rect">
            <a:avLst/>
          </a:prstGeom>
          <a:solidFill>
            <a:srgbClr val="DAE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11078152" y="4743350"/>
            <a:ext cx="1152602" cy="45719"/>
          </a:xfrm>
          <a:prstGeom prst="rect">
            <a:avLst/>
          </a:prstGeom>
          <a:solidFill>
            <a:srgbClr val="DAE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35" name="Table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4499890"/>
              </p:ext>
            </p:extLst>
          </p:nvPr>
        </p:nvGraphicFramePr>
        <p:xfrm>
          <a:off x="276280" y="3225263"/>
          <a:ext cx="10777266" cy="3315483"/>
        </p:xfrm>
        <a:graphic>
          <a:graphicData uri="http://schemas.openxmlformats.org/drawingml/2006/table">
            <a:tbl>
              <a:tblPr rtl="1">
                <a:tableStyleId>{8799B23B-EC83-4686-B30A-512413B5E67A}</a:tableStyleId>
              </a:tblPr>
              <a:tblGrid>
                <a:gridCol w="858954">
                  <a:extLst>
                    <a:ext uri="{9D8B030D-6E8A-4147-A177-3AD203B41FA5}">
                      <a16:colId xmlns:a16="http://schemas.microsoft.com/office/drawing/2014/main" val="191819981"/>
                    </a:ext>
                  </a:extLst>
                </a:gridCol>
                <a:gridCol w="6524252">
                  <a:extLst>
                    <a:ext uri="{9D8B030D-6E8A-4147-A177-3AD203B41FA5}">
                      <a16:colId xmlns:a16="http://schemas.microsoft.com/office/drawing/2014/main" val="1698874473"/>
                    </a:ext>
                  </a:extLst>
                </a:gridCol>
                <a:gridCol w="2013606">
                  <a:extLst>
                    <a:ext uri="{9D8B030D-6E8A-4147-A177-3AD203B41FA5}">
                      <a16:colId xmlns:a16="http://schemas.microsoft.com/office/drawing/2014/main" val="4209656204"/>
                    </a:ext>
                  </a:extLst>
                </a:gridCol>
                <a:gridCol w="1380454">
                  <a:extLst>
                    <a:ext uri="{9D8B030D-6E8A-4147-A177-3AD203B41FA5}">
                      <a16:colId xmlns:a16="http://schemas.microsoft.com/office/drawing/2014/main" val="4101016788"/>
                    </a:ext>
                  </a:extLst>
                </a:gridCol>
              </a:tblGrid>
              <a:tr h="649895"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الهدف # </a:t>
                      </a:r>
                      <a:r>
                        <a:rPr lang="ar-OM" sz="2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10</a:t>
                      </a:r>
                      <a:endParaRPr lang="ar-OM" sz="2000" b="1" i="0" u="none" strike="noStrike" dirty="0">
                        <a:solidFill>
                          <a:schemeClr val="tx1"/>
                        </a:solidFill>
                        <a:effectLst/>
                        <a:latin typeface="Microsoft Uighur" panose="02000000000000000000" pitchFamily="2" charset="-78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2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تحديث بروتوكول خدمات المتعاملين</a:t>
                      </a:r>
                      <a:endParaRPr lang="ar-OM" sz="2000" b="1" i="0" u="none" strike="noStrike" dirty="0">
                        <a:solidFill>
                          <a:schemeClr val="tx1"/>
                        </a:solidFill>
                        <a:effectLst/>
                        <a:latin typeface="Microsoft Uighur" panose="02000000000000000000" pitchFamily="2" charset="-78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fontAlgn="ctr" latinLnBrk="0" hangingPunct="1"/>
                      <a:r>
                        <a:rPr kumimoji="0" lang="ar-OM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760000"/>
                          </a:solidFill>
                          <a:effectLst/>
                          <a:uLnTx/>
                          <a:uFillTx/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50</a:t>
                      </a:r>
                      <a:endParaRPr lang="ar-OM" sz="2800" b="1" i="0" u="none" strike="noStrike" kern="1200" dirty="0">
                        <a:solidFill>
                          <a:srgbClr val="760000"/>
                        </a:solidFill>
                        <a:effectLst/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OM" sz="28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760000"/>
                          </a:solidFill>
                          <a:effectLst/>
                          <a:uLnTx/>
                          <a:uFillTx/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100</a:t>
                      </a:r>
                      <a:endParaRPr kumimoji="0" lang="ar-OM" sz="2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760000"/>
                        </a:solidFill>
                        <a:effectLst/>
                        <a:uLnTx/>
                        <a:uFillTx/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4F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3805838"/>
                  </a:ext>
                </a:extLst>
              </a:tr>
              <a:tr h="615941"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الهدف # </a:t>
                      </a:r>
                      <a:r>
                        <a:rPr lang="ar-OM" sz="2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11</a:t>
                      </a:r>
                      <a:endParaRPr lang="ar-OM" sz="2000" b="1" i="0" u="none" strike="noStrike" dirty="0">
                        <a:solidFill>
                          <a:schemeClr val="tx1"/>
                        </a:solidFill>
                        <a:effectLst/>
                        <a:latin typeface="Microsoft Uighur" panose="02000000000000000000" pitchFamily="2" charset="-78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2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رفع كفاءة الاستجابة للطلبات الواردة من المتعاملين ومن التقسيمات الإدارية للصندوق بنسبة لا تقل عن 70% في النصف  الثاني  من عام 2024</a:t>
                      </a:r>
                      <a:endParaRPr lang="ar-OM" sz="2000" b="1" i="0" u="none" strike="noStrike" dirty="0">
                        <a:solidFill>
                          <a:schemeClr val="tx1"/>
                        </a:solidFill>
                        <a:effectLst/>
                        <a:latin typeface="Microsoft Uighur" panose="02000000000000000000" pitchFamily="2" charset="-78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fontAlgn="ctr" latinLnBrk="0" hangingPunct="1"/>
                      <a:r>
                        <a:rPr kumimoji="0" lang="ar-OM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760000"/>
                          </a:solidFill>
                          <a:effectLst/>
                          <a:uLnTx/>
                          <a:uFillTx/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50</a:t>
                      </a:r>
                      <a:endParaRPr lang="ar-OM" sz="2800" b="1" i="0" u="none" strike="noStrike" kern="1200" dirty="0">
                        <a:solidFill>
                          <a:srgbClr val="760000"/>
                        </a:solidFill>
                        <a:effectLst/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OM" sz="28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760000"/>
                          </a:solidFill>
                          <a:effectLst/>
                          <a:uLnTx/>
                          <a:uFillTx/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100</a:t>
                      </a:r>
                      <a:endParaRPr kumimoji="0" lang="ar-OM" sz="2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760000"/>
                        </a:solidFill>
                        <a:effectLst/>
                        <a:uLnTx/>
                        <a:uFillTx/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4F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7446595"/>
                  </a:ext>
                </a:extLst>
              </a:tr>
              <a:tr h="670277"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الهدف # </a:t>
                      </a:r>
                      <a:r>
                        <a:rPr lang="ar-OM" sz="2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12</a:t>
                      </a:r>
                      <a:endParaRPr lang="ar-OM" sz="2000" b="1" i="0" u="none" strike="noStrike" dirty="0">
                        <a:solidFill>
                          <a:schemeClr val="tx1"/>
                        </a:solidFill>
                        <a:effectLst/>
                        <a:latin typeface="Microsoft Uighur" panose="02000000000000000000" pitchFamily="2" charset="-78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2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تحقيق نسبة إنجاز في الخطة التشغيلية للعام 2024 لا تقل عن 90% في النصف الثاني من عام 2024</a:t>
                      </a:r>
                      <a:endParaRPr lang="ar-OM" sz="2000" b="1" i="0" u="none" strike="noStrike" dirty="0">
                        <a:solidFill>
                          <a:schemeClr val="tx1"/>
                        </a:solidFill>
                        <a:effectLst/>
                        <a:latin typeface="Microsoft Uighur" panose="02000000000000000000" pitchFamily="2" charset="-78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fontAlgn="ctr" latinLnBrk="0" hangingPunct="1"/>
                      <a:r>
                        <a:rPr kumimoji="0" lang="ar-OM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760000"/>
                          </a:solidFill>
                          <a:effectLst/>
                          <a:uLnTx/>
                          <a:uFillTx/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50</a:t>
                      </a:r>
                      <a:endParaRPr lang="ar-OM" sz="2800" b="1" i="0" u="none" strike="noStrike" kern="1200" dirty="0">
                        <a:solidFill>
                          <a:srgbClr val="760000"/>
                        </a:solidFill>
                        <a:effectLst/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OM" sz="28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760000"/>
                          </a:solidFill>
                          <a:effectLst/>
                          <a:uLnTx/>
                          <a:uFillTx/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100</a:t>
                      </a:r>
                      <a:endParaRPr kumimoji="0" lang="ar-OM" sz="2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760000"/>
                        </a:solidFill>
                        <a:effectLst/>
                        <a:uLnTx/>
                        <a:uFillTx/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4F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4710967"/>
                  </a:ext>
                </a:extLst>
              </a:tr>
              <a:tr h="689685"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الهدف # </a:t>
                      </a:r>
                      <a:r>
                        <a:rPr lang="ar-OM" sz="2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13</a:t>
                      </a:r>
                      <a:endParaRPr lang="ar-OM" sz="2000" b="1" i="0" u="none" strike="noStrike" dirty="0">
                        <a:solidFill>
                          <a:schemeClr val="tx1"/>
                        </a:solidFill>
                        <a:effectLst/>
                        <a:latin typeface="Microsoft Uighur" panose="02000000000000000000" pitchFamily="2" charset="-78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2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%  الاستجابة للشكاوى و المقترحات التطويرية الواردة من المتعاملين</a:t>
                      </a:r>
                      <a:endParaRPr lang="ar-OM" sz="2000" b="1" i="0" u="none" strike="noStrike" dirty="0">
                        <a:solidFill>
                          <a:schemeClr val="tx1"/>
                        </a:solidFill>
                        <a:effectLst/>
                        <a:latin typeface="Microsoft Uighur" panose="02000000000000000000" pitchFamily="2" charset="-78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fontAlgn="ctr" latinLnBrk="0" hangingPunct="1"/>
                      <a:r>
                        <a:rPr kumimoji="0" lang="ar-OM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760000"/>
                          </a:solidFill>
                          <a:effectLst/>
                          <a:uLnTx/>
                          <a:uFillTx/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50</a:t>
                      </a:r>
                      <a:endParaRPr lang="ar-OM" sz="2800" b="1" i="0" u="none" strike="noStrike" kern="1200" dirty="0">
                        <a:solidFill>
                          <a:srgbClr val="760000"/>
                        </a:solidFill>
                        <a:effectLst/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OM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760000"/>
                          </a:solidFill>
                          <a:effectLst/>
                          <a:uLnTx/>
                          <a:uFillTx/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100</a:t>
                      </a:r>
                      <a:endParaRPr kumimoji="0" lang="ar-OM" sz="2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760000"/>
                        </a:solidFill>
                        <a:effectLst/>
                        <a:uLnTx/>
                        <a:uFillTx/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4F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6054011"/>
                  </a:ext>
                </a:extLst>
              </a:tr>
              <a:tr h="689685">
                <a:tc>
                  <a:txBody>
                    <a:bodyPr/>
                    <a:lstStyle/>
                    <a:p>
                      <a:pPr marL="0" marR="0" lvl="0" indent="0" algn="ctr" defTabSz="9144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OM" sz="2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الهدف # 14</a:t>
                      </a:r>
                    </a:p>
                  </a:txBody>
                  <a:tcPr marL="0" marR="0" marT="0" marB="0" anchor="ctr"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2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متابعة تطوير مركز الخدمة الهاتفية</a:t>
                      </a:r>
                      <a:endParaRPr lang="ar-OM" sz="2000" b="1" i="0" u="none" strike="noStrike" dirty="0">
                        <a:solidFill>
                          <a:schemeClr val="tx1"/>
                        </a:solidFill>
                        <a:effectLst/>
                        <a:latin typeface="Microsoft Uighur" panose="02000000000000000000" pitchFamily="2" charset="-78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fontAlgn="ctr" latinLnBrk="0" hangingPunct="1"/>
                      <a:r>
                        <a:rPr lang="ar-OM" sz="2800" b="1" i="0" u="none" strike="noStrike" kern="1200" dirty="0" smtClean="0">
                          <a:solidFill>
                            <a:srgbClr val="760000"/>
                          </a:solidFill>
                          <a:effectLst/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50</a:t>
                      </a:r>
                      <a:endParaRPr lang="ar-OM" sz="2800" b="1" i="0" u="none" strike="noStrike" kern="1200" dirty="0">
                        <a:solidFill>
                          <a:srgbClr val="760000"/>
                        </a:solidFill>
                        <a:effectLst/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OM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760000"/>
                          </a:solidFill>
                          <a:effectLst/>
                          <a:uLnTx/>
                          <a:uFillTx/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100</a:t>
                      </a:r>
                      <a:endParaRPr kumimoji="0" lang="ar-OM" sz="2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760000"/>
                        </a:solidFill>
                        <a:effectLst/>
                        <a:uLnTx/>
                        <a:uFillTx/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4F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1566165"/>
                  </a:ext>
                </a:extLst>
              </a:tr>
            </a:tbl>
          </a:graphicData>
        </a:graphic>
      </p:graphicFrame>
      <p:sp>
        <p:nvSpPr>
          <p:cNvPr id="18" name="Octagon 17">
            <a:extLst>
              <a:ext uri="{FF2B5EF4-FFF2-40B4-BE49-F238E27FC236}">
                <a16:creationId xmlns:a16="http://schemas.microsoft.com/office/drawing/2014/main" id="{8F86244E-E4BF-5A5A-2854-9EE6B1A483EE}"/>
              </a:ext>
            </a:extLst>
          </p:cNvPr>
          <p:cNvSpPr/>
          <p:nvPr/>
        </p:nvSpPr>
        <p:spPr>
          <a:xfrm>
            <a:off x="11804857" y="6491616"/>
            <a:ext cx="268357" cy="268357"/>
          </a:xfrm>
          <a:prstGeom prst="octagon">
            <a:avLst/>
          </a:prstGeom>
          <a:solidFill>
            <a:srgbClr val="CCA862"/>
          </a:solidFill>
          <a:ln>
            <a:noFill/>
          </a:ln>
          <a:effectLst>
            <a:outerShdw blurRad="127000" dist="635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205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E96DFE5-67FE-5396-69D0-1988537D7F87}"/>
              </a:ext>
            </a:extLst>
          </p:cNvPr>
          <p:cNvCxnSpPr>
            <a:cxnSpLocks/>
          </p:cNvCxnSpPr>
          <p:nvPr/>
        </p:nvCxnSpPr>
        <p:spPr>
          <a:xfrm>
            <a:off x="1879344" y="813036"/>
            <a:ext cx="8236069" cy="0"/>
          </a:xfrm>
          <a:prstGeom prst="line">
            <a:avLst/>
          </a:prstGeom>
          <a:ln>
            <a:solidFill>
              <a:srgbClr val="CCA862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4311214"/>
              </p:ext>
            </p:extLst>
          </p:nvPr>
        </p:nvGraphicFramePr>
        <p:xfrm>
          <a:off x="276280" y="1023971"/>
          <a:ext cx="10778079" cy="365760"/>
        </p:xfrm>
        <a:graphic>
          <a:graphicData uri="http://schemas.openxmlformats.org/drawingml/2006/table">
            <a:tbl>
              <a:tblPr rtl="1">
                <a:tableStyleId>{8799B23B-EC83-4686-B30A-512413B5E67A}</a:tableStyleId>
              </a:tblPr>
              <a:tblGrid>
                <a:gridCol w="10778079">
                  <a:extLst>
                    <a:ext uri="{9D8B030D-6E8A-4147-A177-3AD203B41FA5}">
                      <a16:colId xmlns:a16="http://schemas.microsoft.com/office/drawing/2014/main" val="3446591263"/>
                    </a:ext>
                  </a:extLst>
                </a:gridCol>
              </a:tblGrid>
              <a:tr h="321179"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2400" b="1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الأهداف</a:t>
                      </a:r>
                      <a:r>
                        <a:rPr lang="ar-OM" sz="2400" b="1" i="0" u="none" strike="noStrike" baseline="0" dirty="0" smtClean="0">
                          <a:solidFill>
                            <a:srgbClr val="C00000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 الإضافية </a:t>
                      </a:r>
                      <a:endParaRPr lang="ar-OM" sz="2400" b="1" i="0" u="none" strike="noStrike" dirty="0">
                        <a:solidFill>
                          <a:srgbClr val="C00000"/>
                        </a:solidFill>
                        <a:effectLst/>
                        <a:latin typeface="Microsoft Uighur" panose="02000000000000000000" pitchFamily="2" charset="-78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2218454"/>
                  </a:ext>
                </a:extLst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2848303" y="214537"/>
            <a:ext cx="70628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ar-OM" sz="3200" b="1" dirty="0">
                <a:solidFill>
                  <a:srgbClr val="CCA862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الأهداف التشغيلية والاستراتيجية للمديرية العامة لخدمات المتعاملين</a:t>
            </a:r>
            <a:endParaRPr lang="en-US" sz="3200" b="1" dirty="0">
              <a:solidFill>
                <a:srgbClr val="CCA862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11068767" y="1023971"/>
            <a:ext cx="1132197" cy="5118749"/>
          </a:xfrm>
          <a:prstGeom prst="rect">
            <a:avLst/>
          </a:prstGeom>
          <a:solidFill>
            <a:srgbClr val="3A56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4" name="Group 23"/>
          <p:cNvGrpSpPr/>
          <p:nvPr/>
        </p:nvGrpSpPr>
        <p:grpSpPr>
          <a:xfrm>
            <a:off x="11053549" y="1254922"/>
            <a:ext cx="1137716" cy="1694298"/>
            <a:chOff x="10999693" y="1232769"/>
            <a:chExt cx="1161202" cy="1717396"/>
          </a:xfrm>
        </p:grpSpPr>
        <p:sp>
          <p:nvSpPr>
            <p:cNvPr id="25" name="TextBox 24"/>
            <p:cNvSpPr txBox="1"/>
            <p:nvPr/>
          </p:nvSpPr>
          <p:spPr>
            <a:xfrm>
              <a:off x="10999693" y="2107839"/>
              <a:ext cx="1146604" cy="842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r-OM" sz="240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Microsoft Uighur" panose="02000000000000000000" pitchFamily="2" charset="-78"/>
                  <a:ea typeface="+mn-ea"/>
                  <a:cs typeface="Microsoft Uighur" panose="02000000000000000000" pitchFamily="2" charset="-78"/>
                </a:rPr>
                <a:t>هدف تشغيلي  </a:t>
              </a:r>
              <a:endPara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Uighur" panose="02000000000000000000" pitchFamily="2" charset="-78"/>
                <a:ea typeface="+mn-ea"/>
                <a:cs typeface="Microsoft Uighur" panose="02000000000000000000" pitchFamily="2" charset="-78"/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11229562" y="1232769"/>
              <a:ext cx="931333" cy="11231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ar-OM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r-OM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Microsoft Uighur" panose="02000000000000000000" pitchFamily="2" charset="-78"/>
                  <a:ea typeface="+mn-ea"/>
                  <a:cs typeface="Microsoft Uighur" panose="02000000000000000000" pitchFamily="2" charset="-78"/>
                </a:rPr>
                <a:t> </a:t>
              </a:r>
              <a:r>
                <a:rPr kumimoji="0" lang="ar-OM" sz="48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C48F22"/>
                  </a:solidFill>
                  <a:effectLst/>
                  <a:uLnTx/>
                  <a:uFillTx/>
                  <a:latin typeface="Microsoft Uighur" panose="02000000000000000000" pitchFamily="2" charset="-78"/>
                  <a:ea typeface="+mn-ea"/>
                  <a:cs typeface="Microsoft Uighur" panose="02000000000000000000" pitchFamily="2" charset="-78"/>
                </a:rPr>
                <a:t>18</a:t>
              </a:r>
              <a:endParaRPr kumimoji="0" lang="ar-OM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48F22"/>
                </a:solidFill>
                <a:effectLst/>
                <a:uLnTx/>
                <a:uFillTx/>
                <a:latin typeface="Microsoft Uighur" panose="02000000000000000000" pitchFamily="2" charset="-78"/>
                <a:ea typeface="+mn-ea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11053546" y="2817698"/>
            <a:ext cx="1237226" cy="1751229"/>
            <a:chOff x="11049876" y="4540841"/>
            <a:chExt cx="1245377" cy="1775103"/>
          </a:xfrm>
        </p:grpSpPr>
        <p:sp>
          <p:nvSpPr>
            <p:cNvPr id="28" name="TextBox 27"/>
            <p:cNvSpPr txBox="1"/>
            <p:nvPr/>
          </p:nvSpPr>
          <p:spPr>
            <a:xfrm>
              <a:off x="11363920" y="4540841"/>
              <a:ext cx="931333" cy="11231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ar-OM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r-OM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Microsoft Uighur" panose="02000000000000000000" pitchFamily="2" charset="-78"/>
                  <a:ea typeface="+mn-ea"/>
                  <a:cs typeface="Microsoft Uighur" panose="02000000000000000000" pitchFamily="2" charset="-78"/>
                </a:rPr>
                <a:t> </a:t>
              </a:r>
              <a:r>
                <a:rPr kumimoji="0" lang="ar-OM" sz="48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C48F22"/>
                  </a:solidFill>
                  <a:effectLst/>
                  <a:uLnTx/>
                  <a:uFillTx/>
                  <a:latin typeface="Microsoft Uighur" panose="02000000000000000000" pitchFamily="2" charset="-78"/>
                  <a:ea typeface="+mn-ea"/>
                  <a:cs typeface="Microsoft Uighur" panose="02000000000000000000" pitchFamily="2" charset="-78"/>
                </a:rPr>
                <a:t>1</a:t>
              </a:r>
              <a:endParaRPr kumimoji="0" lang="ar-OM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48F22"/>
                </a:solidFill>
                <a:effectLst/>
                <a:uLnTx/>
                <a:uFillTx/>
                <a:latin typeface="Microsoft Uighur" panose="02000000000000000000" pitchFamily="2" charset="-78"/>
                <a:ea typeface="+mn-ea"/>
                <a:cs typeface="Microsoft Uighur" panose="02000000000000000000" pitchFamily="2" charset="-78"/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11049876" y="5473618"/>
              <a:ext cx="1146604" cy="842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r-OM" sz="240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Microsoft Uighur" panose="02000000000000000000" pitchFamily="2" charset="-78"/>
                  <a:ea typeface="+mn-ea"/>
                  <a:cs typeface="Microsoft Uighur" panose="02000000000000000000" pitchFamily="2" charset="-78"/>
                </a:rPr>
                <a:t>هدف استراتيجي </a:t>
              </a:r>
              <a:endPara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Uighur" panose="02000000000000000000" pitchFamily="2" charset="-78"/>
                <a:ea typeface="+mn-ea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10774456" y="4792542"/>
            <a:ext cx="1724072" cy="986925"/>
            <a:chOff x="10667204" y="3066134"/>
            <a:chExt cx="1759662" cy="1000380"/>
          </a:xfrm>
        </p:grpSpPr>
        <p:sp>
          <p:nvSpPr>
            <p:cNvPr id="31" name="TextBox 30"/>
            <p:cNvSpPr txBox="1"/>
            <p:nvPr/>
          </p:nvSpPr>
          <p:spPr>
            <a:xfrm>
              <a:off x="10667204" y="3066134"/>
              <a:ext cx="1759662" cy="7799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r-OM" sz="44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C48F22"/>
                  </a:solidFill>
                  <a:effectLst/>
                  <a:uLnTx/>
                  <a:uFillTx/>
                  <a:latin typeface="Microsoft Uighur" panose="02000000000000000000" pitchFamily="2" charset="-78"/>
                  <a:ea typeface="+mn-ea"/>
                  <a:cs typeface="Microsoft Uighur" panose="02000000000000000000" pitchFamily="2" charset="-78"/>
                </a:rPr>
                <a:t>50%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0990038" y="3598555"/>
              <a:ext cx="1184168" cy="4679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r-OM" sz="240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Microsoft Uighur" panose="02000000000000000000" pitchFamily="2" charset="-78"/>
                  <a:ea typeface="+mn-ea"/>
                  <a:cs typeface="Microsoft Uighur" panose="02000000000000000000" pitchFamily="2" charset="-78"/>
                </a:rPr>
                <a:t>نسبة الإنجاز </a:t>
              </a:r>
              <a:endPara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Uighur" panose="02000000000000000000" pitchFamily="2" charset="-78"/>
                <a:ea typeface="+mn-ea"/>
                <a:cs typeface="Microsoft Uighur" panose="02000000000000000000" pitchFamily="2" charset="-78"/>
              </a:endParaRPr>
            </a:p>
          </p:txBody>
        </p:sp>
      </p:grpSp>
      <p:sp>
        <p:nvSpPr>
          <p:cNvPr id="33" name="Rectangle 32"/>
          <p:cNvSpPr/>
          <p:nvPr/>
        </p:nvSpPr>
        <p:spPr>
          <a:xfrm>
            <a:off x="11061219" y="3179545"/>
            <a:ext cx="1152602" cy="45719"/>
          </a:xfrm>
          <a:prstGeom prst="rect">
            <a:avLst/>
          </a:prstGeom>
          <a:solidFill>
            <a:srgbClr val="DAE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11078152" y="4743350"/>
            <a:ext cx="1152602" cy="45719"/>
          </a:xfrm>
          <a:prstGeom prst="rect">
            <a:avLst/>
          </a:prstGeom>
          <a:solidFill>
            <a:srgbClr val="DAE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35" name="Table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2325791"/>
              </p:ext>
            </p:extLst>
          </p:nvPr>
        </p:nvGraphicFramePr>
        <p:xfrm>
          <a:off x="276280" y="1469754"/>
          <a:ext cx="10781164" cy="4672966"/>
        </p:xfrm>
        <a:graphic>
          <a:graphicData uri="http://schemas.openxmlformats.org/drawingml/2006/table">
            <a:tbl>
              <a:tblPr rtl="1">
                <a:tableStyleId>{8799B23B-EC83-4686-B30A-512413B5E67A}</a:tableStyleId>
              </a:tblPr>
              <a:tblGrid>
                <a:gridCol w="859264">
                  <a:extLst>
                    <a:ext uri="{9D8B030D-6E8A-4147-A177-3AD203B41FA5}">
                      <a16:colId xmlns:a16="http://schemas.microsoft.com/office/drawing/2014/main" val="191819981"/>
                    </a:ext>
                  </a:extLst>
                </a:gridCol>
                <a:gridCol w="6526612">
                  <a:extLst>
                    <a:ext uri="{9D8B030D-6E8A-4147-A177-3AD203B41FA5}">
                      <a16:colId xmlns:a16="http://schemas.microsoft.com/office/drawing/2014/main" val="1698874473"/>
                    </a:ext>
                  </a:extLst>
                </a:gridCol>
                <a:gridCol w="2014335">
                  <a:extLst>
                    <a:ext uri="{9D8B030D-6E8A-4147-A177-3AD203B41FA5}">
                      <a16:colId xmlns:a16="http://schemas.microsoft.com/office/drawing/2014/main" val="4209656204"/>
                    </a:ext>
                  </a:extLst>
                </a:gridCol>
                <a:gridCol w="1380953">
                  <a:extLst>
                    <a:ext uri="{9D8B030D-6E8A-4147-A177-3AD203B41FA5}">
                      <a16:colId xmlns:a16="http://schemas.microsoft.com/office/drawing/2014/main" val="4101016788"/>
                    </a:ext>
                  </a:extLst>
                </a:gridCol>
              </a:tblGrid>
              <a:tr h="902479"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الهدف # </a:t>
                      </a:r>
                      <a:r>
                        <a:rPr lang="ar-OM" sz="2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15</a:t>
                      </a:r>
                      <a:endParaRPr lang="ar-OM" sz="2000" b="1" i="0" u="none" strike="noStrike" dirty="0">
                        <a:solidFill>
                          <a:schemeClr val="tx1"/>
                        </a:solidFill>
                        <a:effectLst/>
                        <a:latin typeface="Microsoft Uighur" panose="02000000000000000000" pitchFamily="2" charset="-78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2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نسبة الخدمات المدونة والمعلنة في دليل استرشادي من اجمالي الخدمات المقدمة للمستفيدين </a:t>
                      </a:r>
                      <a:endParaRPr lang="ar-OM" sz="2000" b="1" i="0" u="none" strike="noStrike" dirty="0">
                        <a:solidFill>
                          <a:schemeClr val="tx1"/>
                        </a:solidFill>
                        <a:effectLst/>
                        <a:latin typeface="Microsoft Uighur" panose="02000000000000000000" pitchFamily="2" charset="-78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fontAlgn="ctr" latinLnBrk="0" hangingPunct="1"/>
                      <a:r>
                        <a:rPr lang="ar-OM" sz="2800" b="1" i="0" u="none" strike="noStrike" kern="1200" dirty="0" smtClean="0">
                          <a:solidFill>
                            <a:srgbClr val="760000"/>
                          </a:solidFill>
                          <a:effectLst/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50</a:t>
                      </a:r>
                      <a:endParaRPr lang="ar-OM" sz="2800" b="1" i="0" u="none" strike="noStrike" kern="1200" dirty="0">
                        <a:solidFill>
                          <a:srgbClr val="760000"/>
                        </a:solidFill>
                        <a:effectLst/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OM" sz="2800" b="1" i="0" u="none" strike="noStrike" kern="1200" dirty="0" smtClean="0">
                          <a:solidFill>
                            <a:srgbClr val="760000"/>
                          </a:solidFill>
                          <a:effectLst/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100</a:t>
                      </a:r>
                    </a:p>
                  </a:txBody>
                  <a:tcPr marL="0" marR="0" marT="0" marB="0" anchor="ctr">
                    <a:solidFill>
                      <a:srgbClr val="F4F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2482869"/>
                  </a:ext>
                </a:extLst>
              </a:tr>
              <a:tr h="750815"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الهدف # </a:t>
                      </a:r>
                      <a:r>
                        <a:rPr lang="ar-OM" sz="2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16</a:t>
                      </a:r>
                      <a:endParaRPr lang="ar-OM" sz="2000" b="1" i="0" u="none" strike="noStrike" dirty="0">
                        <a:solidFill>
                          <a:schemeClr val="tx1"/>
                        </a:solidFill>
                        <a:effectLst/>
                        <a:latin typeface="Microsoft Uighur" panose="02000000000000000000" pitchFamily="2" charset="-78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2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التفاني والالتزام بالسلوك الوظيفي وأخلاقيات العمل </a:t>
                      </a:r>
                      <a:endParaRPr lang="ar-OM" sz="2000" b="1" i="0" u="none" strike="noStrike" dirty="0">
                        <a:solidFill>
                          <a:schemeClr val="tx1"/>
                        </a:solidFill>
                        <a:effectLst/>
                        <a:latin typeface="Microsoft Uighur" panose="02000000000000000000" pitchFamily="2" charset="-78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fontAlgn="ctr" latinLnBrk="0" hangingPunct="1"/>
                      <a:r>
                        <a:rPr lang="ar-OM" sz="2800" b="1" i="0" u="none" strike="noStrike" kern="1200" dirty="0" smtClean="0">
                          <a:solidFill>
                            <a:srgbClr val="760000"/>
                          </a:solidFill>
                          <a:effectLst/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50</a:t>
                      </a:r>
                      <a:endParaRPr lang="ar-OM" sz="2800" b="1" i="0" u="none" strike="noStrike" kern="1200" dirty="0">
                        <a:solidFill>
                          <a:srgbClr val="760000"/>
                        </a:solidFill>
                        <a:effectLst/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OM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760000"/>
                          </a:solidFill>
                          <a:effectLst/>
                          <a:uLnTx/>
                          <a:uFillTx/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100</a:t>
                      </a:r>
                      <a:endParaRPr kumimoji="0" lang="ar-OM" sz="2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760000"/>
                        </a:solidFill>
                        <a:effectLst/>
                        <a:uLnTx/>
                        <a:uFillTx/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4F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3805838"/>
                  </a:ext>
                </a:extLst>
              </a:tr>
              <a:tr h="750815"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الهدف # </a:t>
                      </a:r>
                      <a:r>
                        <a:rPr lang="ar-OM" sz="2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17</a:t>
                      </a:r>
                      <a:endParaRPr lang="ar-OM" sz="2000" b="1" i="0" u="none" strike="noStrike" dirty="0">
                        <a:solidFill>
                          <a:schemeClr val="tx1"/>
                        </a:solidFill>
                        <a:effectLst/>
                        <a:latin typeface="Microsoft Uighur" panose="02000000000000000000" pitchFamily="2" charset="-78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2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كفاءة استجابة مركز الخدمة الهاتفية للمكالمات الواردة من المتعاملين %</a:t>
                      </a:r>
                      <a:endParaRPr lang="ar-OM" sz="2000" b="1" i="0" u="none" strike="noStrike" dirty="0">
                        <a:solidFill>
                          <a:schemeClr val="tx1"/>
                        </a:solidFill>
                        <a:effectLst/>
                        <a:latin typeface="Microsoft Uighur" panose="02000000000000000000" pitchFamily="2" charset="-78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fontAlgn="ctr" latinLnBrk="0" hangingPunct="1"/>
                      <a:r>
                        <a:rPr lang="ar-OM" sz="2800" b="1" i="0" u="none" strike="noStrike" kern="1200" dirty="0" smtClean="0">
                          <a:solidFill>
                            <a:srgbClr val="760000"/>
                          </a:solidFill>
                          <a:effectLst/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50</a:t>
                      </a:r>
                      <a:endParaRPr lang="ar-OM" sz="2800" b="1" i="0" u="none" strike="noStrike" kern="1200" dirty="0">
                        <a:solidFill>
                          <a:srgbClr val="760000"/>
                        </a:solidFill>
                        <a:effectLst/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OM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760000"/>
                          </a:solidFill>
                          <a:effectLst/>
                          <a:uLnTx/>
                          <a:uFillTx/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100</a:t>
                      </a:r>
                      <a:endParaRPr kumimoji="0" lang="ar-OM" sz="2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760000"/>
                        </a:solidFill>
                        <a:effectLst/>
                        <a:uLnTx/>
                        <a:uFillTx/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4F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7446595"/>
                  </a:ext>
                </a:extLst>
              </a:tr>
              <a:tr h="764175"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الهدف # </a:t>
                      </a:r>
                      <a:r>
                        <a:rPr lang="ar-OM" sz="2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18</a:t>
                      </a:r>
                      <a:endParaRPr lang="ar-OM" sz="2000" b="1" i="0" u="none" strike="noStrike" dirty="0">
                        <a:solidFill>
                          <a:schemeClr val="tx1"/>
                        </a:solidFill>
                        <a:effectLst/>
                        <a:latin typeface="Microsoft Uighur" panose="02000000000000000000" pitchFamily="2" charset="-78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2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الالتزام بتوفير كافة  المتطلبات اللوجستية والإدارية  للدائرة بالمحافظة </a:t>
                      </a:r>
                      <a:endParaRPr lang="ar-OM" sz="2000" b="1" i="0" u="none" strike="noStrike" dirty="0">
                        <a:solidFill>
                          <a:schemeClr val="tx1"/>
                        </a:solidFill>
                        <a:effectLst/>
                        <a:latin typeface="Microsoft Uighur" panose="02000000000000000000" pitchFamily="2" charset="-78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fontAlgn="ctr" latinLnBrk="0" hangingPunct="1"/>
                      <a:r>
                        <a:rPr lang="ar-OM" sz="2800" b="1" i="0" u="none" strike="noStrike" kern="1200" dirty="0" smtClean="0">
                          <a:solidFill>
                            <a:srgbClr val="760000"/>
                          </a:solidFill>
                          <a:effectLst/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50</a:t>
                      </a:r>
                      <a:endParaRPr lang="ar-OM" sz="2800" b="1" i="0" u="none" strike="noStrike" kern="1200" dirty="0">
                        <a:solidFill>
                          <a:srgbClr val="760000"/>
                        </a:solidFill>
                        <a:effectLst/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OM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760000"/>
                          </a:solidFill>
                          <a:effectLst/>
                          <a:uLnTx/>
                          <a:uFillTx/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100</a:t>
                      </a:r>
                      <a:endParaRPr kumimoji="0" lang="ar-OM" sz="2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760000"/>
                        </a:solidFill>
                        <a:effectLst/>
                        <a:uLnTx/>
                        <a:uFillTx/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4F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4710967"/>
                  </a:ext>
                </a:extLst>
              </a:tr>
              <a:tr h="752341">
                <a:tc gridSpan="4">
                  <a:txBody>
                    <a:bodyPr/>
                    <a:lstStyle/>
                    <a:p>
                      <a:pPr marL="0" marR="0" lvl="0" indent="0" algn="ctr" defTabSz="9144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OM" sz="2000" b="1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الأهداف</a:t>
                      </a:r>
                      <a:r>
                        <a:rPr lang="ar-OM" sz="2000" b="1" i="0" u="none" strike="noStrike" baseline="0" dirty="0" smtClean="0">
                          <a:solidFill>
                            <a:srgbClr val="C00000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 الاستراتيجية  </a:t>
                      </a:r>
                      <a:endParaRPr lang="ar-OM" sz="2000" b="1" i="0" u="none" strike="noStrike" dirty="0" smtClean="0">
                        <a:solidFill>
                          <a:srgbClr val="C00000"/>
                        </a:solidFill>
                        <a:effectLst/>
                        <a:latin typeface="Microsoft Uighur" panose="02000000000000000000" pitchFamily="2" charset="-78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E2F0D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1" fontAlgn="ctr"/>
                      <a:endParaRPr lang="ar-OM" sz="2000" b="1" i="0" u="none" strike="noStrike" dirty="0">
                        <a:solidFill>
                          <a:schemeClr val="tx1"/>
                        </a:solidFill>
                        <a:effectLst/>
                        <a:latin typeface="Microsoft Uighur" panose="02000000000000000000" pitchFamily="2" charset="-78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1" eaLnBrk="1" fontAlgn="ctr" latinLnBrk="0" hangingPunct="1"/>
                      <a:endParaRPr lang="ar-OM" sz="2800" b="1" i="0" u="none" strike="noStrike" kern="1200" dirty="0">
                        <a:solidFill>
                          <a:srgbClr val="760000"/>
                        </a:solidFill>
                        <a:effectLst/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4F6F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1" eaLnBrk="1" fontAlgn="ctr" latinLnBrk="0" hangingPunct="1"/>
                      <a:endParaRPr lang="ar-OM" sz="2800" b="1" i="0" u="none" strike="noStrike" kern="1200" dirty="0">
                        <a:solidFill>
                          <a:srgbClr val="760000"/>
                        </a:solidFill>
                        <a:effectLst/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4F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8569893"/>
                  </a:ext>
                </a:extLst>
              </a:tr>
              <a:tr h="752341">
                <a:tc>
                  <a:txBody>
                    <a:bodyPr/>
                    <a:lstStyle/>
                    <a:p>
                      <a:pPr marL="0" marR="0" lvl="0" indent="0" algn="ctr" defTabSz="9144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ar-OM" sz="2000" b="1" i="0" u="none" strike="noStrike" dirty="0" smtClean="0">
                        <a:solidFill>
                          <a:schemeClr val="tx1"/>
                        </a:solidFill>
                        <a:effectLst/>
                        <a:latin typeface="Microsoft Uighur" panose="02000000000000000000" pitchFamily="2" charset="-78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2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فريق</a:t>
                      </a:r>
                      <a:r>
                        <a:rPr lang="ar-OM" sz="2000" b="1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 إعادة تصميم الهيكل التنظيمي لصندوق الحماية الاجتماعية </a:t>
                      </a:r>
                      <a:endParaRPr lang="ar-OM" sz="2000" b="1" i="0" u="none" strike="noStrike" dirty="0">
                        <a:solidFill>
                          <a:schemeClr val="tx1"/>
                        </a:solidFill>
                        <a:effectLst/>
                        <a:latin typeface="Microsoft Uighur" panose="02000000000000000000" pitchFamily="2" charset="-78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OM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760000"/>
                          </a:solidFill>
                          <a:effectLst/>
                          <a:uLnTx/>
                          <a:uFillTx/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100</a:t>
                      </a:r>
                      <a:endParaRPr lang="ar-OM" sz="2800" b="1" i="0" u="none" strike="noStrike" kern="1200" dirty="0" smtClean="0">
                        <a:solidFill>
                          <a:srgbClr val="760000"/>
                        </a:solidFill>
                        <a:effectLst/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OM" sz="2800" b="1" i="0" u="none" strike="noStrike" kern="1200" dirty="0" smtClean="0">
                          <a:solidFill>
                            <a:srgbClr val="760000"/>
                          </a:solidFill>
                          <a:effectLst/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100</a:t>
                      </a:r>
                    </a:p>
                  </a:txBody>
                  <a:tcPr marL="0" marR="0" marT="0" marB="0" anchor="ctr">
                    <a:solidFill>
                      <a:srgbClr val="F4F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7576844"/>
                  </a:ext>
                </a:extLst>
              </a:tr>
            </a:tbl>
          </a:graphicData>
        </a:graphic>
      </p:graphicFrame>
      <p:sp>
        <p:nvSpPr>
          <p:cNvPr id="18" name="Octagon 17">
            <a:extLst>
              <a:ext uri="{FF2B5EF4-FFF2-40B4-BE49-F238E27FC236}">
                <a16:creationId xmlns:a16="http://schemas.microsoft.com/office/drawing/2014/main" id="{8F86244E-E4BF-5A5A-2854-9EE6B1A483EE}"/>
              </a:ext>
            </a:extLst>
          </p:cNvPr>
          <p:cNvSpPr/>
          <p:nvPr/>
        </p:nvSpPr>
        <p:spPr>
          <a:xfrm>
            <a:off x="11766110" y="6358527"/>
            <a:ext cx="268357" cy="268357"/>
          </a:xfrm>
          <a:prstGeom prst="octagon">
            <a:avLst/>
          </a:prstGeom>
          <a:solidFill>
            <a:srgbClr val="CCA862"/>
          </a:solidFill>
          <a:ln>
            <a:noFill/>
          </a:ln>
          <a:effectLst>
            <a:outerShdw blurRad="127000" dist="635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593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E96DFE5-67FE-5396-69D0-1988537D7F87}"/>
              </a:ext>
            </a:extLst>
          </p:cNvPr>
          <p:cNvCxnSpPr>
            <a:cxnSpLocks/>
          </p:cNvCxnSpPr>
          <p:nvPr/>
        </p:nvCxnSpPr>
        <p:spPr>
          <a:xfrm>
            <a:off x="1640745" y="612932"/>
            <a:ext cx="8406088" cy="0"/>
          </a:xfrm>
          <a:prstGeom prst="line">
            <a:avLst/>
          </a:prstGeom>
          <a:ln>
            <a:solidFill>
              <a:srgbClr val="C48F22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C51E41F3-FCC7-8151-51F0-E9C95F9D6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07687" y="151227"/>
            <a:ext cx="268357" cy="268357"/>
          </a:xfrm>
        </p:spPr>
        <p:txBody>
          <a:bodyPr lIns="0" tIns="0" rIns="0" bIns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OM" sz="10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ook Antiqua" panose="02040602050305030304" pitchFamily="18" charset="0"/>
                <a:ea typeface="+mn-ea"/>
                <a:cs typeface="+mn-cs"/>
              </a:rPr>
              <a:t>7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ok Antiqua" panose="02040602050305030304" pitchFamily="18" charset="0"/>
              <a:ea typeface="+mn-ea"/>
              <a:cs typeface="+mn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037165" y="28157"/>
            <a:ext cx="22231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OM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48F22"/>
                </a:solidFill>
                <a:effectLst/>
                <a:uLnTx/>
                <a:uFillTx/>
                <a:latin typeface="Microsoft Uighur" panose="02000000000000000000" pitchFamily="2" charset="-78"/>
                <a:ea typeface="+mn-ea"/>
                <a:cs typeface="Microsoft Uighur" panose="02000000000000000000" pitchFamily="2" charset="-78"/>
              </a:rPr>
              <a:t>الكوادر البشرية 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rgbClr val="C48F22"/>
              </a:solidFill>
              <a:effectLst/>
              <a:uLnTx/>
              <a:uFillTx/>
              <a:latin typeface="Microsoft Uighur" panose="02000000000000000000" pitchFamily="2" charset="-78"/>
              <a:ea typeface="+mn-ea"/>
              <a:cs typeface="Microsoft Uighur" panose="02000000000000000000" pitchFamily="2" charset="-78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6670077"/>
              </p:ext>
            </p:extLst>
          </p:nvPr>
        </p:nvGraphicFramePr>
        <p:xfrm>
          <a:off x="202225" y="703385"/>
          <a:ext cx="11873821" cy="6063175"/>
        </p:xfrm>
        <a:graphic>
          <a:graphicData uri="http://schemas.openxmlformats.org/drawingml/2006/table">
            <a:tbl>
              <a:tblPr rtl="1">
                <a:tableStyleId>{073A0DAA-6AF3-43AB-8588-CEC1D06C72B9}</a:tableStyleId>
              </a:tblPr>
              <a:tblGrid>
                <a:gridCol w="243474">
                  <a:extLst>
                    <a:ext uri="{9D8B030D-6E8A-4147-A177-3AD203B41FA5}">
                      <a16:colId xmlns:a16="http://schemas.microsoft.com/office/drawing/2014/main" val="73286599"/>
                    </a:ext>
                  </a:extLst>
                </a:gridCol>
                <a:gridCol w="1836359">
                  <a:extLst>
                    <a:ext uri="{9D8B030D-6E8A-4147-A177-3AD203B41FA5}">
                      <a16:colId xmlns:a16="http://schemas.microsoft.com/office/drawing/2014/main" val="2674827092"/>
                    </a:ext>
                  </a:extLst>
                </a:gridCol>
                <a:gridCol w="729121">
                  <a:extLst>
                    <a:ext uri="{9D8B030D-6E8A-4147-A177-3AD203B41FA5}">
                      <a16:colId xmlns:a16="http://schemas.microsoft.com/office/drawing/2014/main" val="2829396419"/>
                    </a:ext>
                  </a:extLst>
                </a:gridCol>
                <a:gridCol w="640869">
                  <a:extLst>
                    <a:ext uri="{9D8B030D-6E8A-4147-A177-3AD203B41FA5}">
                      <a16:colId xmlns:a16="http://schemas.microsoft.com/office/drawing/2014/main" val="1336621364"/>
                    </a:ext>
                  </a:extLst>
                </a:gridCol>
                <a:gridCol w="671592">
                  <a:extLst>
                    <a:ext uri="{9D8B030D-6E8A-4147-A177-3AD203B41FA5}">
                      <a16:colId xmlns:a16="http://schemas.microsoft.com/office/drawing/2014/main" val="631596574"/>
                    </a:ext>
                  </a:extLst>
                </a:gridCol>
                <a:gridCol w="937903">
                  <a:extLst>
                    <a:ext uri="{9D8B030D-6E8A-4147-A177-3AD203B41FA5}">
                      <a16:colId xmlns:a16="http://schemas.microsoft.com/office/drawing/2014/main" val="455940285"/>
                    </a:ext>
                  </a:extLst>
                </a:gridCol>
                <a:gridCol w="996608">
                  <a:extLst>
                    <a:ext uri="{9D8B030D-6E8A-4147-A177-3AD203B41FA5}">
                      <a16:colId xmlns:a16="http://schemas.microsoft.com/office/drawing/2014/main" val="956867628"/>
                    </a:ext>
                  </a:extLst>
                </a:gridCol>
                <a:gridCol w="816098">
                  <a:extLst>
                    <a:ext uri="{9D8B030D-6E8A-4147-A177-3AD203B41FA5}">
                      <a16:colId xmlns:a16="http://schemas.microsoft.com/office/drawing/2014/main" val="4134308186"/>
                    </a:ext>
                  </a:extLst>
                </a:gridCol>
                <a:gridCol w="847804">
                  <a:extLst>
                    <a:ext uri="{9D8B030D-6E8A-4147-A177-3AD203B41FA5}">
                      <a16:colId xmlns:a16="http://schemas.microsoft.com/office/drawing/2014/main" val="1843386720"/>
                    </a:ext>
                  </a:extLst>
                </a:gridCol>
                <a:gridCol w="715964">
                  <a:extLst>
                    <a:ext uri="{9D8B030D-6E8A-4147-A177-3AD203B41FA5}">
                      <a16:colId xmlns:a16="http://schemas.microsoft.com/office/drawing/2014/main" val="2257472203"/>
                    </a:ext>
                  </a:extLst>
                </a:gridCol>
                <a:gridCol w="595801">
                  <a:extLst>
                    <a:ext uri="{9D8B030D-6E8A-4147-A177-3AD203B41FA5}">
                      <a16:colId xmlns:a16="http://schemas.microsoft.com/office/drawing/2014/main" val="3454258601"/>
                    </a:ext>
                  </a:extLst>
                </a:gridCol>
                <a:gridCol w="608371">
                  <a:extLst>
                    <a:ext uri="{9D8B030D-6E8A-4147-A177-3AD203B41FA5}">
                      <a16:colId xmlns:a16="http://schemas.microsoft.com/office/drawing/2014/main" val="825718830"/>
                    </a:ext>
                  </a:extLst>
                </a:gridCol>
                <a:gridCol w="531870">
                  <a:extLst>
                    <a:ext uri="{9D8B030D-6E8A-4147-A177-3AD203B41FA5}">
                      <a16:colId xmlns:a16="http://schemas.microsoft.com/office/drawing/2014/main" val="3031644428"/>
                    </a:ext>
                  </a:extLst>
                </a:gridCol>
                <a:gridCol w="585366">
                  <a:extLst>
                    <a:ext uri="{9D8B030D-6E8A-4147-A177-3AD203B41FA5}">
                      <a16:colId xmlns:a16="http://schemas.microsoft.com/office/drawing/2014/main" val="1790617402"/>
                    </a:ext>
                  </a:extLst>
                </a:gridCol>
                <a:gridCol w="580292">
                  <a:extLst>
                    <a:ext uri="{9D8B030D-6E8A-4147-A177-3AD203B41FA5}">
                      <a16:colId xmlns:a16="http://schemas.microsoft.com/office/drawing/2014/main" val="1894796741"/>
                    </a:ext>
                  </a:extLst>
                </a:gridCol>
                <a:gridCol w="536329">
                  <a:extLst>
                    <a:ext uri="{9D8B030D-6E8A-4147-A177-3AD203B41FA5}">
                      <a16:colId xmlns:a16="http://schemas.microsoft.com/office/drawing/2014/main" val="3453795335"/>
                    </a:ext>
                  </a:extLst>
                </a:gridCol>
              </a:tblGrid>
              <a:tr h="1242550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ar-OM" sz="1600" b="1" kern="1200" dirty="0" smtClean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المسميات</a:t>
                      </a:r>
                      <a:r>
                        <a:rPr lang="ar-OM" sz="1600" b="1" kern="1200" baseline="0" dirty="0" smtClean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 الوظيفية </a:t>
                      </a:r>
                      <a:endParaRPr lang="en-US" sz="1600" b="1" kern="1200" dirty="0">
                        <a:solidFill>
                          <a:schemeClr val="tx1"/>
                        </a:solidFill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5272" marR="5272" marT="5272" marB="0" anchor="ctr">
                    <a:solidFill>
                      <a:srgbClr val="CCA86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en-US" sz="1600" b="1" kern="1200" dirty="0">
                        <a:solidFill>
                          <a:schemeClr val="bg1"/>
                        </a:solidFill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5272" marR="5272" marT="5272" marB="0" anchor="ctr">
                    <a:solidFill>
                      <a:srgbClr val="CCA86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16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 إدارة وتطوير الخدمات</a:t>
                      </a:r>
                    </a:p>
                  </a:txBody>
                  <a:tcPr marL="5272" marR="5272" marT="5272" marB="0" anchor="ctr"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1600" b="1" kern="1200" dirty="0" smtClean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 </a:t>
                      </a:r>
                      <a:r>
                        <a:rPr lang="ar-OM" sz="16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البريمي</a:t>
                      </a:r>
                    </a:p>
                  </a:txBody>
                  <a:tcPr marL="5272" marR="5272" marT="5272" marB="0" anchor="ctr"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1600" b="1" kern="1200" dirty="0" smtClean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الداخلية</a:t>
                      </a:r>
                      <a:endParaRPr lang="ar-OM" sz="1600" b="1" kern="1200" dirty="0">
                        <a:solidFill>
                          <a:schemeClr val="tx1"/>
                        </a:solidFill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5272" marR="5272" marT="5272" marB="0" anchor="ctr"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1600" b="1" kern="1200" dirty="0" smtClean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الظاهرة</a:t>
                      </a:r>
                      <a:endParaRPr lang="ar-OM" sz="1600" b="1" kern="1200" dirty="0">
                        <a:solidFill>
                          <a:schemeClr val="tx1"/>
                        </a:solidFill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5272" marR="5272" marT="5272" marB="0" anchor="ctr"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1600" b="1" kern="1200" dirty="0" smtClean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جنوب </a:t>
                      </a:r>
                      <a:r>
                        <a:rPr lang="ar-OM" sz="16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الباطنة</a:t>
                      </a:r>
                    </a:p>
                  </a:txBody>
                  <a:tcPr marL="5272" marR="5272" marT="5272" marB="0" anchor="ctr"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1600" b="1" kern="1200" dirty="0" smtClean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جنوب </a:t>
                      </a:r>
                      <a:r>
                        <a:rPr lang="ar-OM" sz="16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الشرقية</a:t>
                      </a:r>
                    </a:p>
                  </a:txBody>
                  <a:tcPr marL="5272" marR="5272" marT="5272" marB="0" anchor="ctr"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1600" b="1" kern="1200" dirty="0" smtClean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شمال </a:t>
                      </a:r>
                      <a:r>
                        <a:rPr lang="ar-OM" sz="16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الباطنة</a:t>
                      </a:r>
                    </a:p>
                  </a:txBody>
                  <a:tcPr marL="5272" marR="5272" marT="5272" marB="0" anchor="ctr"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1600" b="1" kern="1200" dirty="0" smtClean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شمال </a:t>
                      </a:r>
                      <a:r>
                        <a:rPr lang="ar-OM" sz="16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الشرقية </a:t>
                      </a:r>
                    </a:p>
                  </a:txBody>
                  <a:tcPr marL="5272" marR="5272" marT="5272" marB="0" anchor="ctr"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1600" b="1" kern="1200" dirty="0" smtClean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ظفار</a:t>
                      </a:r>
                      <a:endParaRPr lang="ar-OM" sz="1600" b="1" kern="1200" dirty="0">
                        <a:solidFill>
                          <a:schemeClr val="tx1"/>
                        </a:solidFill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5272" marR="5272" marT="5272" marB="0" anchor="ctr"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1600" b="1" kern="1200" dirty="0" smtClean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مسقط</a:t>
                      </a:r>
                      <a:endParaRPr lang="ar-OM" sz="1600" b="1" kern="1200" dirty="0">
                        <a:solidFill>
                          <a:schemeClr val="tx1"/>
                        </a:solidFill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5272" marR="5272" marT="5272" marB="0" anchor="ctr"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1600" b="1" kern="1200" dirty="0" smtClean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مسندم</a:t>
                      </a:r>
                      <a:endParaRPr lang="ar-OM" sz="1600" b="1" kern="1200" dirty="0">
                        <a:solidFill>
                          <a:schemeClr val="tx1"/>
                        </a:solidFill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5272" marR="5272" marT="5272" marB="0" anchor="ctr"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1600" b="1" kern="1200" dirty="0" smtClean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الوسطى </a:t>
                      </a:r>
                      <a:endParaRPr lang="ar-OM" sz="1600" b="1" kern="1200" dirty="0">
                        <a:solidFill>
                          <a:schemeClr val="tx1"/>
                        </a:solidFill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5272" marR="5272" marT="5272" marB="0" anchor="ctr"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16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المديرية العامة لخدمات المتعاملين</a:t>
                      </a:r>
                    </a:p>
                  </a:txBody>
                  <a:tcPr marL="5272" marR="5272" marT="5272" marB="0" anchor="ctr"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ar-OM" sz="1600" b="1" kern="1200" dirty="0" smtClean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الإجمالي </a:t>
                      </a:r>
                      <a:endParaRPr lang="en-US" sz="1600" b="1" kern="1200" dirty="0">
                        <a:solidFill>
                          <a:schemeClr val="tx1"/>
                        </a:solidFill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5272" marR="5272" marT="5272" marB="0" anchor="ctr">
                    <a:solidFill>
                      <a:srgbClr val="F4F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9495997"/>
                  </a:ext>
                </a:extLst>
              </a:tr>
              <a:tr h="526095">
                <a:tc>
                  <a:txBody>
                    <a:bodyPr/>
                    <a:lstStyle/>
                    <a:p>
                      <a:pPr algn="ctr" rtl="1" fontAlgn="b"/>
                      <a:r>
                        <a:rPr lang="en-GB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cs typeface="+mj-cs"/>
                        </a:rPr>
                        <a:t>1</a:t>
                      </a:r>
                      <a:endParaRPr lang="ar-OM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+mj-cs"/>
                      </a:endParaRPr>
                    </a:p>
                  </a:txBody>
                  <a:tcPr marL="5272" marR="5272" marT="5272" marB="0" anchor="b">
                    <a:solidFill>
                      <a:srgbClr val="CCA86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ar-OM" sz="1600" b="1" kern="1200" dirty="0">
                          <a:solidFill>
                            <a:schemeClr val="bg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أخصائي  إدارة علاقات المتعاملين</a:t>
                      </a:r>
                    </a:p>
                  </a:txBody>
                  <a:tcPr marL="5272" marR="5272" marT="5272" marB="0" anchor="b">
                    <a:solidFill>
                      <a:srgbClr val="3A564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3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3</a:t>
                      </a:r>
                    </a:p>
                  </a:txBody>
                  <a:tcPr marL="5272" marR="5272" marT="5272" marB="0" anchor="b"/>
                </a:tc>
                <a:extLst>
                  <a:ext uri="{0D108BD9-81ED-4DB2-BD59-A6C34878D82A}">
                    <a16:rowId xmlns:a16="http://schemas.microsoft.com/office/drawing/2014/main" val="845127651"/>
                  </a:ext>
                </a:extLst>
              </a:tr>
              <a:tr h="465676">
                <a:tc>
                  <a:txBody>
                    <a:bodyPr/>
                    <a:lstStyle/>
                    <a:p>
                      <a:pPr algn="ctr" rtl="1" fontAlgn="b"/>
                      <a:r>
                        <a:rPr lang="en-GB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cs typeface="+mj-cs"/>
                        </a:rPr>
                        <a:t>2</a:t>
                      </a:r>
                      <a:endParaRPr lang="ar-OM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+mj-cs"/>
                      </a:endParaRPr>
                    </a:p>
                  </a:txBody>
                  <a:tcPr marL="5272" marR="5272" marT="5272" marB="0" anchor="b">
                    <a:solidFill>
                      <a:srgbClr val="CCA86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ar-OM" sz="1600" b="1" kern="1200" dirty="0">
                          <a:solidFill>
                            <a:schemeClr val="bg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أخصائي  إدارة وتطوير الخدمات</a:t>
                      </a:r>
                    </a:p>
                  </a:txBody>
                  <a:tcPr marL="5272" marR="5272" marT="5272" marB="0" anchor="b">
                    <a:solidFill>
                      <a:srgbClr val="3A564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3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3</a:t>
                      </a:r>
                    </a:p>
                  </a:txBody>
                  <a:tcPr marL="5272" marR="5272" marT="5272" marB="0" anchor="b"/>
                </a:tc>
                <a:extLst>
                  <a:ext uri="{0D108BD9-81ED-4DB2-BD59-A6C34878D82A}">
                    <a16:rowId xmlns:a16="http://schemas.microsoft.com/office/drawing/2014/main" val="565358263"/>
                  </a:ext>
                </a:extLst>
              </a:tr>
              <a:tr h="465676">
                <a:tc>
                  <a:txBody>
                    <a:bodyPr/>
                    <a:lstStyle/>
                    <a:p>
                      <a:pPr algn="ctr" rtl="1" fontAlgn="b"/>
                      <a:r>
                        <a:rPr lang="en-GB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cs typeface="+mj-cs"/>
                        </a:rPr>
                        <a:t>3</a:t>
                      </a:r>
                      <a:endParaRPr lang="ar-OM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+mj-cs"/>
                      </a:endParaRPr>
                    </a:p>
                  </a:txBody>
                  <a:tcPr marL="5272" marR="5272" marT="5272" marB="0" anchor="b">
                    <a:solidFill>
                      <a:srgbClr val="CCA86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ar-OM" sz="1600" b="1" kern="1200" dirty="0">
                          <a:solidFill>
                            <a:schemeClr val="bg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أخصائي  مركز الخدمة الهاتفية</a:t>
                      </a:r>
                    </a:p>
                  </a:txBody>
                  <a:tcPr marL="5272" marR="5272" marT="5272" marB="0" anchor="b">
                    <a:solidFill>
                      <a:srgbClr val="3A564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2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2</a:t>
                      </a:r>
                    </a:p>
                  </a:txBody>
                  <a:tcPr marL="5272" marR="5272" marT="5272" marB="0" anchor="b"/>
                </a:tc>
                <a:extLst>
                  <a:ext uri="{0D108BD9-81ED-4DB2-BD59-A6C34878D82A}">
                    <a16:rowId xmlns:a16="http://schemas.microsoft.com/office/drawing/2014/main" val="1677067730"/>
                  </a:ext>
                </a:extLst>
              </a:tr>
              <a:tr h="526095">
                <a:tc>
                  <a:txBody>
                    <a:bodyPr/>
                    <a:lstStyle/>
                    <a:p>
                      <a:pPr algn="ctr" rtl="1" fontAlgn="b"/>
                      <a:r>
                        <a:rPr lang="en-GB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cs typeface="+mj-cs"/>
                        </a:rPr>
                        <a:t>4</a:t>
                      </a:r>
                      <a:endParaRPr lang="ar-OM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+mj-cs"/>
                      </a:endParaRPr>
                    </a:p>
                  </a:txBody>
                  <a:tcPr marL="5272" marR="5272" marT="5272" marB="0" anchor="b">
                    <a:solidFill>
                      <a:srgbClr val="CCA86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ar-OM" sz="1600" b="1" kern="1200" dirty="0">
                          <a:solidFill>
                            <a:schemeClr val="bg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أخصائي أول خدمات المتعاملين</a:t>
                      </a:r>
                    </a:p>
                  </a:txBody>
                  <a:tcPr marL="5272" marR="5272" marT="5272" marB="0" anchor="b">
                    <a:solidFill>
                      <a:srgbClr val="3A564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4</a:t>
                      </a:r>
                    </a:p>
                  </a:txBody>
                  <a:tcPr marL="5272" marR="5272" marT="5272" marB="0" anchor="b"/>
                </a:tc>
                <a:extLst>
                  <a:ext uri="{0D108BD9-81ED-4DB2-BD59-A6C34878D82A}">
                    <a16:rowId xmlns:a16="http://schemas.microsoft.com/office/drawing/2014/main" val="3121763838"/>
                  </a:ext>
                </a:extLst>
              </a:tr>
              <a:tr h="699793">
                <a:tc>
                  <a:txBody>
                    <a:bodyPr/>
                    <a:lstStyle/>
                    <a:p>
                      <a:pPr algn="ctr" rtl="1" fontAlgn="b"/>
                      <a:r>
                        <a:rPr lang="en-GB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cs typeface="+mj-cs"/>
                        </a:rPr>
                        <a:t>5</a:t>
                      </a:r>
                      <a:endParaRPr lang="ar-OM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+mj-cs"/>
                      </a:endParaRPr>
                    </a:p>
                  </a:txBody>
                  <a:tcPr marL="5272" marR="5272" marT="5272" marB="0" anchor="b">
                    <a:solidFill>
                      <a:srgbClr val="CCA86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ar-OM" sz="1600" b="1" kern="1200" dirty="0">
                          <a:solidFill>
                            <a:schemeClr val="bg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أخصائي اول شؤون الدوائر والمنافذ في المحافظات</a:t>
                      </a:r>
                    </a:p>
                  </a:txBody>
                  <a:tcPr marL="5272" marR="5272" marT="5272" marB="0" anchor="b">
                    <a:solidFill>
                      <a:srgbClr val="3A564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</a:t>
                      </a:r>
                    </a:p>
                  </a:txBody>
                  <a:tcPr marL="5272" marR="5272" marT="5272" marB="0" anchor="b"/>
                </a:tc>
                <a:extLst>
                  <a:ext uri="{0D108BD9-81ED-4DB2-BD59-A6C34878D82A}">
                    <a16:rowId xmlns:a16="http://schemas.microsoft.com/office/drawing/2014/main" val="1925239040"/>
                  </a:ext>
                </a:extLst>
              </a:tr>
              <a:tr h="465676">
                <a:tc>
                  <a:txBody>
                    <a:bodyPr/>
                    <a:lstStyle/>
                    <a:p>
                      <a:pPr algn="ctr" rtl="1" fontAlgn="b"/>
                      <a:r>
                        <a:rPr lang="en-GB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cs typeface="+mj-cs"/>
                        </a:rPr>
                        <a:t>6</a:t>
                      </a:r>
                      <a:endParaRPr lang="ar-OM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+mj-cs"/>
                      </a:endParaRPr>
                    </a:p>
                  </a:txBody>
                  <a:tcPr marL="5272" marR="5272" marT="5272" marB="0" anchor="b">
                    <a:solidFill>
                      <a:srgbClr val="CCA86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ar-OM" sz="1600" b="1" kern="1200" dirty="0">
                          <a:solidFill>
                            <a:schemeClr val="bg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أخصائي خدمات المتعاملين </a:t>
                      </a:r>
                    </a:p>
                  </a:txBody>
                  <a:tcPr marL="5272" marR="5272" marT="5272" marB="0" anchor="b">
                    <a:solidFill>
                      <a:srgbClr val="3A564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5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6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3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2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8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6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9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8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49</a:t>
                      </a:r>
                    </a:p>
                  </a:txBody>
                  <a:tcPr marL="5272" marR="5272" marT="5272" marB="0" anchor="b"/>
                </a:tc>
                <a:extLst>
                  <a:ext uri="{0D108BD9-81ED-4DB2-BD59-A6C34878D82A}">
                    <a16:rowId xmlns:a16="http://schemas.microsoft.com/office/drawing/2014/main" val="1950131529"/>
                  </a:ext>
                </a:extLst>
              </a:tr>
              <a:tr h="619424">
                <a:tc>
                  <a:txBody>
                    <a:bodyPr/>
                    <a:lstStyle/>
                    <a:p>
                      <a:pPr algn="ctr" rtl="1" fontAlgn="b"/>
                      <a:r>
                        <a:rPr lang="en-GB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cs typeface="+mj-cs"/>
                        </a:rPr>
                        <a:t>7</a:t>
                      </a:r>
                      <a:endParaRPr lang="ar-OM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+mj-cs"/>
                      </a:endParaRPr>
                    </a:p>
                  </a:txBody>
                  <a:tcPr marL="5272" marR="5272" marT="5272" marB="0" anchor="b">
                    <a:solidFill>
                      <a:srgbClr val="CCA86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ar-OM" sz="1600" b="1" kern="1200" dirty="0">
                          <a:solidFill>
                            <a:schemeClr val="bg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أخصائي شؤون الدوائر والمنافذ في المحافظات</a:t>
                      </a:r>
                    </a:p>
                  </a:txBody>
                  <a:tcPr marL="5272" marR="5272" marT="5272" marB="0" anchor="b">
                    <a:solidFill>
                      <a:srgbClr val="3A564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</a:t>
                      </a:r>
                    </a:p>
                  </a:txBody>
                  <a:tcPr marL="5272" marR="5272" marT="5272" marB="0" anchor="b"/>
                </a:tc>
                <a:extLst>
                  <a:ext uri="{0D108BD9-81ED-4DB2-BD59-A6C34878D82A}">
                    <a16:rowId xmlns:a16="http://schemas.microsoft.com/office/drawing/2014/main" val="2669485210"/>
                  </a:ext>
                </a:extLst>
              </a:tr>
              <a:tr h="526095">
                <a:tc>
                  <a:txBody>
                    <a:bodyPr/>
                    <a:lstStyle/>
                    <a:p>
                      <a:pPr algn="ctr" rtl="1" fontAlgn="b"/>
                      <a:r>
                        <a:rPr lang="en-GB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cs typeface="+mj-cs"/>
                        </a:rPr>
                        <a:t>8</a:t>
                      </a:r>
                      <a:endParaRPr lang="ar-OM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+mj-cs"/>
                      </a:endParaRPr>
                    </a:p>
                  </a:txBody>
                  <a:tcPr marL="5272" marR="5272" marT="5272" marB="0" anchor="b">
                    <a:solidFill>
                      <a:srgbClr val="CCA86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ar-OM" sz="1600" b="1" kern="1200" dirty="0">
                          <a:solidFill>
                            <a:schemeClr val="bg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تنفيذي  إدارة علاقات المتعاملين</a:t>
                      </a:r>
                    </a:p>
                  </a:txBody>
                  <a:tcPr marL="5272" marR="5272" marT="5272" marB="0" anchor="b">
                    <a:solidFill>
                      <a:srgbClr val="3A564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</a:t>
                      </a:r>
                    </a:p>
                  </a:txBody>
                  <a:tcPr marL="5272" marR="5272" marT="5272" marB="0" anchor="b"/>
                </a:tc>
                <a:extLst>
                  <a:ext uri="{0D108BD9-81ED-4DB2-BD59-A6C34878D82A}">
                    <a16:rowId xmlns:a16="http://schemas.microsoft.com/office/drawing/2014/main" val="1958449851"/>
                  </a:ext>
                </a:extLst>
              </a:tr>
              <a:tr h="526095">
                <a:tc>
                  <a:txBody>
                    <a:bodyPr/>
                    <a:lstStyle/>
                    <a:p>
                      <a:pPr algn="ctr" rtl="1" fontAlgn="b"/>
                      <a:r>
                        <a:rPr lang="en-GB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cs typeface="+mj-cs"/>
                        </a:rPr>
                        <a:t>9</a:t>
                      </a:r>
                      <a:endParaRPr lang="ar-OM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+mj-cs"/>
                      </a:endParaRPr>
                    </a:p>
                  </a:txBody>
                  <a:tcPr marL="5272" marR="5272" marT="5272" marB="0" anchor="b">
                    <a:solidFill>
                      <a:srgbClr val="CCA86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ar-OM" sz="1600" b="1" kern="1200" dirty="0">
                          <a:solidFill>
                            <a:schemeClr val="bg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تنفيذي  خدمات المتعاملين</a:t>
                      </a:r>
                    </a:p>
                  </a:txBody>
                  <a:tcPr marL="5272" marR="5272" marT="5272" marB="0" anchor="b">
                    <a:solidFill>
                      <a:srgbClr val="3A564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6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4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4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2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10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6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9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2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4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10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52</a:t>
                      </a:r>
                    </a:p>
                  </a:txBody>
                  <a:tcPr marL="5272" marR="5272" marT="5272" marB="0" anchor="b"/>
                </a:tc>
                <a:extLst>
                  <a:ext uri="{0D108BD9-81ED-4DB2-BD59-A6C34878D82A}">
                    <a16:rowId xmlns:a16="http://schemas.microsoft.com/office/drawing/2014/main" val="24086545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51665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E96DFE5-67FE-5396-69D0-1988537D7F87}"/>
              </a:ext>
            </a:extLst>
          </p:cNvPr>
          <p:cNvCxnSpPr>
            <a:cxnSpLocks/>
          </p:cNvCxnSpPr>
          <p:nvPr/>
        </p:nvCxnSpPr>
        <p:spPr>
          <a:xfrm>
            <a:off x="1709325" y="674488"/>
            <a:ext cx="8406088" cy="0"/>
          </a:xfrm>
          <a:prstGeom prst="line">
            <a:avLst/>
          </a:prstGeom>
          <a:ln>
            <a:solidFill>
              <a:srgbClr val="C48F22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C51E41F3-FCC7-8151-51F0-E9C95F9D6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07687" y="151227"/>
            <a:ext cx="268357" cy="268357"/>
          </a:xfrm>
        </p:spPr>
        <p:txBody>
          <a:bodyPr lIns="0" tIns="0" rIns="0" bIns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OM" sz="10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ook Antiqua" panose="02040602050305030304" pitchFamily="18" charset="0"/>
                <a:ea typeface="+mn-ea"/>
                <a:cs typeface="+mn-cs"/>
              </a:rPr>
              <a:t>7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ok Antiqua" panose="02040602050305030304" pitchFamily="18" charset="0"/>
              <a:ea typeface="+mn-ea"/>
              <a:cs typeface="+mn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709325" y="28157"/>
            <a:ext cx="77948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OM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48F22"/>
                </a:solidFill>
                <a:effectLst/>
                <a:uLnTx/>
                <a:uFillTx/>
                <a:latin typeface="Microsoft Uighur" panose="02000000000000000000" pitchFamily="2" charset="-78"/>
                <a:ea typeface="+mn-ea"/>
                <a:cs typeface="Microsoft Uighur" panose="02000000000000000000" pitchFamily="2" charset="-78"/>
              </a:rPr>
              <a:t>الكوادر البشرية  في دوائر الحماية الاجتماعية</a:t>
            </a:r>
            <a:r>
              <a:rPr kumimoji="0" lang="ar-OM" sz="3200" b="1" i="0" u="none" strike="noStrike" kern="1200" cap="none" spc="0" normalizeH="0" noProof="0" dirty="0" smtClean="0">
                <a:ln>
                  <a:noFill/>
                </a:ln>
                <a:solidFill>
                  <a:srgbClr val="C48F22"/>
                </a:solidFill>
                <a:effectLst/>
                <a:uLnTx/>
                <a:uFillTx/>
                <a:latin typeface="Microsoft Uighur" panose="02000000000000000000" pitchFamily="2" charset="-78"/>
                <a:ea typeface="+mn-ea"/>
                <a:cs typeface="Microsoft Uighur" panose="02000000000000000000" pitchFamily="2" charset="-78"/>
              </a:rPr>
              <a:t> في المحافظات  </a:t>
            </a:r>
            <a:r>
              <a:rPr kumimoji="0" lang="ar-OM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48F22"/>
                </a:solidFill>
                <a:effectLst/>
                <a:uLnTx/>
                <a:uFillTx/>
                <a:latin typeface="Microsoft Uighur" panose="02000000000000000000" pitchFamily="2" charset="-78"/>
                <a:ea typeface="+mn-ea"/>
                <a:cs typeface="Microsoft Uighur" panose="02000000000000000000" pitchFamily="2" charset="-78"/>
              </a:rPr>
              <a:t> 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rgbClr val="C48F22"/>
              </a:solidFill>
              <a:effectLst/>
              <a:uLnTx/>
              <a:uFillTx/>
              <a:latin typeface="Microsoft Uighur" panose="02000000000000000000" pitchFamily="2" charset="-78"/>
              <a:ea typeface="+mn-ea"/>
              <a:cs typeface="Microsoft Uighur" panose="02000000000000000000" pitchFamily="2" charset="-78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7822229"/>
              </p:ext>
            </p:extLst>
          </p:nvPr>
        </p:nvGraphicFramePr>
        <p:xfrm>
          <a:off x="140677" y="514349"/>
          <a:ext cx="11801188" cy="6205105"/>
        </p:xfrm>
        <a:graphic>
          <a:graphicData uri="http://schemas.openxmlformats.org/drawingml/2006/table">
            <a:tbl>
              <a:tblPr rtl="1">
                <a:tableStyleId>{F5AB1C69-6EDB-4FF4-983F-18BD219EF322}</a:tableStyleId>
              </a:tblPr>
              <a:tblGrid>
                <a:gridCol w="422526">
                  <a:extLst>
                    <a:ext uri="{9D8B030D-6E8A-4147-A177-3AD203B41FA5}">
                      <a16:colId xmlns:a16="http://schemas.microsoft.com/office/drawing/2014/main" val="2528130455"/>
                    </a:ext>
                  </a:extLst>
                </a:gridCol>
                <a:gridCol w="1936431">
                  <a:extLst>
                    <a:ext uri="{9D8B030D-6E8A-4147-A177-3AD203B41FA5}">
                      <a16:colId xmlns:a16="http://schemas.microsoft.com/office/drawing/2014/main" val="2278694373"/>
                    </a:ext>
                  </a:extLst>
                </a:gridCol>
                <a:gridCol w="724658">
                  <a:extLst>
                    <a:ext uri="{9D8B030D-6E8A-4147-A177-3AD203B41FA5}">
                      <a16:colId xmlns:a16="http://schemas.microsoft.com/office/drawing/2014/main" val="4052696795"/>
                    </a:ext>
                  </a:extLst>
                </a:gridCol>
                <a:gridCol w="574468">
                  <a:extLst>
                    <a:ext uri="{9D8B030D-6E8A-4147-A177-3AD203B41FA5}">
                      <a16:colId xmlns:a16="http://schemas.microsoft.com/office/drawing/2014/main" val="373252798"/>
                    </a:ext>
                  </a:extLst>
                </a:gridCol>
                <a:gridCol w="661090">
                  <a:extLst>
                    <a:ext uri="{9D8B030D-6E8A-4147-A177-3AD203B41FA5}">
                      <a16:colId xmlns:a16="http://schemas.microsoft.com/office/drawing/2014/main" val="314012147"/>
                    </a:ext>
                  </a:extLst>
                </a:gridCol>
                <a:gridCol w="810412">
                  <a:extLst>
                    <a:ext uri="{9D8B030D-6E8A-4147-A177-3AD203B41FA5}">
                      <a16:colId xmlns:a16="http://schemas.microsoft.com/office/drawing/2014/main" val="2367019909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84380216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594318156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3512398872"/>
                    </a:ext>
                  </a:extLst>
                </a:gridCol>
                <a:gridCol w="560070">
                  <a:extLst>
                    <a:ext uri="{9D8B030D-6E8A-4147-A177-3AD203B41FA5}">
                      <a16:colId xmlns:a16="http://schemas.microsoft.com/office/drawing/2014/main" val="376073440"/>
                    </a:ext>
                  </a:extLst>
                </a:gridCol>
                <a:gridCol w="628650">
                  <a:extLst>
                    <a:ext uri="{9D8B030D-6E8A-4147-A177-3AD203B41FA5}">
                      <a16:colId xmlns:a16="http://schemas.microsoft.com/office/drawing/2014/main" val="2303693512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3175928868"/>
                    </a:ext>
                  </a:extLst>
                </a:gridCol>
                <a:gridCol w="556953">
                  <a:extLst>
                    <a:ext uri="{9D8B030D-6E8A-4147-A177-3AD203B41FA5}">
                      <a16:colId xmlns:a16="http://schemas.microsoft.com/office/drawing/2014/main" val="512467592"/>
                    </a:ext>
                  </a:extLst>
                </a:gridCol>
                <a:gridCol w="661937">
                  <a:extLst>
                    <a:ext uri="{9D8B030D-6E8A-4147-A177-3AD203B41FA5}">
                      <a16:colId xmlns:a16="http://schemas.microsoft.com/office/drawing/2014/main" val="3428546222"/>
                    </a:ext>
                  </a:extLst>
                </a:gridCol>
                <a:gridCol w="587050">
                  <a:extLst>
                    <a:ext uri="{9D8B030D-6E8A-4147-A177-3AD203B41FA5}">
                      <a16:colId xmlns:a16="http://schemas.microsoft.com/office/drawing/2014/main" val="719590270"/>
                    </a:ext>
                  </a:extLst>
                </a:gridCol>
                <a:gridCol w="522263">
                  <a:extLst>
                    <a:ext uri="{9D8B030D-6E8A-4147-A177-3AD203B41FA5}">
                      <a16:colId xmlns:a16="http://schemas.microsoft.com/office/drawing/2014/main" val="626231943"/>
                    </a:ext>
                  </a:extLst>
                </a:gridCol>
              </a:tblGrid>
              <a:tr h="1249529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ar-OM" sz="1600" b="1" kern="1200" dirty="0" smtClean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المسميات</a:t>
                      </a:r>
                      <a:r>
                        <a:rPr lang="ar-OM" sz="1600" b="1" kern="1200" baseline="0" dirty="0" smtClean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 الوظيفية </a:t>
                      </a:r>
                      <a:endParaRPr lang="en-US" sz="1600" b="1" kern="1200" dirty="0">
                        <a:solidFill>
                          <a:schemeClr val="tx1"/>
                        </a:solidFill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5272" marR="5272" marT="5272" marB="0" anchor="ctr">
                    <a:solidFill>
                      <a:srgbClr val="CCA86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+mj-cs"/>
                      </a:endParaRPr>
                    </a:p>
                  </a:txBody>
                  <a:tcPr marL="5272" marR="5272" marT="5272" marB="0" anchor="ctr"/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16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 إدارة وتطوير الخدمات</a:t>
                      </a:r>
                    </a:p>
                  </a:txBody>
                  <a:tcPr marL="5272" marR="5272" marT="5272" marB="0" anchor="ctr"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1600" b="1" kern="1200" dirty="0" smtClean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 </a:t>
                      </a:r>
                      <a:r>
                        <a:rPr lang="ar-OM" sz="16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البريمي</a:t>
                      </a:r>
                    </a:p>
                  </a:txBody>
                  <a:tcPr marL="5272" marR="5272" marT="5272" marB="0" anchor="ctr"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1600" b="1" kern="1200" dirty="0" smtClean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الداخلية</a:t>
                      </a:r>
                      <a:endParaRPr lang="ar-OM" sz="1600" b="1" kern="1200" dirty="0">
                        <a:solidFill>
                          <a:schemeClr val="tx1"/>
                        </a:solidFill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5272" marR="5272" marT="5272" marB="0" anchor="ctr"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1600" b="1" kern="1200" dirty="0" smtClean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الظاهرة</a:t>
                      </a:r>
                      <a:endParaRPr lang="ar-OM" sz="1600" b="1" kern="1200" dirty="0">
                        <a:solidFill>
                          <a:schemeClr val="tx1"/>
                        </a:solidFill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5272" marR="5272" marT="5272" marB="0" anchor="ctr"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1600" b="1" kern="1200" dirty="0" smtClean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جنوب </a:t>
                      </a:r>
                      <a:r>
                        <a:rPr lang="ar-OM" sz="16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الباطنة</a:t>
                      </a:r>
                    </a:p>
                  </a:txBody>
                  <a:tcPr marL="5272" marR="5272" marT="5272" marB="0" anchor="ctr"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1600" b="1" kern="1200" dirty="0" smtClean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جنوب </a:t>
                      </a:r>
                      <a:r>
                        <a:rPr lang="ar-OM" sz="16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الشرقية</a:t>
                      </a:r>
                    </a:p>
                  </a:txBody>
                  <a:tcPr marL="5272" marR="5272" marT="5272" marB="0" anchor="ctr"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1600" b="1" kern="1200" dirty="0" smtClean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شمال </a:t>
                      </a:r>
                      <a:r>
                        <a:rPr lang="ar-OM" sz="16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الباطنة</a:t>
                      </a:r>
                    </a:p>
                  </a:txBody>
                  <a:tcPr marL="5272" marR="5272" marT="5272" marB="0" anchor="ctr"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1600" b="1" kern="1200" dirty="0" smtClean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شمال </a:t>
                      </a:r>
                      <a:r>
                        <a:rPr lang="ar-OM" sz="16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الشرقية </a:t>
                      </a:r>
                    </a:p>
                  </a:txBody>
                  <a:tcPr marL="5272" marR="5272" marT="5272" marB="0" anchor="ctr"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1600" b="1" kern="1200" dirty="0" smtClean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ظفار</a:t>
                      </a:r>
                      <a:endParaRPr lang="ar-OM" sz="1600" b="1" kern="1200" dirty="0">
                        <a:solidFill>
                          <a:schemeClr val="tx1"/>
                        </a:solidFill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5272" marR="5272" marT="5272" marB="0" anchor="ctr"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1600" b="1" kern="1200" dirty="0" smtClean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مسقط</a:t>
                      </a:r>
                      <a:endParaRPr lang="ar-OM" sz="1600" b="1" kern="1200" dirty="0">
                        <a:solidFill>
                          <a:schemeClr val="tx1"/>
                        </a:solidFill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5272" marR="5272" marT="5272" marB="0" anchor="ctr"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1600" b="1" kern="1200" dirty="0" smtClean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مسندم</a:t>
                      </a:r>
                      <a:endParaRPr lang="ar-OM" sz="1600" b="1" kern="1200" dirty="0">
                        <a:solidFill>
                          <a:schemeClr val="tx1"/>
                        </a:solidFill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5272" marR="5272" marT="5272" marB="0" anchor="ctr"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1600" b="1" kern="1200" dirty="0" smtClean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الوسطى </a:t>
                      </a:r>
                      <a:endParaRPr lang="ar-OM" sz="1600" b="1" kern="1200" dirty="0">
                        <a:solidFill>
                          <a:schemeClr val="tx1"/>
                        </a:solidFill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5272" marR="5272" marT="5272" marB="0" anchor="ctr"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16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المديرية العامة لخدمات المتعاملين</a:t>
                      </a:r>
                    </a:p>
                  </a:txBody>
                  <a:tcPr marL="5272" marR="5272" marT="5272" marB="0" anchor="ctr"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ar-OM" sz="1600" b="1" kern="1200" dirty="0" smtClean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الإجمالي </a:t>
                      </a:r>
                      <a:endParaRPr lang="en-US" sz="1600" b="1" kern="1200" dirty="0">
                        <a:solidFill>
                          <a:schemeClr val="tx1"/>
                        </a:solidFill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5272" marR="5272" marT="5272" marB="0" anchor="ctr">
                    <a:solidFill>
                      <a:srgbClr val="F4F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2086912"/>
                  </a:ext>
                </a:extLst>
              </a:tr>
              <a:tr h="678278">
                <a:tc>
                  <a:txBody>
                    <a:bodyPr/>
                    <a:lstStyle/>
                    <a:p>
                      <a:pPr algn="ctr" rtl="1" fontAlgn="b"/>
                      <a:r>
                        <a:rPr lang="en-GB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cs typeface="+mj-cs"/>
                        </a:rPr>
                        <a:t>10</a:t>
                      </a:r>
                      <a:endParaRPr lang="ar-OM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+mj-cs"/>
                      </a:endParaRPr>
                    </a:p>
                  </a:txBody>
                  <a:tcPr marL="5272" marR="5272" marT="5272" marB="0" anchor="b">
                    <a:solidFill>
                      <a:srgbClr val="CCA86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ar-OM" sz="1800" b="1" kern="1200" dirty="0">
                          <a:solidFill>
                            <a:schemeClr val="bg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تنفيذي  شؤون الدوائر والمنافذ في المحافظات</a:t>
                      </a:r>
                    </a:p>
                  </a:txBody>
                  <a:tcPr marL="5272" marR="5272" marT="5272" marB="0" anchor="b">
                    <a:solidFill>
                      <a:srgbClr val="3A564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</a:t>
                      </a:r>
                    </a:p>
                  </a:txBody>
                  <a:tcPr marL="5272" marR="5272" marT="5272" marB="0" anchor="b"/>
                </a:tc>
                <a:extLst>
                  <a:ext uri="{0D108BD9-81ED-4DB2-BD59-A6C34878D82A}">
                    <a16:rowId xmlns:a16="http://schemas.microsoft.com/office/drawing/2014/main" val="439016860"/>
                  </a:ext>
                </a:extLst>
              </a:tr>
              <a:tr h="343791">
                <a:tc>
                  <a:txBody>
                    <a:bodyPr/>
                    <a:lstStyle/>
                    <a:p>
                      <a:pPr algn="ctr" rtl="1" fontAlgn="b"/>
                      <a:r>
                        <a:rPr lang="en-GB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cs typeface="+mj-cs"/>
                        </a:rPr>
                        <a:t>11</a:t>
                      </a:r>
                      <a:endParaRPr lang="ar-OM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+mj-cs"/>
                      </a:endParaRPr>
                    </a:p>
                  </a:txBody>
                  <a:tcPr marL="5272" marR="5272" marT="5272" marB="0" anchor="b">
                    <a:solidFill>
                      <a:srgbClr val="CCA86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ar-OM" sz="1800" b="1" kern="1200" dirty="0">
                          <a:solidFill>
                            <a:schemeClr val="bg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تنفيذي  مركز الخدمة الهاتفية</a:t>
                      </a:r>
                    </a:p>
                  </a:txBody>
                  <a:tcPr marL="5272" marR="5272" marT="5272" marB="0" anchor="b">
                    <a:solidFill>
                      <a:srgbClr val="3A564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</a:t>
                      </a:r>
                    </a:p>
                  </a:txBody>
                  <a:tcPr marL="5272" marR="5272" marT="5272" marB="0" anchor="b"/>
                </a:tc>
                <a:extLst>
                  <a:ext uri="{0D108BD9-81ED-4DB2-BD59-A6C34878D82A}">
                    <a16:rowId xmlns:a16="http://schemas.microsoft.com/office/drawing/2014/main" val="3975630099"/>
                  </a:ext>
                </a:extLst>
              </a:tr>
              <a:tr h="285314">
                <a:tc>
                  <a:txBody>
                    <a:bodyPr/>
                    <a:lstStyle/>
                    <a:p>
                      <a:pPr algn="ctr" rtl="1" fontAlgn="b"/>
                      <a:r>
                        <a:rPr lang="en-GB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cs typeface="+mj-cs"/>
                        </a:rPr>
                        <a:t>12</a:t>
                      </a:r>
                      <a:endParaRPr lang="ar-OM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+mj-cs"/>
                      </a:endParaRPr>
                    </a:p>
                  </a:txBody>
                  <a:tcPr marL="5272" marR="5272" marT="5272" marB="0" anchor="b">
                    <a:solidFill>
                      <a:srgbClr val="CCA86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ar-OM" sz="1800" b="1" kern="1200" dirty="0">
                          <a:solidFill>
                            <a:schemeClr val="bg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رئيس قسم</a:t>
                      </a:r>
                    </a:p>
                  </a:txBody>
                  <a:tcPr marL="5272" marR="5272" marT="5272" marB="0" anchor="b">
                    <a:solidFill>
                      <a:srgbClr val="3A564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2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12</a:t>
                      </a:r>
                    </a:p>
                  </a:txBody>
                  <a:tcPr marL="5272" marR="5272" marT="5272" marB="0" anchor="b"/>
                </a:tc>
                <a:extLst>
                  <a:ext uri="{0D108BD9-81ED-4DB2-BD59-A6C34878D82A}">
                    <a16:rowId xmlns:a16="http://schemas.microsoft.com/office/drawing/2014/main" val="2710497809"/>
                  </a:ext>
                </a:extLst>
              </a:tr>
              <a:tr h="337020">
                <a:tc>
                  <a:txBody>
                    <a:bodyPr/>
                    <a:lstStyle/>
                    <a:p>
                      <a:pPr algn="ctr" rtl="1" fontAlgn="b"/>
                      <a:r>
                        <a:rPr lang="en-GB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cs typeface="+mj-cs"/>
                        </a:rPr>
                        <a:t>13</a:t>
                      </a:r>
                      <a:endParaRPr lang="ar-OM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+mj-cs"/>
                      </a:endParaRPr>
                    </a:p>
                  </a:txBody>
                  <a:tcPr marL="5272" marR="5272" marT="5272" marB="0" anchor="b">
                    <a:solidFill>
                      <a:srgbClr val="CCA86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ar-OM" sz="1800" b="1" kern="1200" dirty="0">
                          <a:solidFill>
                            <a:schemeClr val="bg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رئيس قسم </a:t>
                      </a:r>
                    </a:p>
                  </a:txBody>
                  <a:tcPr marL="5272" marR="5272" marT="5272" marB="0" anchor="b">
                    <a:solidFill>
                      <a:srgbClr val="3A564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</a:t>
                      </a:r>
                    </a:p>
                  </a:txBody>
                  <a:tcPr marL="5272" marR="5272" marT="5272" marB="0" anchor="b"/>
                </a:tc>
                <a:extLst>
                  <a:ext uri="{0D108BD9-81ED-4DB2-BD59-A6C34878D82A}">
                    <a16:rowId xmlns:a16="http://schemas.microsoft.com/office/drawing/2014/main" val="1511300164"/>
                  </a:ext>
                </a:extLst>
              </a:tr>
              <a:tr h="346003">
                <a:tc>
                  <a:txBody>
                    <a:bodyPr/>
                    <a:lstStyle/>
                    <a:p>
                      <a:pPr algn="ctr" rtl="1" fontAlgn="b"/>
                      <a:r>
                        <a:rPr lang="en-GB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cs typeface="+mj-cs"/>
                        </a:rPr>
                        <a:t>14</a:t>
                      </a:r>
                      <a:endParaRPr lang="ar-OM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+mj-cs"/>
                      </a:endParaRPr>
                    </a:p>
                  </a:txBody>
                  <a:tcPr marL="5272" marR="5272" marT="5272" marB="0" anchor="b">
                    <a:solidFill>
                      <a:srgbClr val="CCA86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ar-OM" sz="1800" b="1" kern="1200" dirty="0">
                          <a:solidFill>
                            <a:schemeClr val="bg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سائق </a:t>
                      </a:r>
                    </a:p>
                  </a:txBody>
                  <a:tcPr marL="5272" marR="5272" marT="5272" marB="0" anchor="b">
                    <a:solidFill>
                      <a:srgbClr val="3A564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2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2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9</a:t>
                      </a:r>
                    </a:p>
                  </a:txBody>
                  <a:tcPr marL="5272" marR="5272" marT="5272" marB="0" anchor="b"/>
                </a:tc>
                <a:extLst>
                  <a:ext uri="{0D108BD9-81ED-4DB2-BD59-A6C34878D82A}">
                    <a16:rowId xmlns:a16="http://schemas.microsoft.com/office/drawing/2014/main" val="4028232589"/>
                  </a:ext>
                </a:extLst>
              </a:tr>
              <a:tr h="513244">
                <a:tc>
                  <a:txBody>
                    <a:bodyPr/>
                    <a:lstStyle/>
                    <a:p>
                      <a:pPr algn="ctr" rtl="1" fontAlgn="b"/>
                      <a:r>
                        <a:rPr lang="en-GB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cs typeface="+mj-cs"/>
                        </a:rPr>
                        <a:t>15</a:t>
                      </a:r>
                      <a:endParaRPr lang="ar-OM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+mj-cs"/>
                      </a:endParaRPr>
                    </a:p>
                  </a:txBody>
                  <a:tcPr marL="5272" marR="5272" marT="5272" marB="0" anchor="b">
                    <a:solidFill>
                      <a:srgbClr val="CCA86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ar-OM" sz="1800" b="1" kern="1200" dirty="0">
                          <a:solidFill>
                            <a:schemeClr val="bg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مدير دائرة إدارة وتطوير الخدمات</a:t>
                      </a:r>
                    </a:p>
                  </a:txBody>
                  <a:tcPr marL="5272" marR="5272" marT="5272" marB="0" anchor="b">
                    <a:solidFill>
                      <a:srgbClr val="3A564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</a:t>
                      </a:r>
                    </a:p>
                  </a:txBody>
                  <a:tcPr marL="5272" marR="5272" marT="5272" marB="0" anchor="b"/>
                </a:tc>
                <a:extLst>
                  <a:ext uri="{0D108BD9-81ED-4DB2-BD59-A6C34878D82A}">
                    <a16:rowId xmlns:a16="http://schemas.microsoft.com/office/drawing/2014/main" val="2929269568"/>
                  </a:ext>
                </a:extLst>
              </a:tr>
              <a:tr h="513244">
                <a:tc>
                  <a:txBody>
                    <a:bodyPr/>
                    <a:lstStyle/>
                    <a:p>
                      <a:pPr algn="ctr" rtl="1" fontAlgn="b"/>
                      <a:r>
                        <a:rPr lang="en-GB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cs typeface="+mj-cs"/>
                        </a:rPr>
                        <a:t>16</a:t>
                      </a:r>
                      <a:endParaRPr lang="ar-OM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+mj-cs"/>
                      </a:endParaRPr>
                    </a:p>
                  </a:txBody>
                  <a:tcPr marL="5272" marR="5272" marT="5272" marB="0" anchor="b">
                    <a:solidFill>
                      <a:srgbClr val="CCA86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ar-OM" sz="1800" b="1" kern="1200" dirty="0">
                          <a:solidFill>
                            <a:schemeClr val="bg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مدير دائرة الحماية </a:t>
                      </a:r>
                      <a:r>
                        <a:rPr lang="ar-OM" sz="1800" b="1" kern="1200" dirty="0" smtClean="0">
                          <a:solidFill>
                            <a:schemeClr val="bg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الاجتماعية </a:t>
                      </a:r>
                      <a:endParaRPr lang="ar-OM" sz="1800" b="1" kern="1200" dirty="0">
                        <a:solidFill>
                          <a:schemeClr val="bg1"/>
                        </a:solidFill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5272" marR="5272" marT="5272" marB="0" anchor="b">
                    <a:solidFill>
                      <a:srgbClr val="3A564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11</a:t>
                      </a:r>
                    </a:p>
                  </a:txBody>
                  <a:tcPr marL="5272" marR="5272" marT="5272" marB="0" anchor="b"/>
                </a:tc>
                <a:extLst>
                  <a:ext uri="{0D108BD9-81ED-4DB2-BD59-A6C34878D82A}">
                    <a16:rowId xmlns:a16="http://schemas.microsoft.com/office/drawing/2014/main" val="1510038633"/>
                  </a:ext>
                </a:extLst>
              </a:tr>
              <a:tr h="513244">
                <a:tc>
                  <a:txBody>
                    <a:bodyPr/>
                    <a:lstStyle/>
                    <a:p>
                      <a:pPr algn="ctr" rtl="1" fontAlgn="b"/>
                      <a:r>
                        <a:rPr lang="en-GB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cs typeface="+mj-cs"/>
                        </a:rPr>
                        <a:t>17</a:t>
                      </a:r>
                      <a:endParaRPr lang="ar-OM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+mj-cs"/>
                      </a:endParaRPr>
                    </a:p>
                  </a:txBody>
                  <a:tcPr marL="5272" marR="5272" marT="5272" marB="0" anchor="b">
                    <a:solidFill>
                      <a:srgbClr val="CCA86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ar-OM" sz="1800" b="1" kern="1200" dirty="0">
                          <a:solidFill>
                            <a:schemeClr val="bg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مدير عام خدمات المتعاملين</a:t>
                      </a:r>
                    </a:p>
                  </a:txBody>
                  <a:tcPr marL="5272" marR="5272" marT="5272" marB="0" anchor="b">
                    <a:solidFill>
                      <a:srgbClr val="3A564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</a:t>
                      </a:r>
                    </a:p>
                  </a:txBody>
                  <a:tcPr marL="5272" marR="5272" marT="5272" marB="0" anchor="b"/>
                </a:tc>
                <a:extLst>
                  <a:ext uri="{0D108BD9-81ED-4DB2-BD59-A6C34878D82A}">
                    <a16:rowId xmlns:a16="http://schemas.microsoft.com/office/drawing/2014/main" val="3542097428"/>
                  </a:ext>
                </a:extLst>
              </a:tr>
              <a:tr h="513244">
                <a:tc>
                  <a:txBody>
                    <a:bodyPr/>
                    <a:lstStyle/>
                    <a:p>
                      <a:pPr algn="ctr" rtl="1" fontAlgn="b"/>
                      <a:r>
                        <a:rPr lang="en-GB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cs typeface="+mj-cs"/>
                        </a:rPr>
                        <a:t>18</a:t>
                      </a:r>
                      <a:endParaRPr lang="ar-OM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+mj-cs"/>
                      </a:endParaRPr>
                    </a:p>
                  </a:txBody>
                  <a:tcPr marL="5272" marR="5272" marT="5272" marB="0" anchor="b">
                    <a:solidFill>
                      <a:srgbClr val="CCA86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ar-OM" sz="1800" b="1" kern="1200" dirty="0">
                          <a:solidFill>
                            <a:schemeClr val="bg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مساعد مفتش  خدمات المتعاملين</a:t>
                      </a:r>
                    </a:p>
                  </a:txBody>
                  <a:tcPr marL="5272" marR="5272" marT="5272" marB="0" anchor="b">
                    <a:solidFill>
                      <a:srgbClr val="3A564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</a:t>
                      </a:r>
                    </a:p>
                  </a:txBody>
                  <a:tcPr marL="5272" marR="5272" marT="5272" marB="0" anchor="b"/>
                </a:tc>
                <a:extLst>
                  <a:ext uri="{0D108BD9-81ED-4DB2-BD59-A6C34878D82A}">
                    <a16:rowId xmlns:a16="http://schemas.microsoft.com/office/drawing/2014/main" val="4136237748"/>
                  </a:ext>
                </a:extLst>
              </a:tr>
              <a:tr h="285314">
                <a:tc>
                  <a:txBody>
                    <a:bodyPr/>
                    <a:lstStyle/>
                    <a:p>
                      <a:pPr algn="ctr" rtl="1" fontAlgn="b"/>
                      <a:r>
                        <a:rPr lang="en-GB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cs typeface="+mj-cs"/>
                        </a:rPr>
                        <a:t>19</a:t>
                      </a:r>
                      <a:endParaRPr lang="ar-OM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+mj-cs"/>
                      </a:endParaRPr>
                    </a:p>
                  </a:txBody>
                  <a:tcPr marL="5272" marR="5272" marT="5272" marB="0" anchor="b">
                    <a:solidFill>
                      <a:srgbClr val="CCA86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ar-OM" sz="1800" b="1" kern="1200" dirty="0">
                          <a:solidFill>
                            <a:schemeClr val="bg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منسق </a:t>
                      </a:r>
                    </a:p>
                  </a:txBody>
                  <a:tcPr marL="5272" marR="5272" marT="5272" marB="0" anchor="b">
                    <a:solidFill>
                      <a:srgbClr val="3A564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</a:t>
                      </a:r>
                    </a:p>
                  </a:txBody>
                  <a:tcPr marL="5272" marR="5272" marT="5272" marB="0" anchor="b"/>
                </a:tc>
                <a:extLst>
                  <a:ext uri="{0D108BD9-81ED-4DB2-BD59-A6C34878D82A}">
                    <a16:rowId xmlns:a16="http://schemas.microsoft.com/office/drawing/2014/main" val="3335188311"/>
                  </a:ext>
                </a:extLst>
              </a:tr>
              <a:tr h="285314">
                <a:tc>
                  <a:txBody>
                    <a:bodyPr/>
                    <a:lstStyle/>
                    <a:p>
                      <a:pPr algn="ctr" rtl="1" fontAlgn="b"/>
                      <a:r>
                        <a:rPr lang="en-GB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cs typeface="+mj-cs"/>
                        </a:rPr>
                        <a:t>20</a:t>
                      </a:r>
                      <a:endParaRPr lang="ar-OM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+mj-cs"/>
                      </a:endParaRPr>
                    </a:p>
                  </a:txBody>
                  <a:tcPr marL="5272" marR="5272" marT="5272" marB="0" anchor="b">
                    <a:solidFill>
                      <a:srgbClr val="CCA86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ar-OM" sz="1800" b="1" kern="1200" dirty="0">
                          <a:solidFill>
                            <a:schemeClr val="bg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منسقة</a:t>
                      </a:r>
                    </a:p>
                  </a:txBody>
                  <a:tcPr marL="5272" marR="5272" marT="5272" marB="0" anchor="b">
                    <a:solidFill>
                      <a:srgbClr val="3A564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2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2</a:t>
                      </a:r>
                    </a:p>
                  </a:txBody>
                  <a:tcPr marL="5272" marR="5272" marT="5272" marB="0" anchor="b"/>
                </a:tc>
                <a:extLst>
                  <a:ext uri="{0D108BD9-81ED-4DB2-BD59-A6C34878D82A}">
                    <a16:rowId xmlns:a16="http://schemas.microsoft.com/office/drawing/2014/main" val="709193091"/>
                  </a:ext>
                </a:extLst>
              </a:tr>
              <a:tr h="341566">
                <a:tc gridSpan="2">
                  <a:txBody>
                    <a:bodyPr/>
                    <a:lstStyle/>
                    <a:p>
                      <a:pPr algn="ctr" rtl="0" fontAlgn="b"/>
                      <a:r>
                        <a:rPr lang="ar-OM" sz="2000" b="1" kern="1200" dirty="0" smtClean="0">
                          <a:solidFill>
                            <a:srgbClr val="3A564C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إجمالي عدد الموظفين </a:t>
                      </a:r>
                      <a:endParaRPr lang="en-US" sz="2000" b="1" kern="1200" dirty="0">
                        <a:solidFill>
                          <a:srgbClr val="3A564C"/>
                        </a:solidFill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5272" marR="5272" marT="5272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b"/>
                      <a:endParaRPr lang="en-US" sz="2000" b="1" kern="1200" dirty="0">
                        <a:solidFill>
                          <a:srgbClr val="3A564C"/>
                        </a:solidFill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5272" marR="5272" marT="5272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600" b="1" u="none" strike="noStrike" dirty="0">
                          <a:solidFill>
                            <a:srgbClr val="3A564C"/>
                          </a:solidFill>
                          <a:effectLst/>
                        </a:rPr>
                        <a:t>17</a:t>
                      </a:r>
                      <a:endParaRPr lang="en-US" sz="1600" b="1" i="0" u="none" strike="noStrike" dirty="0">
                        <a:solidFill>
                          <a:srgbClr val="3A564C"/>
                        </a:solidFill>
                        <a:effectLst/>
                        <a:latin typeface="+mn-lt"/>
                        <a:cs typeface="+mj-cs"/>
                      </a:endParaRPr>
                    </a:p>
                  </a:txBody>
                  <a:tcPr marL="5272" marR="5272" marT="5272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600" b="1" u="none" strike="noStrike" dirty="0">
                          <a:solidFill>
                            <a:srgbClr val="3A564C"/>
                          </a:solidFill>
                          <a:effectLst/>
                        </a:rPr>
                        <a:t>12</a:t>
                      </a:r>
                      <a:endParaRPr lang="en-US" sz="1600" b="1" i="0" u="none" strike="noStrike" dirty="0">
                        <a:solidFill>
                          <a:srgbClr val="3A564C"/>
                        </a:solidFill>
                        <a:effectLst/>
                        <a:latin typeface="+mn-lt"/>
                        <a:cs typeface="+mj-cs"/>
                      </a:endParaRPr>
                    </a:p>
                  </a:txBody>
                  <a:tcPr marL="5272" marR="5272" marT="5272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600" b="1" u="none" strike="noStrike" dirty="0">
                          <a:solidFill>
                            <a:srgbClr val="3A564C"/>
                          </a:solidFill>
                          <a:effectLst/>
                        </a:rPr>
                        <a:t>13</a:t>
                      </a:r>
                      <a:endParaRPr lang="en-US" sz="1600" b="1" i="0" u="none" strike="noStrike" dirty="0">
                        <a:solidFill>
                          <a:srgbClr val="3A564C"/>
                        </a:solidFill>
                        <a:effectLst/>
                        <a:latin typeface="+mn-lt"/>
                        <a:cs typeface="+mj-cs"/>
                      </a:endParaRPr>
                    </a:p>
                  </a:txBody>
                  <a:tcPr marL="5272" marR="5272" marT="5272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600" b="1" u="none" strike="noStrike" dirty="0">
                          <a:solidFill>
                            <a:srgbClr val="3A564C"/>
                          </a:solidFill>
                          <a:effectLst/>
                        </a:rPr>
                        <a:t>7</a:t>
                      </a:r>
                      <a:endParaRPr lang="en-US" sz="1600" b="1" i="0" u="none" strike="noStrike" dirty="0">
                        <a:solidFill>
                          <a:srgbClr val="3A564C"/>
                        </a:solidFill>
                        <a:effectLst/>
                        <a:latin typeface="+mn-lt"/>
                        <a:cs typeface="+mj-cs"/>
                      </a:endParaRPr>
                    </a:p>
                  </a:txBody>
                  <a:tcPr marL="5272" marR="5272" marT="5272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600" b="1" u="none" strike="noStrike" dirty="0">
                          <a:solidFill>
                            <a:srgbClr val="3A564C"/>
                          </a:solidFill>
                          <a:effectLst/>
                        </a:rPr>
                        <a:t>15</a:t>
                      </a:r>
                      <a:endParaRPr lang="en-US" sz="1600" b="1" i="0" u="none" strike="noStrike" dirty="0">
                        <a:solidFill>
                          <a:srgbClr val="3A564C"/>
                        </a:solidFill>
                        <a:effectLst/>
                        <a:latin typeface="+mn-lt"/>
                        <a:cs typeface="+mj-cs"/>
                      </a:endParaRPr>
                    </a:p>
                  </a:txBody>
                  <a:tcPr marL="5272" marR="5272" marT="5272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600" b="1" u="none" strike="noStrike" dirty="0">
                          <a:solidFill>
                            <a:srgbClr val="3A564C"/>
                          </a:solidFill>
                          <a:effectLst/>
                        </a:rPr>
                        <a:t>11</a:t>
                      </a:r>
                      <a:endParaRPr lang="en-US" sz="1600" b="1" i="0" u="none" strike="noStrike" dirty="0">
                        <a:solidFill>
                          <a:srgbClr val="3A564C"/>
                        </a:solidFill>
                        <a:effectLst/>
                        <a:latin typeface="+mn-lt"/>
                        <a:cs typeface="+mj-cs"/>
                      </a:endParaRPr>
                    </a:p>
                  </a:txBody>
                  <a:tcPr marL="5272" marR="5272" marT="5272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600" b="1" u="none" strike="noStrike" dirty="0" smtClean="0">
                          <a:solidFill>
                            <a:srgbClr val="3A564C"/>
                          </a:solidFill>
                          <a:effectLst/>
                        </a:rPr>
                        <a:t>2</a:t>
                      </a:r>
                      <a:r>
                        <a:rPr lang="ar-OM" sz="1600" b="1" u="none" strike="noStrike" dirty="0" smtClean="0">
                          <a:solidFill>
                            <a:srgbClr val="3A564C"/>
                          </a:solidFill>
                          <a:effectLst/>
                        </a:rPr>
                        <a:t>4</a:t>
                      </a:r>
                      <a:endParaRPr lang="en-US" sz="1600" b="1" i="0" u="none" strike="noStrike" dirty="0">
                        <a:solidFill>
                          <a:srgbClr val="3A564C"/>
                        </a:solidFill>
                        <a:effectLst/>
                        <a:latin typeface="+mn-lt"/>
                        <a:cs typeface="+mj-cs"/>
                      </a:endParaRPr>
                    </a:p>
                  </a:txBody>
                  <a:tcPr marL="5272" marR="5272" marT="5272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600" b="1" u="none" strike="noStrike" dirty="0">
                          <a:solidFill>
                            <a:srgbClr val="3A564C"/>
                          </a:solidFill>
                          <a:effectLst/>
                        </a:rPr>
                        <a:t>12</a:t>
                      </a:r>
                      <a:endParaRPr lang="en-US" sz="1600" b="1" i="0" u="none" strike="noStrike" dirty="0">
                        <a:solidFill>
                          <a:srgbClr val="3A564C"/>
                        </a:solidFill>
                        <a:effectLst/>
                        <a:latin typeface="+mn-lt"/>
                        <a:cs typeface="+mj-cs"/>
                      </a:endParaRPr>
                    </a:p>
                  </a:txBody>
                  <a:tcPr marL="5272" marR="5272" marT="5272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600" b="1" u="none" strike="noStrike" dirty="0">
                          <a:solidFill>
                            <a:srgbClr val="3A564C"/>
                          </a:solidFill>
                          <a:effectLst/>
                        </a:rPr>
                        <a:t>19</a:t>
                      </a:r>
                      <a:endParaRPr lang="en-US" sz="1600" b="1" i="0" u="none" strike="noStrike" dirty="0">
                        <a:solidFill>
                          <a:srgbClr val="3A564C"/>
                        </a:solidFill>
                        <a:effectLst/>
                        <a:latin typeface="+mn-lt"/>
                        <a:cs typeface="+mj-cs"/>
                      </a:endParaRPr>
                    </a:p>
                  </a:txBody>
                  <a:tcPr marL="5272" marR="5272" marT="5272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600" b="1" u="none" strike="noStrike" dirty="0">
                          <a:solidFill>
                            <a:srgbClr val="3A564C"/>
                          </a:solidFill>
                          <a:effectLst/>
                        </a:rPr>
                        <a:t>23</a:t>
                      </a:r>
                      <a:endParaRPr lang="en-US" sz="1600" b="1" i="0" u="none" strike="noStrike" dirty="0">
                        <a:solidFill>
                          <a:srgbClr val="3A564C"/>
                        </a:solidFill>
                        <a:effectLst/>
                        <a:latin typeface="+mn-lt"/>
                        <a:cs typeface="+mj-cs"/>
                      </a:endParaRPr>
                    </a:p>
                  </a:txBody>
                  <a:tcPr marL="5272" marR="5272" marT="5272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ar-OM" sz="1600" b="1" u="none" strike="noStrike" dirty="0" smtClean="0">
                          <a:solidFill>
                            <a:srgbClr val="3A564C"/>
                          </a:solidFill>
                          <a:effectLst/>
                        </a:rPr>
                        <a:t>7</a:t>
                      </a:r>
                      <a:endParaRPr lang="en-US" sz="1600" b="1" i="0" u="none" strike="noStrike" dirty="0">
                        <a:solidFill>
                          <a:srgbClr val="3A564C"/>
                        </a:solidFill>
                        <a:effectLst/>
                        <a:latin typeface="+mn-lt"/>
                        <a:cs typeface="+mj-cs"/>
                      </a:endParaRPr>
                    </a:p>
                  </a:txBody>
                  <a:tcPr marL="5272" marR="5272" marT="5272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ar-OM" sz="1600" b="1" u="none" strike="noStrike" dirty="0" smtClean="0">
                          <a:solidFill>
                            <a:srgbClr val="3A564C"/>
                          </a:solidFill>
                          <a:effectLst/>
                        </a:rPr>
                        <a:t>4</a:t>
                      </a:r>
                      <a:endParaRPr lang="en-US" sz="1600" b="1" i="0" u="none" strike="noStrike" dirty="0">
                        <a:solidFill>
                          <a:srgbClr val="3A564C"/>
                        </a:solidFill>
                        <a:effectLst/>
                        <a:latin typeface="+mn-lt"/>
                        <a:cs typeface="+mj-cs"/>
                      </a:endParaRPr>
                    </a:p>
                  </a:txBody>
                  <a:tcPr marL="5272" marR="5272" marT="5272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600" b="1" u="none" strike="noStrike" dirty="0">
                          <a:solidFill>
                            <a:srgbClr val="3A564C"/>
                          </a:solidFill>
                          <a:effectLst/>
                        </a:rPr>
                        <a:t>1</a:t>
                      </a:r>
                      <a:endParaRPr lang="en-US" sz="1600" b="1" i="0" u="none" strike="noStrike" dirty="0">
                        <a:solidFill>
                          <a:srgbClr val="3A564C"/>
                        </a:solidFill>
                        <a:effectLst/>
                        <a:latin typeface="+mn-lt"/>
                        <a:cs typeface="+mj-cs"/>
                      </a:endParaRPr>
                    </a:p>
                  </a:txBody>
                  <a:tcPr marL="5272" marR="5272" marT="5272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600" b="1" u="none" strike="noStrike" dirty="0">
                          <a:solidFill>
                            <a:srgbClr val="3A564C"/>
                          </a:solidFill>
                          <a:effectLst/>
                        </a:rPr>
                        <a:t>157</a:t>
                      </a:r>
                      <a:endParaRPr lang="en-US" sz="1600" b="1" i="0" u="none" strike="noStrike" dirty="0">
                        <a:solidFill>
                          <a:srgbClr val="3A564C"/>
                        </a:solidFill>
                        <a:effectLst/>
                        <a:latin typeface="+mn-lt"/>
                        <a:cs typeface="+mj-cs"/>
                      </a:endParaRPr>
                    </a:p>
                  </a:txBody>
                  <a:tcPr marL="5272" marR="5272" marT="5272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47440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2494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4F1C4B0-6D2A-BD55-6F9E-B76F09E2FA58}"/>
              </a:ext>
            </a:extLst>
          </p:cNvPr>
          <p:cNvSpPr txBox="1"/>
          <p:nvPr/>
        </p:nvSpPr>
        <p:spPr>
          <a:xfrm>
            <a:off x="3560683" y="261753"/>
            <a:ext cx="6314736" cy="492443"/>
          </a:xfrm>
          <a:prstGeom prst="rect">
            <a:avLst/>
          </a:prstGeom>
          <a:noFill/>
          <a:effectLst/>
        </p:spPr>
        <p:txBody>
          <a:bodyPr wrap="square" lIns="0" tIns="0" rIns="0" bIns="0" rtlCol="0">
            <a:spAutoFit/>
          </a:bodyPr>
          <a:lstStyle/>
          <a:p>
            <a:r>
              <a:rPr lang="ar-OM" sz="3200" b="1" dirty="0" smtClean="0">
                <a:solidFill>
                  <a:srgbClr val="C48F22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أهم المؤشرات الإحصائيات على مستوى المديريه  </a:t>
            </a:r>
            <a:endParaRPr lang="en-US" sz="3200" b="1" dirty="0">
              <a:solidFill>
                <a:srgbClr val="C48F22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4024647" y="1531076"/>
            <a:ext cx="2358326" cy="1900845"/>
            <a:chOff x="1368125" y="1334911"/>
            <a:chExt cx="2358326" cy="1900845"/>
          </a:xfrm>
        </p:grpSpPr>
        <p:sp>
          <p:nvSpPr>
            <p:cNvPr id="4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1368125" y="1334911"/>
              <a:ext cx="2358326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>
                <a:solidFill>
                  <a:srgbClr val="DCD084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  <p:sp>
          <p:nvSpPr>
            <p:cNvPr id="5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1368125" y="2518030"/>
              <a:ext cx="2351437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إجمالي </a:t>
              </a:r>
              <a:r>
                <a:rPr lang="ar-OM" sz="2000" b="1" dirty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الخدمات الميدانية </a:t>
              </a:r>
              <a:endParaRPr lang="en-US" sz="20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6743466" y="1531076"/>
            <a:ext cx="2341531" cy="1900845"/>
            <a:chOff x="935333" y="1334911"/>
            <a:chExt cx="2341531" cy="1900845"/>
          </a:xfrm>
        </p:grpSpPr>
        <p:sp>
          <p:nvSpPr>
            <p:cNvPr id="7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341531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b="1" dirty="0" smtClean="0">
                  <a:solidFill>
                    <a:srgbClr val="C48F22"/>
                  </a:solidFill>
                </a:rPr>
                <a:t>179</a:t>
              </a:r>
              <a:endParaRPr lang="en-US" sz="4400" b="1" dirty="0">
                <a:solidFill>
                  <a:srgbClr val="DCD084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  <p:sp>
          <p:nvSpPr>
            <p:cNvPr id="8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334642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المجموع الكلي للأنشطة</a:t>
              </a:r>
              <a:r>
                <a:rPr lang="ar-OM" b="1" dirty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 </a:t>
              </a:r>
              <a:r>
                <a:rPr lang="ar-OM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الإعلامية</a:t>
              </a:r>
              <a:endParaRPr lang="en-US" sz="14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9459267" y="1531076"/>
            <a:ext cx="2348420" cy="1900845"/>
            <a:chOff x="935333" y="1334911"/>
            <a:chExt cx="2348420" cy="1900845"/>
          </a:xfrm>
        </p:grpSpPr>
        <p:sp>
          <p:nvSpPr>
            <p:cNvPr id="10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348420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b="1" dirty="0" smtClean="0">
                  <a:solidFill>
                    <a:srgbClr val="C48F22"/>
                  </a:solidFill>
                  <a:latin typeface="+mj-lt"/>
                </a:rPr>
                <a:t>61</a:t>
              </a:r>
              <a:r>
                <a:rPr lang="ar-OM" sz="4400" b="1" dirty="0">
                  <a:solidFill>
                    <a:srgbClr val="C48F22"/>
                  </a:solidFill>
                  <a:latin typeface="+mj-lt"/>
                </a:rPr>
                <a:t>,</a:t>
              </a:r>
              <a:r>
                <a:rPr lang="en-US" sz="4400" b="1" dirty="0" smtClean="0">
                  <a:solidFill>
                    <a:srgbClr val="C48F22"/>
                  </a:solidFill>
                  <a:latin typeface="+mj-lt"/>
                </a:rPr>
                <a:t>415</a:t>
              </a:r>
              <a:endParaRPr lang="en-US" sz="4400" b="1" dirty="0">
                <a:solidFill>
                  <a:srgbClr val="C48F22"/>
                </a:solidFill>
                <a:latin typeface="+mj-lt"/>
              </a:endParaRPr>
            </a:p>
          </p:txBody>
        </p:sp>
        <p:sp>
          <p:nvSpPr>
            <p:cNvPr id="11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341531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إجمالي حجم المعاملات </a:t>
              </a:r>
              <a:endParaRPr lang="en-US" sz="20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4024647" y="4053552"/>
            <a:ext cx="2358326" cy="1900845"/>
            <a:chOff x="935333" y="1334911"/>
            <a:chExt cx="2358326" cy="1900845"/>
          </a:xfrm>
        </p:grpSpPr>
        <p:sp>
          <p:nvSpPr>
            <p:cNvPr id="13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358326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b="1" dirty="0" smtClean="0">
                  <a:solidFill>
                    <a:srgbClr val="C48F22"/>
                  </a:solidFill>
                  <a:latin typeface="+mj-lt"/>
                </a:rPr>
                <a:t>1</a:t>
              </a:r>
              <a:r>
                <a:rPr lang="ar-OM" sz="4400" b="1" dirty="0" smtClean="0">
                  <a:solidFill>
                    <a:srgbClr val="C48F22"/>
                  </a:solidFill>
                  <a:latin typeface="+mj-lt"/>
                </a:rPr>
                <a:t>,</a:t>
              </a:r>
              <a:r>
                <a:rPr lang="en-US" sz="4400" b="1" dirty="0" smtClean="0">
                  <a:solidFill>
                    <a:srgbClr val="C48F22"/>
                  </a:solidFill>
                  <a:latin typeface="+mj-lt"/>
                </a:rPr>
                <a:t>388</a:t>
              </a:r>
              <a:endParaRPr lang="en-US" sz="4400" b="1" dirty="0">
                <a:solidFill>
                  <a:srgbClr val="DCD084"/>
                </a:solidFill>
                <a:latin typeface="+mj-lt"/>
                <a:cs typeface="Microsoft Uighur" panose="02000000000000000000" pitchFamily="2" charset="-78"/>
              </a:endParaRPr>
            </a:p>
          </p:txBody>
        </p:sp>
        <p:sp>
          <p:nvSpPr>
            <p:cNvPr id="14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344548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المجموع الكلي للخدمات الاستباقية </a:t>
              </a:r>
              <a:endParaRPr lang="en-US" sz="20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9392103" y="4109968"/>
            <a:ext cx="2415584" cy="1900845"/>
            <a:chOff x="935333" y="1334911"/>
            <a:chExt cx="2415584" cy="1900845"/>
          </a:xfrm>
        </p:grpSpPr>
        <p:sp>
          <p:nvSpPr>
            <p:cNvPr id="16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415584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b="1" dirty="0" smtClean="0">
                  <a:solidFill>
                    <a:srgbClr val="C48F22"/>
                  </a:solidFill>
                </a:rPr>
                <a:t>58,948</a:t>
              </a:r>
              <a:endParaRPr lang="en-US" sz="4400" b="1" dirty="0">
                <a:solidFill>
                  <a:srgbClr val="DCD084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  <p:sp>
          <p:nvSpPr>
            <p:cNvPr id="17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408695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المجموع الكلي لطلبات حجز المواعيد </a:t>
              </a:r>
              <a:endParaRPr lang="fr-FR" sz="20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6718051" y="4053552"/>
            <a:ext cx="2366946" cy="1900845"/>
            <a:chOff x="935333" y="1334911"/>
            <a:chExt cx="2366946" cy="1900845"/>
          </a:xfrm>
        </p:grpSpPr>
        <p:sp>
          <p:nvSpPr>
            <p:cNvPr id="19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366946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4400" b="1" dirty="0" smtClean="0">
                  <a:solidFill>
                    <a:srgbClr val="C48F22"/>
                  </a:solidFill>
                </a:rPr>
                <a:t>22,282</a:t>
              </a:r>
              <a:endParaRPr lang="en-US" sz="4400" b="1" dirty="0">
                <a:solidFill>
                  <a:srgbClr val="C48F22"/>
                </a:solidFill>
              </a:endParaRPr>
            </a:p>
          </p:txBody>
        </p:sp>
        <p:sp>
          <p:nvSpPr>
            <p:cNvPr id="20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360057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المجموع </a:t>
              </a:r>
              <a:r>
                <a:rPr lang="ar-OM" sz="2000" b="1" dirty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الكلي للخدمات </a:t>
              </a:r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الذاتية</a:t>
              </a:r>
              <a:endParaRPr lang="en-US" sz="20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sp>
        <p:nvSpPr>
          <p:cNvPr id="21" name="Rectangle 20"/>
          <p:cNvSpPr/>
          <p:nvPr/>
        </p:nvSpPr>
        <p:spPr>
          <a:xfrm>
            <a:off x="4362294" y="1715620"/>
            <a:ext cx="147187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4400" b="1" dirty="0" smtClean="0">
                <a:solidFill>
                  <a:srgbClr val="C48F22"/>
                </a:solidFill>
              </a:rPr>
              <a:t>7,649</a:t>
            </a:r>
            <a:endParaRPr lang="en-US" sz="4400" b="1" dirty="0">
              <a:solidFill>
                <a:srgbClr val="DCD084"/>
              </a:solidFill>
              <a:latin typeface="Century Gothic" panose="020B0502020202020204" pitchFamily="34" charset="0"/>
              <a:cs typeface="Microsoft Uighur" panose="02000000000000000000" pitchFamily="2" charset="-78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E96DFE5-67FE-5396-69D0-1988537D7F87}"/>
              </a:ext>
            </a:extLst>
          </p:cNvPr>
          <p:cNvCxnSpPr>
            <a:cxnSpLocks/>
          </p:cNvCxnSpPr>
          <p:nvPr/>
        </p:nvCxnSpPr>
        <p:spPr>
          <a:xfrm>
            <a:off x="1630794" y="883384"/>
            <a:ext cx="8406088" cy="0"/>
          </a:xfrm>
          <a:prstGeom prst="line">
            <a:avLst/>
          </a:prstGeom>
          <a:ln>
            <a:solidFill>
              <a:srgbClr val="C48F22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8461D46E-147C-49AA-1082-D50B53FFCC23}"/>
              </a:ext>
            </a:extLst>
          </p:cNvPr>
          <p:cNvSpPr/>
          <p:nvPr/>
        </p:nvSpPr>
        <p:spPr>
          <a:xfrm>
            <a:off x="511861" y="1544567"/>
            <a:ext cx="3218145" cy="4352859"/>
          </a:xfrm>
          <a:prstGeom prst="rect">
            <a:avLst/>
          </a:prstGeom>
          <a:solidFill>
            <a:srgbClr val="D8CFCE"/>
          </a:solidFill>
          <a:ln>
            <a:noFill/>
          </a:ln>
          <a:effectLst>
            <a:outerShdw blurRad="254000" sx="105000" sy="105000" algn="ctr" rotWithShape="0">
              <a:schemeClr val="tx1">
                <a:lumMod val="85000"/>
                <a:lumOff val="1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4" name="Group 23"/>
          <p:cNvGrpSpPr/>
          <p:nvPr/>
        </p:nvGrpSpPr>
        <p:grpSpPr>
          <a:xfrm>
            <a:off x="1128744" y="1936460"/>
            <a:ext cx="1885453" cy="1592701"/>
            <a:chOff x="4886199" y="3484559"/>
            <a:chExt cx="2891030" cy="2442142"/>
          </a:xfrm>
        </p:grpSpPr>
        <p:sp>
          <p:nvSpPr>
            <p:cNvPr id="25" name="Rectangle 24"/>
            <p:cNvSpPr/>
            <p:nvPr/>
          </p:nvSpPr>
          <p:spPr>
            <a:xfrm>
              <a:off x="5215208" y="4677085"/>
              <a:ext cx="2218267" cy="12496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ar-OM" sz="2348" b="1" dirty="0">
                  <a:solidFill>
                    <a:srgbClr val="013631"/>
                  </a:solidFill>
                  <a:latin typeface="Microsoft Uighur" panose="02000000000000000000" pitchFamily="2" charset="-78"/>
                  <a:cs typeface="Microsoft Uighur" panose="02000000000000000000" pitchFamily="2" charset="-78"/>
                </a:rPr>
                <a:t>إجمالي حجم الأعمال المنجزة </a:t>
              </a:r>
              <a:endParaRPr lang="ar-OM" sz="1044" b="1" dirty="0">
                <a:solidFill>
                  <a:srgbClr val="013631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endParaRP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4886199" y="3484559"/>
              <a:ext cx="2891030" cy="108542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4000" b="1" dirty="0" smtClean="0">
                  <a:solidFill>
                    <a:srgbClr val="760000"/>
                  </a:solidFill>
                </a:rPr>
                <a:t>151</a:t>
              </a:r>
              <a:r>
                <a:rPr lang="ar-OM" sz="4000" b="1" dirty="0" smtClean="0">
                  <a:solidFill>
                    <a:srgbClr val="760000"/>
                  </a:solidFill>
                </a:rPr>
                <a:t>,</a:t>
              </a:r>
              <a:r>
                <a:rPr lang="en-US" sz="4000" b="1" dirty="0" smtClean="0">
                  <a:solidFill>
                    <a:srgbClr val="760000"/>
                  </a:solidFill>
                </a:rPr>
                <a:t>861</a:t>
              </a:r>
              <a:endParaRPr lang="en-US" sz="4400" b="1" dirty="0">
                <a:solidFill>
                  <a:srgbClr val="760000"/>
                </a:solidFill>
              </a:endParaRPr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7C23099B-6F7C-4BBD-9F4E-A5126796931E}"/>
              </a:ext>
            </a:extLst>
          </p:cNvPr>
          <p:cNvSpPr/>
          <p:nvPr/>
        </p:nvSpPr>
        <p:spPr>
          <a:xfrm>
            <a:off x="521521" y="3980549"/>
            <a:ext cx="3208485" cy="810097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ar-OM" sz="2200" b="1" dirty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المشاركة </a:t>
            </a:r>
            <a:r>
              <a:rPr lang="ar-OM" sz="2200" b="1" dirty="0" smtClean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في 18 </a:t>
            </a:r>
            <a:r>
              <a:rPr lang="ar-OM" sz="2200" b="1" dirty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مبادرة تشغيلية</a:t>
            </a:r>
            <a:endParaRPr lang="en-US" sz="2200" b="1" dirty="0">
              <a:solidFill>
                <a:srgbClr val="760000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C23099B-6F7C-4BBD-9F4E-A5126796931E}"/>
              </a:ext>
            </a:extLst>
          </p:cNvPr>
          <p:cNvSpPr/>
          <p:nvPr/>
        </p:nvSpPr>
        <p:spPr>
          <a:xfrm>
            <a:off x="521521" y="4790646"/>
            <a:ext cx="3208485" cy="740249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ar-OM" sz="3200" b="1" dirty="0" smtClean="0">
                <a:solidFill>
                  <a:srgbClr val="FF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157</a:t>
            </a:r>
            <a:r>
              <a:rPr lang="ar-OM" sz="2200" b="1" dirty="0" smtClean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 موظف</a:t>
            </a:r>
            <a:endParaRPr lang="en-US" sz="2200" b="1" dirty="0">
              <a:solidFill>
                <a:srgbClr val="760000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sp>
        <p:nvSpPr>
          <p:cNvPr id="29" name="Octagon 28">
            <a:extLst>
              <a:ext uri="{FF2B5EF4-FFF2-40B4-BE49-F238E27FC236}">
                <a16:creationId xmlns:a16="http://schemas.microsoft.com/office/drawing/2014/main" id="{8F86244E-E4BF-5A5A-2854-9EE6B1A483EE}"/>
              </a:ext>
            </a:extLst>
          </p:cNvPr>
          <p:cNvSpPr/>
          <p:nvPr/>
        </p:nvSpPr>
        <p:spPr>
          <a:xfrm>
            <a:off x="11766110" y="6358527"/>
            <a:ext cx="268357" cy="268357"/>
          </a:xfrm>
          <a:prstGeom prst="octagon">
            <a:avLst/>
          </a:prstGeom>
          <a:solidFill>
            <a:srgbClr val="CCA862"/>
          </a:solidFill>
          <a:ln>
            <a:noFill/>
          </a:ln>
          <a:effectLst>
            <a:outerShdw blurRad="127000" dist="635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109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560D64F-6F4F-EAF0-BAB7-5E47E078B92D}"/>
              </a:ext>
            </a:extLst>
          </p:cNvPr>
          <p:cNvCxnSpPr>
            <a:cxnSpLocks/>
          </p:cNvCxnSpPr>
          <p:nvPr/>
        </p:nvCxnSpPr>
        <p:spPr>
          <a:xfrm flipH="1">
            <a:off x="3201701" y="1290372"/>
            <a:ext cx="5791200" cy="0"/>
          </a:xfrm>
          <a:prstGeom prst="line">
            <a:avLst/>
          </a:prstGeom>
          <a:ln>
            <a:solidFill>
              <a:srgbClr val="C48F22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8461D46E-147C-49AA-1082-D50B53FFCC23}"/>
              </a:ext>
            </a:extLst>
          </p:cNvPr>
          <p:cNvSpPr/>
          <p:nvPr/>
        </p:nvSpPr>
        <p:spPr>
          <a:xfrm>
            <a:off x="457646" y="1531076"/>
            <a:ext cx="3218145" cy="4352859"/>
          </a:xfrm>
          <a:prstGeom prst="rect">
            <a:avLst/>
          </a:prstGeom>
          <a:solidFill>
            <a:srgbClr val="D8CFCE"/>
          </a:solidFill>
          <a:ln>
            <a:noFill/>
          </a:ln>
          <a:effectLst>
            <a:outerShdw blurRad="254000" sx="105000" sy="105000" algn="ctr" rotWithShape="0">
              <a:schemeClr val="tx1">
                <a:lumMod val="85000"/>
                <a:lumOff val="1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4024647" y="4053552"/>
            <a:ext cx="2358326" cy="1900845"/>
            <a:chOff x="935333" y="1334911"/>
            <a:chExt cx="2358326" cy="1900845"/>
          </a:xfrm>
        </p:grpSpPr>
        <p:sp>
          <p:nvSpPr>
            <p:cNvPr id="5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358326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4400" b="1" dirty="0" smtClean="0">
                  <a:solidFill>
                    <a:srgbClr val="C48F22"/>
                  </a:solidFill>
                  <a:cs typeface="Arial" panose="020B0604020202020204" pitchFamily="34" charset="0"/>
                </a:rPr>
                <a:t>54</a:t>
              </a:r>
              <a:r>
                <a:rPr lang="en-US" sz="4400" b="1" dirty="0" smtClean="0">
                  <a:solidFill>
                    <a:srgbClr val="C48F22"/>
                  </a:solidFill>
                  <a:cs typeface="Arial" panose="020B0604020202020204" pitchFamily="34" charset="0"/>
                </a:rPr>
                <a:t>%</a:t>
              </a:r>
              <a:endParaRPr lang="en-US" sz="4400" b="1" dirty="0">
                <a:solidFill>
                  <a:srgbClr val="DCD084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6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344548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cs typeface="Microsoft Uighur" panose="02000000000000000000" pitchFamily="2" charset="-78"/>
                </a:rPr>
                <a:t>متوسط مستوى الخدمة </a:t>
              </a:r>
              <a:endParaRPr lang="en-US" sz="2000" b="1" dirty="0">
                <a:solidFill>
                  <a:schemeClr val="bg1"/>
                </a:solidFill>
                <a:cs typeface="Microsoft Uighur" panose="02000000000000000000" pitchFamily="2" charset="-78"/>
              </a:endParaRPr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9392103" y="4109968"/>
            <a:ext cx="2415584" cy="1900845"/>
            <a:chOff x="935333" y="1334911"/>
            <a:chExt cx="2415584" cy="1900845"/>
          </a:xfrm>
        </p:grpSpPr>
        <p:sp>
          <p:nvSpPr>
            <p:cNvPr id="8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415584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b="1" dirty="0" smtClean="0">
                  <a:solidFill>
                    <a:srgbClr val="C48F22"/>
                  </a:solidFill>
                </a:rPr>
                <a:t> </a:t>
              </a:r>
              <a:r>
                <a:rPr lang="ar-OM" sz="4000" b="1" dirty="0" smtClean="0">
                  <a:solidFill>
                    <a:srgbClr val="C48F22"/>
                  </a:solidFill>
                </a:rPr>
                <a:t>899</a:t>
              </a:r>
              <a:endParaRPr lang="en-US" sz="4000" b="1" dirty="0">
                <a:solidFill>
                  <a:srgbClr val="C48F22"/>
                </a:solidFill>
                <a:cs typeface="Microsoft Uighur" panose="02000000000000000000" pitchFamily="2" charset="-78"/>
              </a:endParaRPr>
            </a:p>
          </p:txBody>
        </p:sp>
        <p:sp>
          <p:nvSpPr>
            <p:cNvPr id="9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408695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cs typeface="Microsoft Uighur" panose="02000000000000000000" pitchFamily="2" charset="-78"/>
                </a:rPr>
                <a:t>معدل المكالمات يومياً</a:t>
              </a:r>
              <a:endParaRPr lang="fr-FR" sz="2000" b="1" dirty="0">
                <a:solidFill>
                  <a:schemeClr val="bg1"/>
                </a:solidFill>
                <a:cs typeface="Microsoft Uighur" panose="02000000000000000000" pitchFamily="2" charset="-78"/>
              </a:endParaRP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6718051" y="4053552"/>
            <a:ext cx="2366946" cy="1900845"/>
            <a:chOff x="935333" y="1334911"/>
            <a:chExt cx="2366946" cy="1900845"/>
          </a:xfrm>
        </p:grpSpPr>
        <p:sp>
          <p:nvSpPr>
            <p:cNvPr id="11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366946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4800" b="1" dirty="0" smtClean="0">
                  <a:solidFill>
                    <a:srgbClr val="C48F22"/>
                  </a:solidFill>
                  <a:cs typeface="Arial" panose="020B0604020202020204" pitchFamily="34" charset="0"/>
                </a:rPr>
                <a:t>81</a:t>
              </a:r>
              <a:r>
                <a:rPr lang="en-US" sz="4400" b="1" dirty="0" smtClean="0">
                  <a:solidFill>
                    <a:srgbClr val="C48F22"/>
                  </a:solidFill>
                  <a:cs typeface="Arial" panose="020B0604020202020204" pitchFamily="34" charset="0"/>
                </a:rPr>
                <a:t>%</a:t>
              </a:r>
              <a:endParaRPr lang="en-US" sz="4400" b="1" dirty="0">
                <a:solidFill>
                  <a:srgbClr val="DCD084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2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360057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cs typeface="Microsoft Uighur" panose="02000000000000000000" pitchFamily="2" charset="-78"/>
                </a:rPr>
                <a:t>متوسط معدل الاستجابة</a:t>
              </a:r>
              <a:endParaRPr lang="en-US" sz="2000" b="1" dirty="0">
                <a:solidFill>
                  <a:schemeClr val="bg1"/>
                </a:solidFill>
                <a:cs typeface="Microsoft Uighur" panose="02000000000000000000" pitchFamily="2" charset="-78"/>
              </a:endParaRPr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7C23099B-6F7C-4BBD-9F4E-A5126796931E}"/>
              </a:ext>
            </a:extLst>
          </p:cNvPr>
          <p:cNvSpPr/>
          <p:nvPr/>
        </p:nvSpPr>
        <p:spPr>
          <a:xfrm>
            <a:off x="457646" y="4730215"/>
            <a:ext cx="3199208" cy="1280598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ar-OM" sz="2200" b="1" dirty="0" smtClean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19 </a:t>
            </a:r>
            <a:r>
              <a:rPr lang="ar-OM" sz="2200" b="1" dirty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موظف- بمعدل </a:t>
            </a:r>
            <a:r>
              <a:rPr lang="ar-OM" sz="2200" b="1" dirty="0" smtClean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48 </a:t>
            </a:r>
            <a:r>
              <a:rPr lang="ar-OM" sz="2200" b="1" dirty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مكالمه يوميا لكل موظف  </a:t>
            </a:r>
            <a:endParaRPr lang="en-GB" sz="2200" b="1" dirty="0">
              <a:solidFill>
                <a:srgbClr val="760000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  <a:p>
            <a:pPr algn="ctr" rtl="1"/>
            <a:r>
              <a:rPr lang="ar-OM" sz="2200" b="1" dirty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المشاركة في </a:t>
            </a:r>
            <a:r>
              <a:rPr lang="en-GB" sz="2200" b="1" dirty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14 </a:t>
            </a:r>
            <a:r>
              <a:rPr lang="ar-OM" sz="2200" b="1" dirty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 مبادرات تشغيلية</a:t>
            </a:r>
            <a:endParaRPr lang="en-US" sz="2200" b="1" dirty="0">
              <a:solidFill>
                <a:srgbClr val="760000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  <a:p>
            <a:pPr algn="ctr"/>
            <a:endParaRPr lang="en-US" sz="1826" b="1" dirty="0">
              <a:solidFill>
                <a:srgbClr val="760000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4018411" y="1715592"/>
            <a:ext cx="2348420" cy="1900845"/>
            <a:chOff x="935333" y="1334911"/>
            <a:chExt cx="2348420" cy="1900845"/>
          </a:xfrm>
        </p:grpSpPr>
        <p:sp>
          <p:nvSpPr>
            <p:cNvPr id="15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348420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4400" b="1" dirty="0" smtClean="0">
                  <a:solidFill>
                    <a:srgbClr val="C48F22"/>
                  </a:solidFill>
                  <a:cs typeface="Arial" panose="020B0604020202020204" pitchFamily="34" charset="0"/>
                </a:rPr>
                <a:t>59,616</a:t>
              </a:r>
              <a:endParaRPr lang="ar-OM" sz="4400" b="1" dirty="0">
                <a:solidFill>
                  <a:srgbClr val="C48F22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6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341531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cs typeface="Microsoft Uighur" panose="02000000000000000000" pitchFamily="2" charset="-78"/>
                </a:rPr>
                <a:t>عدد المكالمات التي تم الرد عليها  </a:t>
              </a:r>
              <a:endParaRPr lang="en-US" sz="2000" b="1" dirty="0">
                <a:solidFill>
                  <a:schemeClr val="bg1"/>
                </a:solidFill>
                <a:cs typeface="Microsoft Uighur" panose="02000000000000000000" pitchFamily="2" charset="-78"/>
              </a:endParaRP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6756462" y="1715591"/>
            <a:ext cx="2341531" cy="1882558"/>
            <a:chOff x="942222" y="1212149"/>
            <a:chExt cx="2341531" cy="2023607"/>
          </a:xfrm>
        </p:grpSpPr>
        <p:sp>
          <p:nvSpPr>
            <p:cNvPr id="18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1212149"/>
              <a:ext cx="2341531" cy="1500873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3600" b="1" dirty="0" smtClean="0">
                  <a:solidFill>
                    <a:srgbClr val="C48F22"/>
                  </a:solidFill>
                  <a:cs typeface="Arial" panose="020B0604020202020204" pitchFamily="34" charset="0"/>
                </a:rPr>
                <a:t>4:08 دقيقه  </a:t>
              </a:r>
              <a:endParaRPr lang="en-US" sz="3600" b="1" dirty="0">
                <a:solidFill>
                  <a:srgbClr val="C48F22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9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341531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cs typeface="Microsoft Uighur" panose="02000000000000000000" pitchFamily="2" charset="-78"/>
                </a:rPr>
                <a:t>متوسط وقت الانتظار</a:t>
              </a:r>
              <a:r>
                <a:rPr lang="ar-OM" sz="1600" b="1" dirty="0" smtClean="0">
                  <a:solidFill>
                    <a:schemeClr val="bg1"/>
                  </a:solidFill>
                  <a:cs typeface="Microsoft Uighur" panose="02000000000000000000" pitchFamily="2" charset="-78"/>
                </a:rPr>
                <a:t> </a:t>
              </a:r>
              <a:endParaRPr lang="en-US" sz="1600" b="1" dirty="0">
                <a:solidFill>
                  <a:schemeClr val="bg1"/>
                </a:solidFill>
                <a:cs typeface="Microsoft Uighur" panose="02000000000000000000" pitchFamily="2" charset="-78"/>
              </a:endParaRP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9480735" y="1759134"/>
            <a:ext cx="2348420" cy="1857303"/>
            <a:chOff x="935333" y="1378453"/>
            <a:chExt cx="2348420" cy="1857303"/>
          </a:xfrm>
        </p:grpSpPr>
        <p:sp>
          <p:nvSpPr>
            <p:cNvPr id="21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78453"/>
              <a:ext cx="2348420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4400" b="1" dirty="0" smtClean="0">
                  <a:solidFill>
                    <a:srgbClr val="C48F22"/>
                  </a:solidFill>
                  <a:cs typeface="Microsoft Uighur" panose="02000000000000000000" pitchFamily="2" charset="-78"/>
                </a:rPr>
                <a:t> </a:t>
              </a:r>
              <a:r>
                <a:rPr lang="ar-OM" sz="3600" b="1" dirty="0">
                  <a:solidFill>
                    <a:srgbClr val="C48F22"/>
                  </a:solidFill>
                  <a:cs typeface="Arial" panose="020B0604020202020204" pitchFamily="34" charset="0"/>
                </a:rPr>
                <a:t>دقيقة </a:t>
              </a:r>
              <a:r>
                <a:rPr lang="en-US" sz="3600" b="1" dirty="0" smtClean="0">
                  <a:solidFill>
                    <a:srgbClr val="C48F22"/>
                  </a:solidFill>
                  <a:cs typeface="Arial" panose="020B0604020202020204" pitchFamily="34" charset="0"/>
                </a:rPr>
                <a:t>3:</a:t>
              </a:r>
              <a:r>
                <a:rPr lang="ar-OM" sz="3600" b="1" dirty="0" smtClean="0">
                  <a:solidFill>
                    <a:srgbClr val="C48F22"/>
                  </a:solidFill>
                  <a:cs typeface="Arial" panose="020B0604020202020204" pitchFamily="34" charset="0"/>
                </a:rPr>
                <a:t>07</a:t>
              </a:r>
              <a:r>
                <a:rPr lang="en-US" sz="3600" b="1" dirty="0" smtClean="0">
                  <a:solidFill>
                    <a:srgbClr val="C48F22"/>
                  </a:solidFill>
                  <a:cs typeface="Arial" panose="020B0604020202020204" pitchFamily="34" charset="0"/>
                </a:rPr>
                <a:t> </a:t>
              </a:r>
              <a:endParaRPr lang="en-US" sz="3600" b="1" dirty="0">
                <a:solidFill>
                  <a:srgbClr val="C48F22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2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341531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1600" b="1" dirty="0" smtClean="0">
                  <a:solidFill>
                    <a:schemeClr val="bg1"/>
                  </a:solidFill>
                  <a:cs typeface="Microsoft Uighur" panose="02000000000000000000" pitchFamily="2" charset="-78"/>
                </a:rPr>
                <a:t>متوسط مدة المكالمة </a:t>
              </a:r>
              <a:endParaRPr lang="fr-FR" sz="1600" b="1" dirty="0">
                <a:solidFill>
                  <a:schemeClr val="bg1"/>
                </a:solidFill>
                <a:cs typeface="Microsoft Uighur" panose="02000000000000000000" pitchFamily="2" charset="-78"/>
              </a:endParaRPr>
            </a:p>
          </p:txBody>
        </p:sp>
      </p:grpSp>
      <p:sp>
        <p:nvSpPr>
          <p:cNvPr id="23" name="Rectangle 22"/>
          <p:cNvSpPr/>
          <p:nvPr/>
        </p:nvSpPr>
        <p:spPr>
          <a:xfrm rot="20292324">
            <a:off x="572315" y="1852780"/>
            <a:ext cx="1840568" cy="461665"/>
          </a:xfrm>
          <a:prstGeom prst="rect">
            <a:avLst/>
          </a:prstGeom>
          <a:effectLst>
            <a:glow rad="101600">
              <a:schemeClr val="bg1">
                <a:alpha val="60000"/>
              </a:schemeClr>
            </a:glow>
          </a:effectLst>
        </p:spPr>
        <p:txBody>
          <a:bodyPr wrap="none">
            <a:spAutoFit/>
          </a:bodyPr>
          <a:lstStyle/>
          <a:p>
            <a:r>
              <a:rPr lang="ar-OM" sz="2400" dirty="0">
                <a:solidFill>
                  <a:srgbClr val="C48F22"/>
                </a:solidFill>
                <a:ea typeface="Arial Unicode MS"/>
                <a:cs typeface="FreeHand" pitchFamily="2" charset="-78"/>
              </a:rPr>
              <a:t>(صوتك مسموع) </a:t>
            </a:r>
            <a:endParaRPr lang="en-US" sz="2400" dirty="0">
              <a:solidFill>
                <a:srgbClr val="C48F22"/>
              </a:solidFill>
              <a:ea typeface="Arial Unicode MS"/>
              <a:cs typeface="FreeHand" pitchFamily="2" charset="-78"/>
            </a:endParaRP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 rotWithShape="1"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23" r="13311" b="11871"/>
          <a:stretch/>
        </p:blipFill>
        <p:spPr>
          <a:xfrm>
            <a:off x="1270284" y="2194560"/>
            <a:ext cx="1839977" cy="253565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3656854" y="479586"/>
            <a:ext cx="65899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OM" sz="3200" b="1" dirty="0" smtClean="0">
                <a:solidFill>
                  <a:srgbClr val="C48F22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أهم المؤشرات الإحصائية لمركز الخدمة الهاتفية   </a:t>
            </a:r>
            <a:endParaRPr lang="en-US" sz="3200" b="1" dirty="0">
              <a:solidFill>
                <a:srgbClr val="C48F22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sp>
        <p:nvSpPr>
          <p:cNvPr id="26" name="Octagon 25">
            <a:extLst>
              <a:ext uri="{FF2B5EF4-FFF2-40B4-BE49-F238E27FC236}">
                <a16:creationId xmlns:a16="http://schemas.microsoft.com/office/drawing/2014/main" id="{8F86244E-E4BF-5A5A-2854-9EE6B1A483EE}"/>
              </a:ext>
            </a:extLst>
          </p:cNvPr>
          <p:cNvSpPr/>
          <p:nvPr/>
        </p:nvSpPr>
        <p:spPr>
          <a:xfrm>
            <a:off x="11766110" y="6386237"/>
            <a:ext cx="268357" cy="268357"/>
          </a:xfrm>
          <a:prstGeom prst="octagon">
            <a:avLst/>
          </a:prstGeom>
          <a:solidFill>
            <a:srgbClr val="CCA862"/>
          </a:solidFill>
          <a:ln>
            <a:noFill/>
          </a:ln>
          <a:effectLst>
            <a:outerShdw blurRad="127000" dist="635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266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560D64F-6F4F-EAF0-BAB7-5E47E078B92D}"/>
              </a:ext>
            </a:extLst>
          </p:cNvPr>
          <p:cNvCxnSpPr>
            <a:cxnSpLocks/>
          </p:cNvCxnSpPr>
          <p:nvPr/>
        </p:nvCxnSpPr>
        <p:spPr>
          <a:xfrm flipH="1">
            <a:off x="3201701" y="1290372"/>
            <a:ext cx="5791200" cy="0"/>
          </a:xfrm>
          <a:prstGeom prst="line">
            <a:avLst/>
          </a:prstGeom>
          <a:ln>
            <a:solidFill>
              <a:srgbClr val="C48F22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8461D46E-147C-49AA-1082-D50B53FFCC23}"/>
              </a:ext>
            </a:extLst>
          </p:cNvPr>
          <p:cNvSpPr/>
          <p:nvPr/>
        </p:nvSpPr>
        <p:spPr>
          <a:xfrm>
            <a:off x="457646" y="1531076"/>
            <a:ext cx="3218145" cy="4352859"/>
          </a:xfrm>
          <a:prstGeom prst="rect">
            <a:avLst/>
          </a:prstGeom>
          <a:solidFill>
            <a:srgbClr val="D8CFCE"/>
          </a:solidFill>
          <a:ln>
            <a:noFill/>
          </a:ln>
          <a:effectLst>
            <a:outerShdw blurRad="254000" sx="105000" sy="105000" algn="ctr" rotWithShape="0">
              <a:schemeClr val="tx1">
                <a:lumMod val="85000"/>
                <a:lumOff val="1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C23099B-6F7C-4BBD-9F4E-A5126796931E}"/>
              </a:ext>
            </a:extLst>
          </p:cNvPr>
          <p:cNvSpPr/>
          <p:nvPr/>
        </p:nvSpPr>
        <p:spPr>
          <a:xfrm>
            <a:off x="457646" y="4955238"/>
            <a:ext cx="3199208" cy="740249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ar-OM" sz="2000" b="1" dirty="0" smtClean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 5 موظف- </a:t>
            </a:r>
            <a:r>
              <a:rPr lang="ar-OM" sz="2000" b="1" dirty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بمعدل </a:t>
            </a:r>
            <a:r>
              <a:rPr lang="ar-OM" sz="2000" b="1" dirty="0" smtClean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 16 مراجع </a:t>
            </a:r>
            <a:r>
              <a:rPr lang="ar-OM" sz="2000" b="1" dirty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يوميا لكل موظف  </a:t>
            </a:r>
            <a:endParaRPr lang="en-GB" sz="2000" b="1" dirty="0">
              <a:solidFill>
                <a:srgbClr val="760000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  <a:p>
            <a:pPr algn="ctr" rtl="1"/>
            <a:r>
              <a:rPr lang="ar-OM" sz="2000" b="1" dirty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المشاركة في </a:t>
            </a:r>
            <a:r>
              <a:rPr lang="en-GB" sz="2000" b="1" dirty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12 </a:t>
            </a:r>
            <a:r>
              <a:rPr lang="ar-OM" sz="2000" b="1" dirty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 مبادرات تشغيلية</a:t>
            </a:r>
            <a:endParaRPr lang="en-US" sz="2000" b="1" dirty="0">
              <a:solidFill>
                <a:srgbClr val="760000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656854" y="479586"/>
            <a:ext cx="65899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OM" sz="3200" b="1" dirty="0" smtClean="0">
                <a:solidFill>
                  <a:srgbClr val="C48F22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أهم المؤشرات الإحصائية لقسم إدارة علاقات المتعاملين </a:t>
            </a:r>
            <a:endParaRPr lang="en-US" sz="3200" b="1" dirty="0">
              <a:solidFill>
                <a:srgbClr val="C48F22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sp>
        <p:nvSpPr>
          <p:cNvPr id="24" name="Octagon 23">
            <a:extLst>
              <a:ext uri="{FF2B5EF4-FFF2-40B4-BE49-F238E27FC236}">
                <a16:creationId xmlns:a16="http://schemas.microsoft.com/office/drawing/2014/main" id="{8F86244E-E4BF-5A5A-2854-9EE6B1A483EE}"/>
              </a:ext>
            </a:extLst>
          </p:cNvPr>
          <p:cNvSpPr/>
          <p:nvPr/>
        </p:nvSpPr>
        <p:spPr>
          <a:xfrm>
            <a:off x="11766110" y="6372382"/>
            <a:ext cx="268357" cy="268357"/>
          </a:xfrm>
          <a:prstGeom prst="octagon">
            <a:avLst/>
          </a:prstGeom>
          <a:solidFill>
            <a:srgbClr val="CCA862"/>
          </a:solidFill>
          <a:ln>
            <a:noFill/>
          </a:ln>
          <a:effectLst>
            <a:outerShdw blurRad="127000" dist="635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6" name="Group 25"/>
          <p:cNvGrpSpPr/>
          <p:nvPr/>
        </p:nvGrpSpPr>
        <p:grpSpPr>
          <a:xfrm>
            <a:off x="9315319" y="1447200"/>
            <a:ext cx="2405169" cy="1467639"/>
            <a:chOff x="812468" y="1565823"/>
            <a:chExt cx="2355467" cy="1632113"/>
          </a:xfrm>
        </p:grpSpPr>
        <p:sp>
          <p:nvSpPr>
            <p:cNvPr id="27" name="Rounded Rectangle 26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812468" y="1565823"/>
              <a:ext cx="2348420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OM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ar-OM" sz="4000" b="1" dirty="0" smtClean="0">
                  <a:solidFill>
                    <a:srgbClr val="C48F22"/>
                  </a:solidFill>
                  <a:cs typeface="Microsoft Uighur" panose="02000000000000000000" pitchFamily="2" charset="-78"/>
                </a:rPr>
                <a:t>276</a:t>
              </a:r>
              <a:endParaRPr lang="en-US" sz="2000" b="1" dirty="0">
                <a:solidFill>
                  <a:srgbClr val="C48F22"/>
                </a:solidFill>
                <a:cs typeface="Microsoft Uighur" panose="02000000000000000000" pitchFamily="2" charset="-78"/>
              </a:endParaRPr>
            </a:p>
          </p:txBody>
        </p:sp>
        <p:sp>
          <p:nvSpPr>
            <p:cNvPr id="28" name="Rounded Rectangle 27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812469" y="2480210"/>
              <a:ext cx="2355466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OM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ar-OM" sz="4400" b="1" dirty="0">
                  <a:solidFill>
                    <a:srgbClr val="C48F22"/>
                  </a:solidFill>
                  <a:cs typeface="Microsoft Uighur" panose="02000000000000000000" pitchFamily="2" charset="-78"/>
                </a:rPr>
                <a:t> </a:t>
              </a:r>
              <a:r>
                <a:rPr lang="ar-OM" sz="2000" b="1" dirty="0">
                  <a:solidFill>
                    <a:srgbClr val="C48F22"/>
                  </a:solidFill>
                  <a:cs typeface="Microsoft Uighur" panose="02000000000000000000" pitchFamily="2" charset="-78"/>
                </a:rPr>
                <a:t>المديرية العامة للاشتراكات</a:t>
              </a:r>
              <a:endParaRPr lang="en-US" sz="2400" b="1" dirty="0">
                <a:solidFill>
                  <a:srgbClr val="C48F22"/>
                </a:solidFill>
                <a:cs typeface="Microsoft Uighur" panose="02000000000000000000" pitchFamily="2" charset="-78"/>
              </a:endParaRPr>
            </a:p>
            <a:p>
              <a:pPr algn="ctr"/>
              <a:endParaRPr lang="fr-FR" sz="1400" b="1" dirty="0">
                <a:solidFill>
                  <a:schemeClr val="bg1"/>
                </a:solidFill>
                <a:cs typeface="Microsoft Uighur" panose="02000000000000000000" pitchFamily="2" charset="-78"/>
              </a:endParaRPr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6751963" y="1456191"/>
            <a:ext cx="2369401" cy="1483237"/>
            <a:chOff x="6657401" y="1465139"/>
            <a:chExt cx="2369401" cy="1483237"/>
          </a:xfrm>
        </p:grpSpPr>
        <p:sp>
          <p:nvSpPr>
            <p:cNvPr id="30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6657401" y="1465139"/>
              <a:ext cx="2341531" cy="992438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4000" b="1" dirty="0" smtClean="0">
                  <a:solidFill>
                    <a:srgbClr val="C48F22"/>
                  </a:solidFill>
                  <a:cs typeface="Microsoft Uighur" panose="02000000000000000000" pitchFamily="2" charset="-78"/>
                </a:rPr>
                <a:t>484 </a:t>
              </a:r>
              <a:endParaRPr lang="en-US" sz="4000" b="1" dirty="0">
                <a:solidFill>
                  <a:srgbClr val="C48F22"/>
                </a:solidFill>
                <a:cs typeface="Microsoft Uighur" panose="02000000000000000000" pitchFamily="2" charset="-78"/>
              </a:endParaRPr>
            </a:p>
          </p:txBody>
        </p:sp>
        <p:sp>
          <p:nvSpPr>
            <p:cNvPr id="32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6657401" y="2316309"/>
              <a:ext cx="2369401" cy="632067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>
                  <a:solidFill>
                    <a:srgbClr val="C48F22"/>
                  </a:solidFill>
                  <a:cs typeface="Microsoft Uighur" panose="02000000000000000000" pitchFamily="2" charset="-78"/>
                </a:rPr>
                <a:t>المديرية العام للمستحقات</a:t>
              </a:r>
              <a:endParaRPr lang="en-US" sz="2000" b="1" dirty="0">
                <a:solidFill>
                  <a:srgbClr val="C48F22"/>
                </a:solidFill>
                <a:cs typeface="Microsoft Uighur" panose="02000000000000000000" pitchFamily="2" charset="-78"/>
              </a:endParaRPr>
            </a:p>
            <a:p>
              <a:pPr algn="ctr"/>
              <a:endParaRPr lang="en-US" sz="1600" b="1" dirty="0">
                <a:solidFill>
                  <a:schemeClr val="bg1"/>
                </a:solidFill>
                <a:cs typeface="Microsoft Uighur" panose="02000000000000000000" pitchFamily="2" charset="-78"/>
              </a:endParaRPr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9276294" y="3111188"/>
            <a:ext cx="2483220" cy="1553754"/>
            <a:chOff x="844806" y="302501"/>
            <a:chExt cx="2483220" cy="1553754"/>
          </a:xfrm>
        </p:grpSpPr>
        <p:sp>
          <p:nvSpPr>
            <p:cNvPr id="35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868169" y="302501"/>
              <a:ext cx="2415584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1050" b="1" dirty="0" smtClean="0">
                  <a:solidFill>
                    <a:srgbClr val="C48F22"/>
                  </a:solidFill>
                </a:rPr>
                <a:t>   </a:t>
              </a:r>
              <a:r>
                <a:rPr lang="ar-OM" sz="4000" b="1" dirty="0" smtClean="0">
                  <a:solidFill>
                    <a:srgbClr val="C48F22"/>
                  </a:solidFill>
                  <a:cs typeface="Microsoft Uighur" panose="02000000000000000000" pitchFamily="2" charset="-78"/>
                </a:rPr>
                <a:t>5 </a:t>
              </a:r>
              <a:endParaRPr lang="en-US" sz="4000" b="1" dirty="0">
                <a:solidFill>
                  <a:srgbClr val="C48F22"/>
                </a:solidFill>
                <a:cs typeface="Microsoft Uighur" panose="02000000000000000000" pitchFamily="2" charset="-78"/>
              </a:endParaRPr>
            </a:p>
          </p:txBody>
        </p:sp>
        <p:sp>
          <p:nvSpPr>
            <p:cNvPr id="36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844806" y="1054222"/>
              <a:ext cx="2483220" cy="802033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>
                  <a:solidFill>
                    <a:srgbClr val="C48F22"/>
                  </a:solidFill>
                  <a:cs typeface="Microsoft Uighur" panose="02000000000000000000" pitchFamily="2" charset="-78"/>
                </a:rPr>
                <a:t>المديرية العامة للدعم المؤسسي</a:t>
              </a:r>
              <a:endParaRPr lang="en-US" sz="2000" b="1" dirty="0">
                <a:solidFill>
                  <a:srgbClr val="C48F22"/>
                </a:solidFill>
                <a:cs typeface="Microsoft Uighur" panose="02000000000000000000" pitchFamily="2" charset="-78"/>
              </a:endParaRPr>
            </a:p>
            <a:p>
              <a:pPr algn="ctr"/>
              <a:endParaRPr lang="fr-FR" sz="2000" b="1" dirty="0">
                <a:solidFill>
                  <a:schemeClr val="bg1"/>
                </a:solidFill>
                <a:cs typeface="Microsoft Uighur" panose="02000000000000000000" pitchFamily="2" charset="-78"/>
              </a:endParaRPr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4109192" y="1456191"/>
            <a:ext cx="2406170" cy="1474246"/>
            <a:chOff x="4109192" y="1456191"/>
            <a:chExt cx="2362355" cy="1397895"/>
          </a:xfrm>
        </p:grpSpPr>
        <p:sp>
          <p:nvSpPr>
            <p:cNvPr id="33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4109192" y="1456191"/>
              <a:ext cx="2348420" cy="870439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4000" b="1" dirty="0" smtClean="0">
                  <a:solidFill>
                    <a:srgbClr val="C48F22"/>
                  </a:solidFill>
                  <a:cs typeface="Microsoft Uighur" panose="02000000000000000000" pitchFamily="2" charset="-78"/>
                </a:rPr>
                <a:t>10</a:t>
              </a:r>
              <a:endParaRPr lang="ar-OM" sz="4000" b="1" dirty="0">
                <a:solidFill>
                  <a:srgbClr val="C48F22"/>
                </a:solidFill>
                <a:cs typeface="Microsoft Uighur" panose="02000000000000000000" pitchFamily="2" charset="-78"/>
              </a:endParaRPr>
            </a:p>
          </p:txBody>
        </p:sp>
        <p:sp>
          <p:nvSpPr>
            <p:cNvPr id="37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4109192" y="2254754"/>
              <a:ext cx="2362355" cy="599332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>
                  <a:solidFill>
                    <a:srgbClr val="C48F22"/>
                  </a:solidFill>
                  <a:cs typeface="Microsoft Uighur" panose="02000000000000000000" pitchFamily="2" charset="-78"/>
                </a:rPr>
                <a:t>المديرية العامة للمالية ومتابعه الإداء الاستثماري</a:t>
              </a:r>
              <a:endParaRPr lang="en-US" sz="2000" b="1" dirty="0">
                <a:solidFill>
                  <a:srgbClr val="C48F22"/>
                </a:solidFill>
                <a:cs typeface="Microsoft Uighur" panose="02000000000000000000" pitchFamily="2" charset="-78"/>
              </a:endParaRPr>
            </a:p>
          </p:txBody>
        </p:sp>
      </p:grpSp>
      <p:grpSp>
        <p:nvGrpSpPr>
          <p:cNvPr id="38" name="Group 37"/>
          <p:cNvGrpSpPr/>
          <p:nvPr/>
        </p:nvGrpSpPr>
        <p:grpSpPr>
          <a:xfrm>
            <a:off x="6721783" y="3114151"/>
            <a:ext cx="2399581" cy="1558006"/>
            <a:chOff x="914242" y="891039"/>
            <a:chExt cx="2399581" cy="1456324"/>
          </a:xfrm>
        </p:grpSpPr>
        <p:sp>
          <p:nvSpPr>
            <p:cNvPr id="39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14242" y="891039"/>
              <a:ext cx="2383263" cy="981749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1200" b="1" dirty="0" smtClean="0">
                  <a:solidFill>
                    <a:srgbClr val="C48F22"/>
                  </a:solidFill>
                  <a:cs typeface="Arial" panose="020B0604020202020204" pitchFamily="34" charset="0"/>
                </a:rPr>
                <a:t> </a:t>
              </a:r>
              <a:r>
                <a:rPr lang="ar-OM" sz="4000" b="1" dirty="0" smtClean="0">
                  <a:solidFill>
                    <a:srgbClr val="C48F22"/>
                  </a:solidFill>
                  <a:cs typeface="Microsoft Uighur" panose="02000000000000000000" pitchFamily="2" charset="-78"/>
                </a:rPr>
                <a:t>6</a:t>
              </a:r>
              <a:endParaRPr lang="en-US" sz="4000" b="1" dirty="0">
                <a:solidFill>
                  <a:srgbClr val="C48F22"/>
                </a:solidFill>
                <a:cs typeface="Microsoft Uighur" panose="02000000000000000000" pitchFamily="2" charset="-78"/>
              </a:endParaRPr>
            </a:p>
          </p:txBody>
        </p:sp>
        <p:sp>
          <p:nvSpPr>
            <p:cNvPr id="40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14242" y="1629637"/>
              <a:ext cx="2399581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ar-OM" sz="2000" b="1" dirty="0" smtClean="0">
                <a:solidFill>
                  <a:srgbClr val="C48F22"/>
                </a:solidFill>
                <a:cs typeface="Microsoft Uighur" panose="02000000000000000000" pitchFamily="2" charset="-78"/>
              </a:endParaRPr>
            </a:p>
            <a:p>
              <a:pPr algn="ctr"/>
              <a:r>
                <a:rPr lang="ar-OM" sz="2000" b="1" dirty="0" smtClean="0">
                  <a:solidFill>
                    <a:srgbClr val="C48F22"/>
                  </a:solidFill>
                  <a:cs typeface="Microsoft Uighur" panose="02000000000000000000" pitchFamily="2" charset="-78"/>
                </a:rPr>
                <a:t>المديرية </a:t>
              </a:r>
              <a:r>
                <a:rPr lang="ar-OM" sz="2000" b="1" dirty="0">
                  <a:solidFill>
                    <a:srgbClr val="C48F22"/>
                  </a:solidFill>
                  <a:cs typeface="Microsoft Uighur" panose="02000000000000000000" pitchFamily="2" charset="-78"/>
                </a:rPr>
                <a:t>العامة للحلول الرقمية ونظم المعلومات</a:t>
              </a:r>
              <a:endParaRPr lang="en-US" sz="2000" b="1" dirty="0">
                <a:solidFill>
                  <a:srgbClr val="C48F22"/>
                </a:solidFill>
                <a:cs typeface="Microsoft Uighur" panose="02000000000000000000" pitchFamily="2" charset="-78"/>
              </a:endParaRPr>
            </a:p>
            <a:p>
              <a:pPr algn="ctr"/>
              <a:endParaRPr lang="en-US" sz="2000" b="1" dirty="0">
                <a:solidFill>
                  <a:srgbClr val="C48F22"/>
                </a:solidFill>
                <a:cs typeface="Microsoft Uighur" panose="02000000000000000000" pitchFamily="2" charset="-78"/>
              </a:endParaRPr>
            </a:p>
          </p:txBody>
        </p:sp>
      </p:grpSp>
      <p:grpSp>
        <p:nvGrpSpPr>
          <p:cNvPr id="41" name="Group 40"/>
          <p:cNvGrpSpPr/>
          <p:nvPr/>
        </p:nvGrpSpPr>
        <p:grpSpPr>
          <a:xfrm>
            <a:off x="4091100" y="3083708"/>
            <a:ext cx="2384072" cy="1547605"/>
            <a:chOff x="975253" y="1301788"/>
            <a:chExt cx="2384072" cy="1648395"/>
          </a:xfrm>
        </p:grpSpPr>
        <p:sp>
          <p:nvSpPr>
            <p:cNvPr id="42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1000999" y="1301788"/>
              <a:ext cx="2358326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1600" b="1" dirty="0" smtClean="0">
                  <a:solidFill>
                    <a:srgbClr val="C48F22"/>
                  </a:solidFill>
                  <a:cs typeface="Arial" panose="020B0604020202020204" pitchFamily="34" charset="0"/>
                </a:rPr>
                <a:t> </a:t>
              </a:r>
              <a:r>
                <a:rPr lang="ar-OM" sz="4000" b="1" dirty="0" smtClean="0">
                  <a:solidFill>
                    <a:srgbClr val="C48F22"/>
                  </a:solidFill>
                  <a:cs typeface="Microsoft Uighur" panose="02000000000000000000" pitchFamily="2" charset="-78"/>
                </a:rPr>
                <a:t>124</a:t>
              </a:r>
              <a:endParaRPr lang="en-US" sz="4000" b="1" dirty="0">
                <a:solidFill>
                  <a:srgbClr val="C48F22"/>
                </a:solidFill>
                <a:cs typeface="Microsoft Uighur" panose="02000000000000000000" pitchFamily="2" charset="-78"/>
              </a:endParaRPr>
            </a:p>
          </p:txBody>
        </p:sp>
        <p:sp>
          <p:nvSpPr>
            <p:cNvPr id="43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75253" y="2131736"/>
              <a:ext cx="2377183" cy="818447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cs typeface="Microsoft Uighur" panose="02000000000000000000" pitchFamily="2" charset="-78"/>
                </a:rPr>
                <a:t> </a:t>
              </a:r>
              <a:endParaRPr lang="en-US" sz="2000" b="1" dirty="0">
                <a:solidFill>
                  <a:schemeClr val="bg1"/>
                </a:solidFill>
                <a:cs typeface="Microsoft Uighur" panose="02000000000000000000" pitchFamily="2" charset="-78"/>
              </a:endParaRPr>
            </a:p>
          </p:txBody>
        </p:sp>
      </p:grpSp>
      <p:grpSp>
        <p:nvGrpSpPr>
          <p:cNvPr id="44" name="Group 43"/>
          <p:cNvGrpSpPr/>
          <p:nvPr/>
        </p:nvGrpSpPr>
        <p:grpSpPr>
          <a:xfrm>
            <a:off x="9276294" y="4962481"/>
            <a:ext cx="2406163" cy="1578995"/>
            <a:chOff x="917837" y="1144039"/>
            <a:chExt cx="2366948" cy="1423712"/>
          </a:xfrm>
        </p:grpSpPr>
        <p:sp>
          <p:nvSpPr>
            <p:cNvPr id="45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17837" y="1144039"/>
              <a:ext cx="2366948" cy="918551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4000" b="1" dirty="0" smtClean="0">
                  <a:solidFill>
                    <a:srgbClr val="C48F22"/>
                  </a:solidFill>
                  <a:cs typeface="Microsoft Uighur" panose="02000000000000000000" pitchFamily="2" charset="-78"/>
                </a:rPr>
                <a:t>4</a:t>
              </a:r>
              <a:endParaRPr lang="en-US" sz="4000" b="1" dirty="0">
                <a:solidFill>
                  <a:srgbClr val="C48F22"/>
                </a:solidFill>
                <a:cs typeface="Microsoft Uighur" panose="02000000000000000000" pitchFamily="2" charset="-78"/>
              </a:endParaRPr>
            </a:p>
          </p:txBody>
        </p:sp>
        <p:sp>
          <p:nvSpPr>
            <p:cNvPr id="46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17838" y="1850025"/>
              <a:ext cx="2344205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cs typeface="Microsoft Uighur" panose="02000000000000000000" pitchFamily="2" charset="-78"/>
                </a:rPr>
                <a:t> </a:t>
              </a:r>
              <a:r>
                <a:rPr lang="ar-OM" sz="2000" b="1" dirty="0">
                  <a:solidFill>
                    <a:srgbClr val="C48F22"/>
                  </a:solidFill>
                  <a:cs typeface="Microsoft Uighur" panose="02000000000000000000" pitchFamily="2" charset="-78"/>
                </a:rPr>
                <a:t>مكتب الرئيس التنفيذي</a:t>
              </a:r>
              <a:endParaRPr lang="en-US" sz="2000" b="1" dirty="0">
                <a:solidFill>
                  <a:srgbClr val="C48F22"/>
                </a:solidFill>
                <a:cs typeface="Microsoft Uighur" panose="02000000000000000000" pitchFamily="2" charset="-78"/>
              </a:endParaRPr>
            </a:p>
            <a:p>
              <a:pPr algn="ctr"/>
              <a:endParaRPr lang="en-US" sz="2000" b="1" dirty="0">
                <a:solidFill>
                  <a:schemeClr val="bg1"/>
                </a:solidFill>
                <a:cs typeface="Microsoft Uighur" panose="02000000000000000000" pitchFamily="2" charset="-78"/>
              </a:endParaRPr>
            </a:p>
          </p:txBody>
        </p:sp>
      </p:grpSp>
      <p:grpSp>
        <p:nvGrpSpPr>
          <p:cNvPr id="47" name="Group 46"/>
          <p:cNvGrpSpPr/>
          <p:nvPr/>
        </p:nvGrpSpPr>
        <p:grpSpPr>
          <a:xfrm>
            <a:off x="6685271" y="4962480"/>
            <a:ext cx="2436601" cy="1578997"/>
            <a:chOff x="865009" y="1144039"/>
            <a:chExt cx="2436601" cy="1441343"/>
          </a:xfrm>
        </p:grpSpPr>
        <p:sp>
          <p:nvSpPr>
            <p:cNvPr id="48" name="Rounded Rectangle 47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865009" y="1144039"/>
              <a:ext cx="2419776" cy="929925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4000" b="1" dirty="0" smtClean="0">
                  <a:solidFill>
                    <a:srgbClr val="C48F22"/>
                  </a:solidFill>
                  <a:cs typeface="Microsoft Uighur" panose="02000000000000000000" pitchFamily="2" charset="-78"/>
                </a:rPr>
                <a:t>7</a:t>
              </a:r>
              <a:endParaRPr lang="en-US" sz="4000" b="1" dirty="0">
                <a:solidFill>
                  <a:srgbClr val="C48F22"/>
                </a:solidFill>
                <a:cs typeface="Microsoft Uighur" panose="02000000000000000000" pitchFamily="2" charset="-78"/>
              </a:endParaRPr>
            </a:p>
          </p:txBody>
        </p:sp>
        <p:sp>
          <p:nvSpPr>
            <p:cNvPr id="49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865010" y="1867656"/>
              <a:ext cx="2436600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>
                  <a:solidFill>
                    <a:srgbClr val="C48F22"/>
                  </a:solidFill>
                  <a:cs typeface="Microsoft Uighur" panose="02000000000000000000" pitchFamily="2" charset="-78"/>
                </a:rPr>
                <a:t>الشؤون القانونية</a:t>
              </a:r>
              <a:endParaRPr lang="en-US" sz="2000" b="1" dirty="0">
                <a:solidFill>
                  <a:srgbClr val="C48F22"/>
                </a:solidFill>
                <a:cs typeface="Microsoft Uighur" panose="02000000000000000000" pitchFamily="2" charset="-78"/>
              </a:endParaRPr>
            </a:p>
          </p:txBody>
        </p:sp>
      </p:grpSp>
      <p:grpSp>
        <p:nvGrpSpPr>
          <p:cNvPr id="54" name="Group 53"/>
          <p:cNvGrpSpPr/>
          <p:nvPr/>
        </p:nvGrpSpPr>
        <p:grpSpPr>
          <a:xfrm>
            <a:off x="651164" y="2415639"/>
            <a:ext cx="2881744" cy="1886091"/>
            <a:chOff x="4691510" y="3879319"/>
            <a:chExt cx="3220371" cy="1816705"/>
          </a:xfrm>
        </p:grpSpPr>
        <p:sp>
          <p:nvSpPr>
            <p:cNvPr id="55" name="Rectangle 54"/>
            <p:cNvSpPr/>
            <p:nvPr/>
          </p:nvSpPr>
          <p:spPr>
            <a:xfrm>
              <a:off x="4691510" y="4677086"/>
              <a:ext cx="3220371" cy="101893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ar-OM" sz="3600" b="1" dirty="0" smtClean="0">
                  <a:solidFill>
                    <a:srgbClr val="013631"/>
                  </a:solidFill>
                  <a:latin typeface="Microsoft Uighur" panose="02000000000000000000" pitchFamily="2" charset="-78"/>
                  <a:cs typeface="Microsoft Uighur" panose="02000000000000000000" pitchFamily="2" charset="-78"/>
                </a:rPr>
                <a:t>إجمالي عدد الطلبات</a:t>
              </a:r>
              <a:endParaRPr lang="ar-OM" sz="3600" b="1" dirty="0">
                <a:solidFill>
                  <a:srgbClr val="013631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endParaRPr>
            </a:p>
          </p:txBody>
        </p:sp>
        <p:sp>
          <p:nvSpPr>
            <p:cNvPr id="56" name="Rectangle 55"/>
            <p:cNvSpPr/>
            <p:nvPr/>
          </p:nvSpPr>
          <p:spPr>
            <a:xfrm>
              <a:off x="4751985" y="3879319"/>
              <a:ext cx="3099420" cy="68184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ar-OM" sz="4000" b="1" dirty="0" smtClean="0">
                  <a:solidFill>
                    <a:srgbClr val="760000"/>
                  </a:solidFill>
                </a:rPr>
                <a:t>924</a:t>
              </a:r>
              <a:endParaRPr lang="en-US" sz="4400" b="1" dirty="0">
                <a:solidFill>
                  <a:srgbClr val="760000"/>
                </a:solidFill>
              </a:endParaRPr>
            </a:p>
          </p:txBody>
        </p:sp>
      </p:grpSp>
      <p:sp>
        <p:nvSpPr>
          <p:cNvPr id="50" name="Rounded Rectangle 31">
            <a:extLst>
              <a:ext uri="{FF2B5EF4-FFF2-40B4-BE49-F238E27FC236}">
                <a16:creationId xmlns:a16="http://schemas.microsoft.com/office/drawing/2014/main" id="{1B622561-49EC-422B-ACC3-DDB248C33DCE}"/>
              </a:ext>
            </a:extLst>
          </p:cNvPr>
          <p:cNvSpPr/>
          <p:nvPr/>
        </p:nvSpPr>
        <p:spPr>
          <a:xfrm>
            <a:off x="4116846" y="4955237"/>
            <a:ext cx="2351437" cy="859324"/>
          </a:xfrm>
          <a:prstGeom prst="roundRect">
            <a:avLst>
              <a:gd name="adj" fmla="val 5329"/>
            </a:avLst>
          </a:prstGeom>
          <a:solidFill>
            <a:srgbClr val="E6E6E6"/>
          </a:solidFill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OM" sz="4000" b="1" dirty="0" smtClean="0">
                <a:solidFill>
                  <a:srgbClr val="C48F22"/>
                </a:solidFill>
                <a:cs typeface="Microsoft Uighur" panose="02000000000000000000" pitchFamily="2" charset="-78"/>
              </a:rPr>
              <a:t>8</a:t>
            </a:r>
            <a:endParaRPr lang="en-US" sz="4000" b="1" dirty="0">
              <a:solidFill>
                <a:srgbClr val="C48F22"/>
              </a:solidFill>
              <a:cs typeface="Microsoft Uighur" panose="02000000000000000000" pitchFamily="2" charset="-78"/>
            </a:endParaRPr>
          </a:p>
        </p:txBody>
      </p:sp>
      <p:sp>
        <p:nvSpPr>
          <p:cNvPr id="51" name="Rounded Rectangle 31">
            <a:extLst>
              <a:ext uri="{FF2B5EF4-FFF2-40B4-BE49-F238E27FC236}">
                <a16:creationId xmlns:a16="http://schemas.microsoft.com/office/drawing/2014/main" id="{1B622561-49EC-422B-ACC3-DDB248C33DCE}"/>
              </a:ext>
            </a:extLst>
          </p:cNvPr>
          <p:cNvSpPr/>
          <p:nvPr/>
        </p:nvSpPr>
        <p:spPr>
          <a:xfrm>
            <a:off x="4116845" y="5745469"/>
            <a:ext cx="2340768" cy="796007"/>
          </a:xfrm>
          <a:prstGeom prst="roundRect">
            <a:avLst>
              <a:gd name="adj" fmla="val 5329"/>
            </a:avLst>
          </a:prstGeom>
          <a:solidFill>
            <a:srgbClr val="3A564C"/>
          </a:solidFill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r-OM" sz="2000" b="1" dirty="0" smtClean="0">
              <a:solidFill>
                <a:srgbClr val="C48F22"/>
              </a:solidFill>
              <a:cs typeface="Microsoft Uighur" panose="02000000000000000000" pitchFamily="2" charset="-78"/>
            </a:endParaRPr>
          </a:p>
          <a:p>
            <a:pPr algn="ctr"/>
            <a:r>
              <a:rPr lang="ar-OM" sz="2000" b="1" dirty="0" smtClean="0">
                <a:solidFill>
                  <a:srgbClr val="C48F22"/>
                </a:solidFill>
                <a:cs typeface="Microsoft Uighur" panose="02000000000000000000" pitchFamily="2" charset="-78"/>
              </a:rPr>
              <a:t>المديرية </a:t>
            </a:r>
            <a:r>
              <a:rPr lang="ar-OM" sz="2000" b="1" dirty="0">
                <a:solidFill>
                  <a:srgbClr val="C48F22"/>
                </a:solidFill>
                <a:cs typeface="Microsoft Uighur" panose="02000000000000000000" pitchFamily="2" charset="-78"/>
              </a:rPr>
              <a:t>العامة للخدمات المتعاملين</a:t>
            </a:r>
            <a:endParaRPr lang="en-US" sz="2000" b="1" dirty="0">
              <a:solidFill>
                <a:srgbClr val="C48F22"/>
              </a:solidFill>
              <a:cs typeface="Microsoft Uighur" panose="02000000000000000000" pitchFamily="2" charset="-78"/>
            </a:endParaRPr>
          </a:p>
          <a:p>
            <a:pPr algn="ctr"/>
            <a:endParaRPr lang="en-US" sz="2800" b="1" dirty="0">
              <a:solidFill>
                <a:schemeClr val="bg1"/>
              </a:solidFill>
              <a:latin typeface="+mj-lt"/>
              <a:cs typeface="Microsoft Uighur" panose="02000000000000000000" pitchFamily="2" charset="-78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046149" y="3904319"/>
            <a:ext cx="246921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ar-OM" sz="2000" b="1" dirty="0">
                <a:solidFill>
                  <a:srgbClr val="C48F22"/>
                </a:solidFill>
                <a:cs typeface="Microsoft Uighur" panose="02000000000000000000" pitchFamily="2" charset="-78"/>
              </a:rPr>
              <a:t>المديرية العامة لإصابات العمل والأمراض المهنية والشؤون الطبية</a:t>
            </a:r>
            <a:endParaRPr lang="en-US" sz="2000" b="1" dirty="0">
              <a:solidFill>
                <a:srgbClr val="C48F22"/>
              </a:solidFill>
              <a:cs typeface="Microsoft Uighur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723447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5560D64F-6F4F-EAF0-BAB7-5E47E078B92D}"/>
              </a:ext>
            </a:extLst>
          </p:cNvPr>
          <p:cNvCxnSpPr>
            <a:cxnSpLocks/>
          </p:cNvCxnSpPr>
          <p:nvPr/>
        </p:nvCxnSpPr>
        <p:spPr>
          <a:xfrm flipH="1">
            <a:off x="4123897" y="1310279"/>
            <a:ext cx="6284259" cy="22197"/>
          </a:xfrm>
          <a:prstGeom prst="line">
            <a:avLst/>
          </a:prstGeom>
          <a:ln>
            <a:solidFill>
              <a:srgbClr val="C48F22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Slide Number Placeholder 3">
            <a:extLst>
              <a:ext uri="{FF2B5EF4-FFF2-40B4-BE49-F238E27FC236}">
                <a16:creationId xmlns:a16="http://schemas.microsoft.com/office/drawing/2014/main" id="{D355DCE6-5919-5FC0-A6CE-6D5C4B577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07687" y="151227"/>
            <a:ext cx="268357" cy="268357"/>
          </a:xfrm>
        </p:spPr>
        <p:txBody>
          <a:bodyPr lIns="0" tIns="0" rIns="0" bIns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78B827A-04A0-4CE7-9CB1-098404624EF8}" type="slidenum">
              <a:rPr kumimoji="0" lang="en-US" sz="10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ook Antiqua" panose="02040602050305030304" pitchFamily="18" charset="0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ok Antiqua" panose="02040602050305030304" pitchFamily="18" charset="0"/>
              <a:ea typeface="+mn-ea"/>
              <a:cs typeface="+mn-cs"/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3932159" y="236655"/>
            <a:ext cx="666773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OM" sz="3200" b="1" dirty="0" smtClean="0">
                <a:solidFill>
                  <a:srgbClr val="C48F22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أهم المؤشرات الإحصائية والإنجازات لصندوق الحماية الاجتماعية ( محافظة البريمي)</a:t>
            </a:r>
            <a:endParaRPr lang="en-US" sz="3200" b="1" dirty="0">
              <a:solidFill>
                <a:srgbClr val="C48F22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8461D46E-147C-49AA-1082-D50B53FFCC23}"/>
              </a:ext>
            </a:extLst>
          </p:cNvPr>
          <p:cNvSpPr/>
          <p:nvPr/>
        </p:nvSpPr>
        <p:spPr>
          <a:xfrm>
            <a:off x="457646" y="1531076"/>
            <a:ext cx="3218145" cy="4352859"/>
          </a:xfrm>
          <a:prstGeom prst="rect">
            <a:avLst/>
          </a:prstGeom>
          <a:solidFill>
            <a:srgbClr val="D8CFCE"/>
          </a:solidFill>
          <a:ln>
            <a:noFill/>
          </a:ln>
          <a:effectLst>
            <a:outerShdw blurRad="254000" sx="105000" sy="105000" algn="ctr" rotWithShape="0">
              <a:schemeClr val="tx1">
                <a:lumMod val="85000"/>
                <a:lumOff val="1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01" name="Group 100"/>
          <p:cNvGrpSpPr/>
          <p:nvPr/>
        </p:nvGrpSpPr>
        <p:grpSpPr>
          <a:xfrm>
            <a:off x="1243457" y="1882342"/>
            <a:ext cx="1486772" cy="1646820"/>
            <a:chOff x="5188801" y="2230785"/>
            <a:chExt cx="2279716" cy="2525125"/>
          </a:xfrm>
        </p:grpSpPr>
        <p:sp>
          <p:nvSpPr>
            <p:cNvPr id="102" name="Rectangle 101"/>
            <p:cNvSpPr/>
            <p:nvPr/>
          </p:nvSpPr>
          <p:spPr>
            <a:xfrm>
              <a:off x="5188801" y="3506294"/>
              <a:ext cx="2218266" cy="12496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ar-OM" sz="2348" b="1" dirty="0">
                  <a:solidFill>
                    <a:srgbClr val="013631"/>
                  </a:solidFill>
                  <a:latin typeface="Microsoft Uighur" panose="02000000000000000000" pitchFamily="2" charset="-78"/>
                  <a:cs typeface="Microsoft Uighur" panose="02000000000000000000" pitchFamily="2" charset="-78"/>
                </a:rPr>
                <a:t>إجمالي حجم الأعمال المنجزة </a:t>
              </a:r>
              <a:endParaRPr lang="ar-OM" sz="1044" b="1" dirty="0">
                <a:solidFill>
                  <a:srgbClr val="013631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endParaRPr>
            </a:p>
          </p:txBody>
        </p:sp>
        <p:sp>
          <p:nvSpPr>
            <p:cNvPr id="103" name="Rectangle 102"/>
            <p:cNvSpPr/>
            <p:nvPr/>
          </p:nvSpPr>
          <p:spPr>
            <a:xfrm>
              <a:off x="5373862" y="2230785"/>
              <a:ext cx="2094655" cy="108542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4000" b="1" dirty="0" smtClean="0">
                  <a:solidFill>
                    <a:srgbClr val="760000"/>
                  </a:solidFill>
                </a:rPr>
                <a:t>8</a:t>
              </a:r>
              <a:r>
                <a:rPr lang="ar-OM" sz="4000" b="1" dirty="0" smtClean="0">
                  <a:solidFill>
                    <a:srgbClr val="760000"/>
                  </a:solidFill>
                </a:rPr>
                <a:t>,</a:t>
              </a:r>
              <a:r>
                <a:rPr lang="en-US" sz="4000" b="1" dirty="0" smtClean="0">
                  <a:solidFill>
                    <a:srgbClr val="760000"/>
                  </a:solidFill>
                </a:rPr>
                <a:t>729</a:t>
              </a:r>
              <a:endParaRPr lang="en-US" sz="5218" dirty="0">
                <a:solidFill>
                  <a:schemeClr val="accent2">
                    <a:lumMod val="50000"/>
                  </a:schemeClr>
                </a:solidFill>
                <a:latin typeface="Microsoft Uighur" panose="02000000000000000000" pitchFamily="2" charset="-78"/>
                <a:cs typeface="Microsoft Uighur" panose="02000000000000000000" pitchFamily="2" charset="-78"/>
              </a:endParaRPr>
            </a:p>
          </p:txBody>
        </p:sp>
      </p:grpSp>
      <p:sp>
        <p:nvSpPr>
          <p:cNvPr id="104" name="Rectangle 103">
            <a:extLst>
              <a:ext uri="{FF2B5EF4-FFF2-40B4-BE49-F238E27FC236}">
                <a16:creationId xmlns:a16="http://schemas.microsoft.com/office/drawing/2014/main" id="{7C23099B-6F7C-4BBD-9F4E-A5126796931E}"/>
              </a:ext>
            </a:extLst>
          </p:cNvPr>
          <p:cNvSpPr/>
          <p:nvPr/>
        </p:nvSpPr>
        <p:spPr>
          <a:xfrm>
            <a:off x="470101" y="3902295"/>
            <a:ext cx="3187402" cy="764384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OM" sz="2200" b="1" dirty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المشاركة في </a:t>
            </a:r>
            <a:r>
              <a:rPr lang="en-GB" sz="3200" b="1" spc="33" dirty="0">
                <a:solidFill>
                  <a:srgbClr val="760000"/>
                </a:solidFill>
                <a:latin typeface="Microsoft Uighur" panose="02000000000000000000" pitchFamily="2" charset="-78"/>
                <a:ea typeface="Segoe UI" panose="020B0502040204020203" pitchFamily="34" charset="0"/>
                <a:cs typeface="Microsoft Uighur" panose="02000000000000000000" pitchFamily="2" charset="-78"/>
              </a:rPr>
              <a:t>15 </a:t>
            </a:r>
            <a:r>
              <a:rPr lang="ar-OM" sz="2200" b="1" dirty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 مبادرات تشغيلية</a:t>
            </a:r>
            <a:endParaRPr lang="en-US" sz="2200" b="1" dirty="0">
              <a:solidFill>
                <a:srgbClr val="760000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grpSp>
        <p:nvGrpSpPr>
          <p:cNvPr id="105" name="Group 104"/>
          <p:cNvGrpSpPr/>
          <p:nvPr/>
        </p:nvGrpSpPr>
        <p:grpSpPr>
          <a:xfrm>
            <a:off x="4024647" y="1531076"/>
            <a:ext cx="2358326" cy="1900845"/>
            <a:chOff x="1368125" y="1334911"/>
            <a:chExt cx="2358326" cy="1900845"/>
          </a:xfrm>
        </p:grpSpPr>
        <p:sp>
          <p:nvSpPr>
            <p:cNvPr id="106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1368125" y="1334911"/>
              <a:ext cx="2358326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>
                <a:solidFill>
                  <a:srgbClr val="DCD084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  <p:sp>
          <p:nvSpPr>
            <p:cNvPr id="107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1368125" y="2518030"/>
              <a:ext cx="2351437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إجمالي </a:t>
              </a:r>
              <a:r>
                <a:rPr lang="ar-OM" sz="2000" b="1" dirty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الخدمات الميدانية </a:t>
              </a:r>
              <a:endParaRPr lang="en-US" sz="20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108" name="Group 107"/>
          <p:cNvGrpSpPr/>
          <p:nvPr/>
        </p:nvGrpSpPr>
        <p:grpSpPr>
          <a:xfrm>
            <a:off x="6765863" y="1534638"/>
            <a:ext cx="2341531" cy="1900845"/>
            <a:chOff x="935333" y="1334911"/>
            <a:chExt cx="2341531" cy="1900845"/>
          </a:xfrm>
        </p:grpSpPr>
        <p:sp>
          <p:nvSpPr>
            <p:cNvPr id="109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341531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b="1" dirty="0" smtClean="0">
                  <a:solidFill>
                    <a:srgbClr val="C48F22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8</a:t>
              </a:r>
              <a:endParaRPr lang="en-US" sz="4400" b="1" dirty="0">
                <a:solidFill>
                  <a:srgbClr val="C48F22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  <p:sp>
          <p:nvSpPr>
            <p:cNvPr id="110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334642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المجموع الكلي للأنشطة الإعلامية</a:t>
              </a:r>
              <a:r>
                <a:rPr lang="ar-OM" sz="16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 </a:t>
              </a:r>
              <a:endParaRPr lang="en-US" sz="16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111" name="Group 110"/>
          <p:cNvGrpSpPr/>
          <p:nvPr/>
        </p:nvGrpSpPr>
        <p:grpSpPr>
          <a:xfrm>
            <a:off x="9459267" y="1531076"/>
            <a:ext cx="2348420" cy="1900845"/>
            <a:chOff x="935333" y="1334911"/>
            <a:chExt cx="2348420" cy="1900845"/>
          </a:xfrm>
        </p:grpSpPr>
        <p:sp>
          <p:nvSpPr>
            <p:cNvPr id="112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348420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4400" b="1" dirty="0" smtClean="0">
                  <a:solidFill>
                    <a:srgbClr val="C48F22"/>
                  </a:solidFill>
                  <a:latin typeface="+mj-lt"/>
                </a:rPr>
                <a:t>3,020</a:t>
              </a:r>
              <a:endParaRPr lang="ar-OM" sz="4400" b="1" dirty="0">
                <a:solidFill>
                  <a:srgbClr val="C48F22"/>
                </a:solidFill>
                <a:latin typeface="+mj-lt"/>
              </a:endParaRPr>
            </a:p>
          </p:txBody>
        </p:sp>
        <p:sp>
          <p:nvSpPr>
            <p:cNvPr id="113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341531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إجمالي حجم المعاملات </a:t>
              </a:r>
              <a:endParaRPr lang="en-US" sz="20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114" name="Group 113"/>
          <p:cNvGrpSpPr/>
          <p:nvPr/>
        </p:nvGrpSpPr>
        <p:grpSpPr>
          <a:xfrm>
            <a:off x="4024647" y="4053552"/>
            <a:ext cx="2358326" cy="1900845"/>
            <a:chOff x="935333" y="1334911"/>
            <a:chExt cx="2358326" cy="1900845"/>
          </a:xfrm>
        </p:grpSpPr>
        <p:sp>
          <p:nvSpPr>
            <p:cNvPr id="115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358326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b="1" dirty="0" smtClean="0">
                  <a:solidFill>
                    <a:srgbClr val="C48F22"/>
                  </a:solidFill>
                </a:rPr>
                <a:t>9</a:t>
              </a:r>
              <a:endParaRPr lang="en-US" sz="4400" b="1" dirty="0">
                <a:solidFill>
                  <a:srgbClr val="DCD084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  <p:sp>
          <p:nvSpPr>
            <p:cNvPr id="116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344548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المجموع الكلي للخدمات الاستباقية </a:t>
              </a:r>
              <a:endParaRPr lang="en-US" sz="20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117" name="Group 116"/>
          <p:cNvGrpSpPr/>
          <p:nvPr/>
        </p:nvGrpSpPr>
        <p:grpSpPr>
          <a:xfrm>
            <a:off x="9392103" y="4109968"/>
            <a:ext cx="2415584" cy="1900845"/>
            <a:chOff x="935333" y="1334911"/>
            <a:chExt cx="2415584" cy="1900845"/>
          </a:xfrm>
        </p:grpSpPr>
        <p:sp>
          <p:nvSpPr>
            <p:cNvPr id="118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415584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4400" b="1" dirty="0" smtClean="0">
                  <a:solidFill>
                    <a:srgbClr val="C48F22"/>
                  </a:solidFill>
                </a:rPr>
                <a:t>3,588</a:t>
              </a:r>
              <a:endParaRPr lang="en-US" sz="4400" b="1" dirty="0">
                <a:solidFill>
                  <a:srgbClr val="DCD084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  <p:sp>
          <p:nvSpPr>
            <p:cNvPr id="119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408695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المجموع الكلي لطلبات حجز المواعيد </a:t>
              </a:r>
              <a:endParaRPr lang="fr-FR" sz="20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120" name="Group 119"/>
          <p:cNvGrpSpPr/>
          <p:nvPr/>
        </p:nvGrpSpPr>
        <p:grpSpPr>
          <a:xfrm>
            <a:off x="6718051" y="4053552"/>
            <a:ext cx="2366946" cy="1900845"/>
            <a:chOff x="935333" y="1334911"/>
            <a:chExt cx="2366946" cy="1900845"/>
          </a:xfrm>
        </p:grpSpPr>
        <p:sp>
          <p:nvSpPr>
            <p:cNvPr id="121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366946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4400" b="1" dirty="0" smtClean="0">
                  <a:solidFill>
                    <a:srgbClr val="C48F22"/>
                  </a:solidFill>
                  <a:latin typeface="+mj-lt"/>
                </a:rPr>
                <a:t>1,291</a:t>
              </a:r>
              <a:endParaRPr lang="en-US" sz="4400" b="1" dirty="0">
                <a:solidFill>
                  <a:srgbClr val="DCD084"/>
                </a:solidFill>
                <a:latin typeface="+mj-lt"/>
                <a:cs typeface="Microsoft Uighur" panose="02000000000000000000" pitchFamily="2" charset="-78"/>
              </a:endParaRPr>
            </a:p>
          </p:txBody>
        </p:sp>
        <p:sp>
          <p:nvSpPr>
            <p:cNvPr id="122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360057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المجموع الكلي للخدمات الذاتية</a:t>
              </a:r>
              <a:endParaRPr lang="en-US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sp>
        <p:nvSpPr>
          <p:cNvPr id="123" name="Rectangle 122"/>
          <p:cNvSpPr/>
          <p:nvPr/>
        </p:nvSpPr>
        <p:spPr>
          <a:xfrm>
            <a:off x="4748371" y="1715620"/>
            <a:ext cx="1040670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 smtClean="0">
                <a:solidFill>
                  <a:srgbClr val="C48F22"/>
                </a:solidFill>
              </a:rPr>
              <a:t>813</a:t>
            </a:r>
            <a:endParaRPr lang="en-US" sz="4400" dirty="0"/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7C23099B-6F7C-4BBD-9F4E-A5126796931E}"/>
              </a:ext>
            </a:extLst>
          </p:cNvPr>
          <p:cNvSpPr/>
          <p:nvPr/>
        </p:nvSpPr>
        <p:spPr>
          <a:xfrm>
            <a:off x="457334" y="4790646"/>
            <a:ext cx="3208485" cy="740249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ar-OM" sz="3200" b="1" spc="33" dirty="0" smtClean="0">
                <a:solidFill>
                  <a:srgbClr val="760000"/>
                </a:solidFill>
                <a:latin typeface="Microsoft Uighur" panose="02000000000000000000" pitchFamily="2" charset="-78"/>
                <a:ea typeface="Segoe UI" panose="020B0502040204020203" pitchFamily="34" charset="0"/>
                <a:cs typeface="Microsoft Uighur" panose="02000000000000000000" pitchFamily="2" charset="-78"/>
              </a:rPr>
              <a:t>11</a:t>
            </a:r>
            <a:r>
              <a:rPr lang="ar-OM" sz="2200" b="1" dirty="0" smtClean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 موظف</a:t>
            </a:r>
            <a:endParaRPr lang="en-US" sz="2200" b="1" dirty="0">
              <a:solidFill>
                <a:srgbClr val="760000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4C6A0D7B-C2BD-55C2-BDE8-6DD2DE363709}"/>
              </a:ext>
            </a:extLst>
          </p:cNvPr>
          <p:cNvSpPr/>
          <p:nvPr/>
        </p:nvSpPr>
        <p:spPr>
          <a:xfrm>
            <a:off x="439356" y="446239"/>
            <a:ext cx="2720051" cy="500988"/>
          </a:xfrm>
          <a:prstGeom prst="rect">
            <a:avLst/>
          </a:prstGeom>
          <a:gradFill>
            <a:gsLst>
              <a:gs pos="0">
                <a:srgbClr val="241F21">
                  <a:alpha val="85000"/>
                </a:srgbClr>
              </a:gs>
              <a:gs pos="100000">
                <a:srgbClr val="241F21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7B702577-6522-C60A-9629-8528414077DB}"/>
              </a:ext>
            </a:extLst>
          </p:cNvPr>
          <p:cNvSpPr/>
          <p:nvPr/>
        </p:nvSpPr>
        <p:spPr>
          <a:xfrm>
            <a:off x="2651663" y="565177"/>
            <a:ext cx="1005840" cy="302020"/>
          </a:xfrm>
          <a:prstGeom prst="rect">
            <a:avLst/>
          </a:prstGeom>
          <a:solidFill>
            <a:srgbClr val="C48F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r-OM" sz="2000" b="1" dirty="0" smtClean="0">
                <a:solidFill>
                  <a:prstClr val="white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يوليو</a:t>
            </a:r>
            <a:r>
              <a:rPr kumimoji="0" lang="ar-OM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A8C8AB7D-86D5-F874-9DE3-98B5C7FC131B}"/>
              </a:ext>
            </a:extLst>
          </p:cNvPr>
          <p:cNvCxnSpPr/>
          <p:nvPr/>
        </p:nvCxnSpPr>
        <p:spPr>
          <a:xfrm>
            <a:off x="1201530" y="696733"/>
            <a:ext cx="181356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TextBox 127"/>
          <p:cNvSpPr txBox="1"/>
          <p:nvPr/>
        </p:nvSpPr>
        <p:spPr>
          <a:xfrm>
            <a:off x="656354" y="487206"/>
            <a:ext cx="718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OM" sz="2000" b="1" dirty="0" smtClean="0">
                <a:solidFill>
                  <a:prstClr val="white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سبتمبر </a:t>
            </a:r>
            <a:endParaRPr lang="en-US" sz="2000" b="1" dirty="0">
              <a:solidFill>
                <a:prstClr val="white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sp>
        <p:nvSpPr>
          <p:cNvPr id="34" name="Octagon 33">
            <a:extLst>
              <a:ext uri="{FF2B5EF4-FFF2-40B4-BE49-F238E27FC236}">
                <a16:creationId xmlns:a16="http://schemas.microsoft.com/office/drawing/2014/main" id="{8F86244E-E4BF-5A5A-2854-9EE6B1A483EE}"/>
              </a:ext>
            </a:extLst>
          </p:cNvPr>
          <p:cNvSpPr/>
          <p:nvPr/>
        </p:nvSpPr>
        <p:spPr>
          <a:xfrm>
            <a:off x="11766110" y="6372382"/>
            <a:ext cx="268357" cy="268357"/>
          </a:xfrm>
          <a:prstGeom prst="octagon">
            <a:avLst/>
          </a:prstGeom>
          <a:solidFill>
            <a:srgbClr val="CCA862"/>
          </a:solidFill>
          <a:ln>
            <a:noFill/>
          </a:ln>
          <a:effectLst>
            <a:outerShdw blurRad="127000" dist="635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5535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560D64F-6F4F-EAF0-BAB7-5E47E078B92D}"/>
              </a:ext>
            </a:extLst>
          </p:cNvPr>
          <p:cNvCxnSpPr>
            <a:cxnSpLocks/>
          </p:cNvCxnSpPr>
          <p:nvPr/>
        </p:nvCxnSpPr>
        <p:spPr>
          <a:xfrm flipH="1">
            <a:off x="4842277" y="1300317"/>
            <a:ext cx="5791200" cy="0"/>
          </a:xfrm>
          <a:prstGeom prst="line">
            <a:avLst/>
          </a:prstGeom>
          <a:ln>
            <a:solidFill>
              <a:srgbClr val="C48F22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2865007" y="205092"/>
            <a:ext cx="931566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OM" sz="3200" b="1" dirty="0" smtClean="0">
                <a:solidFill>
                  <a:srgbClr val="C48F22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أهم المؤشرات الإحصائية والإنجازات لصندوق الحماية الاجتماعية  </a:t>
            </a:r>
          </a:p>
          <a:p>
            <a:pPr algn="ctr"/>
            <a:r>
              <a:rPr lang="ar-OM" sz="3200" b="1" dirty="0" smtClean="0">
                <a:solidFill>
                  <a:srgbClr val="C48F22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(محافظة مسقط)  </a:t>
            </a:r>
            <a:endParaRPr lang="en-US" sz="3200" b="1" dirty="0">
              <a:solidFill>
                <a:srgbClr val="C48F22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1260674" y="2634603"/>
            <a:ext cx="1549857" cy="1597123"/>
            <a:chOff x="5215205" y="3384253"/>
            <a:chExt cx="2376448" cy="2448922"/>
          </a:xfrm>
        </p:grpSpPr>
        <p:sp>
          <p:nvSpPr>
            <p:cNvPr id="8" name="Rectangle 7"/>
            <p:cNvSpPr/>
            <p:nvPr/>
          </p:nvSpPr>
          <p:spPr>
            <a:xfrm>
              <a:off x="5373387" y="4583559"/>
              <a:ext cx="2218266" cy="12496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ar-OM" sz="2348" b="1" dirty="0">
                  <a:solidFill>
                    <a:srgbClr val="013631"/>
                  </a:solidFill>
                  <a:latin typeface="Microsoft Uighur" panose="02000000000000000000" pitchFamily="2" charset="-78"/>
                  <a:cs typeface="Microsoft Uighur" panose="02000000000000000000" pitchFamily="2" charset="-78"/>
                </a:rPr>
                <a:t>إجمالي حجم الأعمال المنجزة </a:t>
              </a:r>
              <a:endParaRPr lang="ar-OM" sz="1044" b="1" dirty="0">
                <a:solidFill>
                  <a:srgbClr val="013631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5215205" y="3384253"/>
              <a:ext cx="2148731" cy="137280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ar-OM" sz="5218" b="1" dirty="0" smtClean="0">
                  <a:solidFill>
                    <a:schemeClr val="accent2">
                      <a:lumMod val="50000"/>
                    </a:schemeClr>
                  </a:solidFill>
                  <a:latin typeface="Microsoft Uighur" panose="02000000000000000000" pitchFamily="2" charset="-78"/>
                  <a:ea typeface="SimSun" panose="02010600030101010101" pitchFamily="2" charset="-122"/>
                  <a:cs typeface="Microsoft Uighur" panose="02000000000000000000" pitchFamily="2" charset="-78"/>
                </a:rPr>
                <a:t>4,345 </a:t>
              </a:r>
              <a:endParaRPr lang="en-US" sz="5218" dirty="0">
                <a:solidFill>
                  <a:schemeClr val="accent2">
                    <a:lumMod val="50000"/>
                  </a:schemeClr>
                </a:solidFill>
                <a:latin typeface="Microsoft Uighur" panose="02000000000000000000" pitchFamily="2" charset="-78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4024647" y="1531076"/>
            <a:ext cx="2358326" cy="1900845"/>
            <a:chOff x="1368125" y="1334911"/>
            <a:chExt cx="2358326" cy="1900845"/>
          </a:xfrm>
        </p:grpSpPr>
        <p:sp>
          <p:nvSpPr>
            <p:cNvPr id="11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1368125" y="1334911"/>
              <a:ext cx="2358326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>
                <a:solidFill>
                  <a:srgbClr val="DCD084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  <p:sp>
          <p:nvSpPr>
            <p:cNvPr id="12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1368125" y="2518030"/>
              <a:ext cx="2351437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إجمالي </a:t>
              </a:r>
              <a:r>
                <a:rPr lang="ar-OM" sz="2000" b="1" dirty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الخدمات الميدانية </a:t>
              </a:r>
              <a:endParaRPr lang="en-US" sz="20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6743466" y="1531076"/>
            <a:ext cx="2341531" cy="1900845"/>
            <a:chOff x="935333" y="1334911"/>
            <a:chExt cx="2341531" cy="1900845"/>
          </a:xfrm>
        </p:grpSpPr>
        <p:sp>
          <p:nvSpPr>
            <p:cNvPr id="14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341531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b="1" dirty="0" smtClean="0">
                  <a:solidFill>
                    <a:srgbClr val="C48F22"/>
                  </a:solidFill>
                </a:rPr>
                <a:t>5</a:t>
              </a:r>
              <a:endParaRPr lang="en-US" sz="4400" b="1" dirty="0">
                <a:solidFill>
                  <a:srgbClr val="DCD084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  <p:sp>
          <p:nvSpPr>
            <p:cNvPr id="15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334642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المجموع الكلي للأنشطة الإعلامية</a:t>
              </a:r>
              <a:r>
                <a:rPr lang="ar-OM" sz="16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 </a:t>
              </a:r>
              <a:endParaRPr lang="en-US" sz="16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9459267" y="1531076"/>
            <a:ext cx="2348420" cy="1900845"/>
            <a:chOff x="935333" y="1334911"/>
            <a:chExt cx="2348420" cy="1900845"/>
          </a:xfrm>
        </p:grpSpPr>
        <p:sp>
          <p:nvSpPr>
            <p:cNvPr id="17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348420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b="1" dirty="0" smtClean="0">
                  <a:solidFill>
                    <a:srgbClr val="C48F22"/>
                  </a:solidFill>
                </a:rPr>
                <a:t>18</a:t>
              </a:r>
              <a:r>
                <a:rPr lang="ar-OM" sz="4400" b="1" dirty="0" smtClean="0">
                  <a:solidFill>
                    <a:srgbClr val="C48F22"/>
                  </a:solidFill>
                </a:rPr>
                <a:t>,</a:t>
              </a:r>
              <a:r>
                <a:rPr lang="en-US" sz="4400" b="1" dirty="0" smtClean="0">
                  <a:solidFill>
                    <a:srgbClr val="C48F22"/>
                  </a:solidFill>
                </a:rPr>
                <a:t>049</a:t>
              </a:r>
              <a:endParaRPr lang="en-US" sz="4400" b="1" dirty="0">
                <a:solidFill>
                  <a:srgbClr val="DCD084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  <p:sp>
          <p:nvSpPr>
            <p:cNvPr id="18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341531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إجمالي حجم المعاملات </a:t>
              </a:r>
              <a:endParaRPr lang="en-US" sz="20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3995535" y="4076255"/>
            <a:ext cx="2358326" cy="1900845"/>
            <a:chOff x="935333" y="1334911"/>
            <a:chExt cx="2358326" cy="1900845"/>
          </a:xfrm>
        </p:grpSpPr>
        <p:sp>
          <p:nvSpPr>
            <p:cNvPr id="20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358326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b="1" dirty="0" smtClean="0">
                  <a:solidFill>
                    <a:srgbClr val="C48F22"/>
                  </a:solidFill>
                </a:rPr>
                <a:t>335</a:t>
              </a:r>
              <a:endParaRPr lang="en-US" sz="4400" b="1" dirty="0">
                <a:solidFill>
                  <a:srgbClr val="C48F22"/>
                </a:solidFill>
              </a:endParaRPr>
            </a:p>
          </p:txBody>
        </p:sp>
        <p:sp>
          <p:nvSpPr>
            <p:cNvPr id="21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344548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المجموع الكلي للخدمات الاستباقية </a:t>
              </a:r>
              <a:endParaRPr lang="en-US" sz="20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9350526" y="4076255"/>
            <a:ext cx="2457161" cy="1934558"/>
            <a:chOff x="893756" y="1301198"/>
            <a:chExt cx="2457161" cy="1934558"/>
          </a:xfrm>
        </p:grpSpPr>
        <p:sp>
          <p:nvSpPr>
            <p:cNvPr id="23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893756" y="1301198"/>
              <a:ext cx="2415584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b="1" dirty="0" smtClean="0">
                  <a:solidFill>
                    <a:srgbClr val="C48F22"/>
                  </a:solidFill>
                </a:rPr>
                <a:t>15</a:t>
              </a:r>
              <a:r>
                <a:rPr lang="ar-OM" sz="4400" b="1" dirty="0" smtClean="0">
                  <a:solidFill>
                    <a:srgbClr val="C48F22"/>
                  </a:solidFill>
                </a:rPr>
                <a:t>,</a:t>
              </a:r>
              <a:r>
                <a:rPr lang="en-US" sz="4400" b="1" dirty="0" smtClean="0">
                  <a:solidFill>
                    <a:srgbClr val="C48F22"/>
                  </a:solidFill>
                </a:rPr>
                <a:t>608</a:t>
              </a:r>
              <a:endParaRPr lang="en-US" sz="4400" b="1" dirty="0">
                <a:solidFill>
                  <a:srgbClr val="C48F22"/>
                </a:solidFill>
              </a:endParaRPr>
            </a:p>
          </p:txBody>
        </p:sp>
        <p:sp>
          <p:nvSpPr>
            <p:cNvPr id="24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408695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المجموع الكلي لطلبات حجز المواعيد </a:t>
              </a:r>
              <a:endParaRPr lang="fr-FR" sz="20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6718051" y="4003855"/>
            <a:ext cx="2366946" cy="1900845"/>
            <a:chOff x="935333" y="1334911"/>
            <a:chExt cx="2366946" cy="1900845"/>
          </a:xfrm>
        </p:grpSpPr>
        <p:sp>
          <p:nvSpPr>
            <p:cNvPr id="26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366946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b="1" dirty="0" smtClean="0">
                  <a:solidFill>
                    <a:srgbClr val="C48F22"/>
                  </a:solidFill>
                </a:rPr>
                <a:t>1</a:t>
              </a:r>
              <a:r>
                <a:rPr lang="ar-OM" sz="4400" b="1" dirty="0" smtClean="0">
                  <a:solidFill>
                    <a:srgbClr val="C48F22"/>
                  </a:solidFill>
                </a:rPr>
                <a:t>,</a:t>
              </a:r>
              <a:r>
                <a:rPr lang="en-US" sz="4400" b="1" dirty="0" smtClean="0">
                  <a:solidFill>
                    <a:srgbClr val="C48F22"/>
                  </a:solidFill>
                </a:rPr>
                <a:t>783</a:t>
              </a:r>
              <a:endParaRPr lang="en-US" sz="4400" b="1" dirty="0">
                <a:solidFill>
                  <a:srgbClr val="C48F22"/>
                </a:solidFill>
              </a:endParaRPr>
            </a:p>
          </p:txBody>
        </p:sp>
        <p:sp>
          <p:nvSpPr>
            <p:cNvPr id="27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360057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المجموع الكلي للخدمات الذاتية</a:t>
              </a:r>
              <a:endParaRPr lang="en-US" sz="20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sp>
        <p:nvSpPr>
          <p:cNvPr id="28" name="Rectangle 27"/>
          <p:cNvSpPr/>
          <p:nvPr/>
        </p:nvSpPr>
        <p:spPr>
          <a:xfrm>
            <a:off x="4437478" y="1685344"/>
            <a:ext cx="148309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 smtClean="0">
                <a:solidFill>
                  <a:srgbClr val="C48F22"/>
                </a:solidFill>
              </a:rPr>
              <a:t>1</a:t>
            </a:r>
            <a:r>
              <a:rPr lang="ar-OM" sz="4400" b="1" dirty="0" smtClean="0">
                <a:solidFill>
                  <a:srgbClr val="C48F22"/>
                </a:solidFill>
              </a:rPr>
              <a:t>,</a:t>
            </a:r>
            <a:r>
              <a:rPr lang="en-US" sz="4400" b="1" dirty="0" smtClean="0">
                <a:solidFill>
                  <a:srgbClr val="C48F22"/>
                </a:solidFill>
              </a:rPr>
              <a:t>559</a:t>
            </a:r>
            <a:endParaRPr lang="en-US" sz="44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461D46E-147C-49AA-1082-D50B53FFCC23}"/>
              </a:ext>
            </a:extLst>
          </p:cNvPr>
          <p:cNvSpPr/>
          <p:nvPr/>
        </p:nvSpPr>
        <p:spPr>
          <a:xfrm>
            <a:off x="511861" y="1544567"/>
            <a:ext cx="3218145" cy="4352859"/>
          </a:xfrm>
          <a:prstGeom prst="rect">
            <a:avLst/>
          </a:prstGeom>
          <a:solidFill>
            <a:srgbClr val="D8CFCE"/>
          </a:solidFill>
          <a:ln>
            <a:noFill/>
          </a:ln>
          <a:effectLst>
            <a:outerShdw blurRad="254000" sx="105000" sy="105000" algn="ctr" rotWithShape="0">
              <a:schemeClr val="tx1">
                <a:lumMod val="85000"/>
                <a:lumOff val="1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0" name="Group 29"/>
          <p:cNvGrpSpPr/>
          <p:nvPr/>
        </p:nvGrpSpPr>
        <p:grpSpPr>
          <a:xfrm>
            <a:off x="1246317" y="1891623"/>
            <a:ext cx="1625766" cy="1613121"/>
            <a:chOff x="5200997" y="3415806"/>
            <a:chExt cx="2492839" cy="2473452"/>
          </a:xfrm>
        </p:grpSpPr>
        <p:sp>
          <p:nvSpPr>
            <p:cNvPr id="31" name="Rectangle 30"/>
            <p:cNvSpPr/>
            <p:nvPr/>
          </p:nvSpPr>
          <p:spPr>
            <a:xfrm>
              <a:off x="5429470" y="4639642"/>
              <a:ext cx="2218266" cy="12496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ar-OM" sz="2348" b="1" dirty="0">
                  <a:solidFill>
                    <a:srgbClr val="013631"/>
                  </a:solidFill>
                  <a:latin typeface="Microsoft Uighur" panose="02000000000000000000" pitchFamily="2" charset="-78"/>
                  <a:cs typeface="Microsoft Uighur" panose="02000000000000000000" pitchFamily="2" charset="-78"/>
                </a:rPr>
                <a:t>إجمالي حجم الأعمال المنجزة </a:t>
              </a:r>
              <a:endParaRPr lang="ar-OM" sz="1044" b="1" dirty="0">
                <a:solidFill>
                  <a:srgbClr val="013631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endParaRP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5200997" y="3415806"/>
              <a:ext cx="2492839" cy="108542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4000" b="1" dirty="0" smtClean="0">
                  <a:solidFill>
                    <a:srgbClr val="760000"/>
                  </a:solidFill>
                </a:rPr>
                <a:t>37</a:t>
              </a:r>
              <a:r>
                <a:rPr lang="ar-OM" sz="4000" b="1" dirty="0" smtClean="0">
                  <a:solidFill>
                    <a:srgbClr val="760000"/>
                  </a:solidFill>
                </a:rPr>
                <a:t>,</a:t>
              </a:r>
              <a:r>
                <a:rPr lang="en-US" sz="4000" b="1" dirty="0" smtClean="0">
                  <a:solidFill>
                    <a:srgbClr val="760000"/>
                  </a:solidFill>
                </a:rPr>
                <a:t>339</a:t>
              </a:r>
              <a:endParaRPr lang="en-US" sz="5218" dirty="0">
                <a:solidFill>
                  <a:schemeClr val="accent2">
                    <a:lumMod val="50000"/>
                  </a:schemeClr>
                </a:solidFill>
                <a:latin typeface="Microsoft Uighur" panose="02000000000000000000" pitchFamily="2" charset="-78"/>
                <a:cs typeface="Microsoft Uighur" panose="02000000000000000000" pitchFamily="2" charset="-78"/>
              </a:endParaRPr>
            </a:p>
          </p:txBody>
        </p: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7C23099B-6F7C-4BBD-9F4E-A5126796931E}"/>
              </a:ext>
            </a:extLst>
          </p:cNvPr>
          <p:cNvSpPr/>
          <p:nvPr/>
        </p:nvSpPr>
        <p:spPr>
          <a:xfrm>
            <a:off x="521521" y="3938984"/>
            <a:ext cx="3208485" cy="740249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OM" sz="2200" b="1" dirty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المشاركة في </a:t>
            </a:r>
            <a:r>
              <a:rPr lang="en-GB" sz="3200" b="1" spc="33" dirty="0">
                <a:solidFill>
                  <a:srgbClr val="760000"/>
                </a:solidFill>
                <a:latin typeface="Microsoft Uighur" panose="02000000000000000000" pitchFamily="2" charset="-78"/>
                <a:ea typeface="Segoe UI" panose="020B0502040204020203" pitchFamily="34" charset="0"/>
                <a:cs typeface="Microsoft Uighur" panose="02000000000000000000" pitchFamily="2" charset="-78"/>
              </a:rPr>
              <a:t>12</a:t>
            </a:r>
            <a:r>
              <a:rPr lang="en-GB" sz="3200" b="1" spc="33" dirty="0" smtClean="0">
                <a:solidFill>
                  <a:srgbClr val="760000"/>
                </a:solidFill>
                <a:latin typeface="Microsoft Uighur" panose="02000000000000000000" pitchFamily="2" charset="-78"/>
                <a:ea typeface="Segoe UI" panose="020B0502040204020203" pitchFamily="34" charset="0"/>
                <a:cs typeface="Microsoft Uighur" panose="02000000000000000000" pitchFamily="2" charset="-78"/>
              </a:rPr>
              <a:t> </a:t>
            </a:r>
            <a:r>
              <a:rPr lang="ar-OM" sz="2200" b="1" dirty="0" smtClean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 </a:t>
            </a:r>
            <a:r>
              <a:rPr lang="ar-OM" sz="2200" b="1" dirty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مبادرات تشغيلية</a:t>
            </a:r>
            <a:endParaRPr lang="en-US" sz="2200" b="1" dirty="0">
              <a:solidFill>
                <a:srgbClr val="760000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C23099B-6F7C-4BBD-9F4E-A5126796931E}"/>
              </a:ext>
            </a:extLst>
          </p:cNvPr>
          <p:cNvSpPr/>
          <p:nvPr/>
        </p:nvSpPr>
        <p:spPr>
          <a:xfrm>
            <a:off x="521521" y="4790646"/>
            <a:ext cx="3208485" cy="740249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ar-OM" sz="3200" b="1" spc="33" dirty="0">
                <a:solidFill>
                  <a:srgbClr val="760000"/>
                </a:solidFill>
                <a:latin typeface="Microsoft Uighur" panose="02000000000000000000" pitchFamily="2" charset="-78"/>
                <a:ea typeface="Segoe UI" panose="020B0502040204020203" pitchFamily="34" charset="0"/>
                <a:cs typeface="Microsoft Uighur" panose="02000000000000000000" pitchFamily="2" charset="-78"/>
              </a:rPr>
              <a:t>23</a:t>
            </a:r>
            <a:r>
              <a:rPr lang="ar-OM" sz="2200" b="1" dirty="0" smtClean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 موظف</a:t>
            </a:r>
            <a:endParaRPr lang="en-US" sz="2200" b="1" dirty="0">
              <a:solidFill>
                <a:srgbClr val="760000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sp>
        <p:nvSpPr>
          <p:cNvPr id="39" name="Octagon 38">
            <a:extLst>
              <a:ext uri="{FF2B5EF4-FFF2-40B4-BE49-F238E27FC236}">
                <a16:creationId xmlns:a16="http://schemas.microsoft.com/office/drawing/2014/main" id="{8F86244E-E4BF-5A5A-2854-9EE6B1A483EE}"/>
              </a:ext>
            </a:extLst>
          </p:cNvPr>
          <p:cNvSpPr/>
          <p:nvPr/>
        </p:nvSpPr>
        <p:spPr>
          <a:xfrm>
            <a:off x="11766110" y="6358527"/>
            <a:ext cx="268357" cy="268357"/>
          </a:xfrm>
          <a:prstGeom prst="octagon">
            <a:avLst/>
          </a:prstGeom>
          <a:solidFill>
            <a:srgbClr val="CCA862"/>
          </a:solidFill>
          <a:ln>
            <a:noFill/>
          </a:ln>
          <a:effectLst>
            <a:outerShdw blurRad="127000" dist="635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C6A0D7B-C2BD-55C2-BDE8-6DD2DE363709}"/>
              </a:ext>
            </a:extLst>
          </p:cNvPr>
          <p:cNvSpPr/>
          <p:nvPr/>
        </p:nvSpPr>
        <p:spPr>
          <a:xfrm>
            <a:off x="439356" y="446239"/>
            <a:ext cx="2720051" cy="500988"/>
          </a:xfrm>
          <a:prstGeom prst="rect">
            <a:avLst/>
          </a:prstGeom>
          <a:gradFill>
            <a:gsLst>
              <a:gs pos="0">
                <a:srgbClr val="241F21">
                  <a:alpha val="85000"/>
                </a:srgbClr>
              </a:gs>
              <a:gs pos="100000">
                <a:srgbClr val="241F21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B702577-6522-C60A-9629-8528414077DB}"/>
              </a:ext>
            </a:extLst>
          </p:cNvPr>
          <p:cNvSpPr/>
          <p:nvPr/>
        </p:nvSpPr>
        <p:spPr>
          <a:xfrm>
            <a:off x="2651663" y="565177"/>
            <a:ext cx="1005840" cy="302020"/>
          </a:xfrm>
          <a:prstGeom prst="rect">
            <a:avLst/>
          </a:prstGeom>
          <a:solidFill>
            <a:srgbClr val="C48F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r-OM" sz="2000" b="1" dirty="0" smtClean="0">
                <a:solidFill>
                  <a:prstClr val="white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يوليو</a:t>
            </a:r>
            <a:r>
              <a:rPr kumimoji="0" lang="ar-OM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A8C8AB7D-86D5-F874-9DE3-98B5C7FC131B}"/>
              </a:ext>
            </a:extLst>
          </p:cNvPr>
          <p:cNvCxnSpPr/>
          <p:nvPr/>
        </p:nvCxnSpPr>
        <p:spPr>
          <a:xfrm>
            <a:off x="1201530" y="696733"/>
            <a:ext cx="181356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656354" y="487206"/>
            <a:ext cx="718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OM" sz="2000" b="1" dirty="0" smtClean="0">
                <a:solidFill>
                  <a:prstClr val="white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سبتمبر </a:t>
            </a:r>
            <a:endParaRPr lang="en-US" sz="2000" b="1" dirty="0">
              <a:solidFill>
                <a:prstClr val="white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81803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lide Number Placeholder 3">
            <a:extLst>
              <a:ext uri="{FF2B5EF4-FFF2-40B4-BE49-F238E27FC236}">
                <a16:creationId xmlns:a16="http://schemas.microsoft.com/office/drawing/2014/main" id="{D355DCE6-5919-5FC0-A6CE-6D5C4B577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07687" y="151227"/>
            <a:ext cx="268357" cy="268357"/>
          </a:xfrm>
        </p:spPr>
        <p:txBody>
          <a:bodyPr lIns="0" tIns="0" rIns="0" bIns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78B827A-04A0-4CE7-9CB1-098404624EF8}" type="slidenum">
              <a:rPr kumimoji="0" lang="en-US" sz="10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ook Antiqua" panose="02040602050305030304" pitchFamily="18" charset="0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ok Antiqua" panose="02040602050305030304" pitchFamily="18" charset="0"/>
              <a:ea typeface="+mn-ea"/>
              <a:cs typeface="+mn-c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3374013" y="285362"/>
            <a:ext cx="905502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OM" sz="3200" b="1" dirty="0" smtClean="0">
                <a:solidFill>
                  <a:srgbClr val="C48F22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أهم المؤشرات الإحصائية والإنجازات لصندوق الحماية الاجتماعية</a:t>
            </a:r>
          </a:p>
          <a:p>
            <a:pPr algn="ctr"/>
            <a:r>
              <a:rPr lang="ar-OM" sz="3200" b="1" dirty="0" smtClean="0">
                <a:solidFill>
                  <a:srgbClr val="C48F22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 ( محافظة جنوب الباطنة)</a:t>
            </a:r>
            <a:endParaRPr lang="en-US" sz="3200" b="1" dirty="0">
              <a:solidFill>
                <a:srgbClr val="C48F22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461D46E-147C-49AA-1082-D50B53FFCC23}"/>
              </a:ext>
            </a:extLst>
          </p:cNvPr>
          <p:cNvSpPr/>
          <p:nvPr/>
        </p:nvSpPr>
        <p:spPr>
          <a:xfrm>
            <a:off x="222372" y="1349891"/>
            <a:ext cx="3218145" cy="4352859"/>
          </a:xfrm>
          <a:prstGeom prst="rect">
            <a:avLst/>
          </a:prstGeom>
          <a:solidFill>
            <a:srgbClr val="D8CFCE"/>
          </a:solidFill>
          <a:ln>
            <a:noFill/>
          </a:ln>
          <a:effectLst>
            <a:outerShdw blurRad="254000" sx="105000" sy="105000" algn="ctr" rotWithShape="0">
              <a:schemeClr val="tx1">
                <a:lumMod val="85000"/>
                <a:lumOff val="1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40" name="Group 39"/>
          <p:cNvGrpSpPr/>
          <p:nvPr/>
        </p:nvGrpSpPr>
        <p:grpSpPr>
          <a:xfrm>
            <a:off x="1083144" y="1976272"/>
            <a:ext cx="1782860" cy="1610996"/>
            <a:chOff x="4942993" y="2374814"/>
            <a:chExt cx="2733719" cy="2470197"/>
          </a:xfrm>
        </p:grpSpPr>
        <p:sp>
          <p:nvSpPr>
            <p:cNvPr id="41" name="Rectangle 40"/>
            <p:cNvSpPr/>
            <p:nvPr/>
          </p:nvSpPr>
          <p:spPr>
            <a:xfrm>
              <a:off x="5151483" y="3595395"/>
              <a:ext cx="2218266" cy="12496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ar-OM" sz="2348" b="1" dirty="0">
                  <a:solidFill>
                    <a:srgbClr val="013631"/>
                  </a:solidFill>
                  <a:latin typeface="Microsoft Uighur" panose="02000000000000000000" pitchFamily="2" charset="-78"/>
                  <a:cs typeface="Microsoft Uighur" panose="02000000000000000000" pitchFamily="2" charset="-78"/>
                </a:rPr>
                <a:t>إجمالي حجم الأعمال المنجزة </a:t>
              </a:r>
              <a:endParaRPr lang="ar-OM" sz="1044" b="1" dirty="0">
                <a:solidFill>
                  <a:srgbClr val="013631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endParaRPr>
            </a:p>
          </p:txBody>
        </p:sp>
        <p:sp>
          <p:nvSpPr>
            <p:cNvPr id="42" name="Rectangle 41"/>
            <p:cNvSpPr/>
            <p:nvPr/>
          </p:nvSpPr>
          <p:spPr>
            <a:xfrm>
              <a:off x="4942993" y="2374814"/>
              <a:ext cx="2733719" cy="141577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4000" b="1" dirty="0" smtClean="0">
                  <a:solidFill>
                    <a:srgbClr val="760000"/>
                  </a:solidFill>
                </a:rPr>
                <a:t>12</a:t>
              </a:r>
              <a:r>
                <a:rPr lang="ar-OM" sz="4000" b="1" dirty="0">
                  <a:solidFill>
                    <a:srgbClr val="760000"/>
                  </a:solidFill>
                </a:rPr>
                <a:t>,</a:t>
              </a:r>
              <a:r>
                <a:rPr lang="en-US" sz="4000" b="1" dirty="0" smtClean="0">
                  <a:solidFill>
                    <a:srgbClr val="760000"/>
                  </a:solidFill>
                </a:rPr>
                <a:t>397</a:t>
              </a:r>
              <a:r>
                <a:rPr lang="en-US" sz="5400" dirty="0" smtClean="0"/>
                <a:t> </a:t>
              </a:r>
              <a:endParaRPr lang="en-US" sz="5218" dirty="0">
                <a:solidFill>
                  <a:schemeClr val="accent2">
                    <a:lumMod val="50000"/>
                  </a:schemeClr>
                </a:solidFill>
                <a:latin typeface="Microsoft Uighur" panose="02000000000000000000" pitchFamily="2" charset="-78"/>
                <a:cs typeface="Microsoft Uighur" panose="02000000000000000000" pitchFamily="2" charset="-78"/>
              </a:endParaRPr>
            </a:p>
          </p:txBody>
        </p:sp>
      </p:grpSp>
      <p:sp>
        <p:nvSpPr>
          <p:cNvPr id="43" name="Rectangle 42">
            <a:extLst>
              <a:ext uri="{FF2B5EF4-FFF2-40B4-BE49-F238E27FC236}">
                <a16:creationId xmlns:a16="http://schemas.microsoft.com/office/drawing/2014/main" id="{7C23099B-6F7C-4BBD-9F4E-A5126796931E}"/>
              </a:ext>
            </a:extLst>
          </p:cNvPr>
          <p:cNvSpPr/>
          <p:nvPr/>
        </p:nvSpPr>
        <p:spPr>
          <a:xfrm>
            <a:off x="222372" y="3914849"/>
            <a:ext cx="3187402" cy="764384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OM" sz="2200" b="1" dirty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المشاركة في </a:t>
            </a:r>
            <a:r>
              <a:rPr lang="en-GB" sz="3200" b="1" spc="33" dirty="0">
                <a:solidFill>
                  <a:srgbClr val="760000"/>
                </a:solidFill>
                <a:latin typeface="Microsoft Uighur" panose="02000000000000000000" pitchFamily="2" charset="-78"/>
                <a:ea typeface="Segoe UI" panose="020B0502040204020203" pitchFamily="34" charset="0"/>
                <a:cs typeface="Microsoft Uighur" panose="02000000000000000000" pitchFamily="2" charset="-78"/>
              </a:rPr>
              <a:t>15</a:t>
            </a:r>
            <a:r>
              <a:rPr lang="en-GB" sz="3200" b="1" spc="33" dirty="0" smtClean="0">
                <a:solidFill>
                  <a:srgbClr val="760000"/>
                </a:solidFill>
                <a:latin typeface="Microsoft Uighur" panose="02000000000000000000" pitchFamily="2" charset="-78"/>
                <a:ea typeface="Segoe UI" panose="020B0502040204020203" pitchFamily="34" charset="0"/>
                <a:cs typeface="Microsoft Uighur" panose="02000000000000000000" pitchFamily="2" charset="-78"/>
              </a:rPr>
              <a:t> </a:t>
            </a:r>
            <a:r>
              <a:rPr lang="ar-OM" sz="2200" b="1" dirty="0" smtClean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 </a:t>
            </a:r>
            <a:r>
              <a:rPr lang="ar-OM" sz="2200" b="1" dirty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مبادرات تشغيلية</a:t>
            </a:r>
            <a:endParaRPr lang="en-US" sz="2200" b="1" dirty="0">
              <a:solidFill>
                <a:srgbClr val="760000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grpSp>
        <p:nvGrpSpPr>
          <p:cNvPr id="44" name="Group 43"/>
          <p:cNvGrpSpPr/>
          <p:nvPr/>
        </p:nvGrpSpPr>
        <p:grpSpPr>
          <a:xfrm>
            <a:off x="4024647" y="1531076"/>
            <a:ext cx="2358326" cy="1900845"/>
            <a:chOff x="1368125" y="1334911"/>
            <a:chExt cx="2358326" cy="1900845"/>
          </a:xfrm>
        </p:grpSpPr>
        <p:sp>
          <p:nvSpPr>
            <p:cNvPr id="45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1368125" y="1334911"/>
              <a:ext cx="2358326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>
                <a:solidFill>
                  <a:srgbClr val="DCD084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  <p:sp>
          <p:nvSpPr>
            <p:cNvPr id="46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1368125" y="2518030"/>
              <a:ext cx="2351437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إجمالي </a:t>
              </a:r>
              <a:r>
                <a:rPr lang="ar-OM" sz="2000" b="1" dirty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الخدمات الميدانية </a:t>
              </a:r>
              <a:endParaRPr lang="en-US" sz="20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47" name="Group 46"/>
          <p:cNvGrpSpPr/>
          <p:nvPr/>
        </p:nvGrpSpPr>
        <p:grpSpPr>
          <a:xfrm>
            <a:off x="6743466" y="1531076"/>
            <a:ext cx="2341531" cy="1900845"/>
            <a:chOff x="935333" y="1334911"/>
            <a:chExt cx="2341531" cy="1900845"/>
          </a:xfrm>
        </p:grpSpPr>
        <p:sp>
          <p:nvSpPr>
            <p:cNvPr id="48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341531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b="1" dirty="0" smtClean="0">
                  <a:solidFill>
                    <a:srgbClr val="C48F22"/>
                  </a:solidFill>
                </a:rPr>
                <a:t>41</a:t>
              </a:r>
              <a:endParaRPr lang="en-US" sz="4400" b="1" dirty="0">
                <a:solidFill>
                  <a:srgbClr val="DCD084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  <p:sp>
          <p:nvSpPr>
            <p:cNvPr id="49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334642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المجموع الكلي للأنشطة الإعلامية</a:t>
              </a:r>
              <a:r>
                <a:rPr lang="ar-OM" sz="16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 </a:t>
              </a:r>
              <a:endParaRPr lang="en-US" sz="16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50" name="Group 49"/>
          <p:cNvGrpSpPr/>
          <p:nvPr/>
        </p:nvGrpSpPr>
        <p:grpSpPr>
          <a:xfrm>
            <a:off x="9459267" y="1531076"/>
            <a:ext cx="2348420" cy="1900845"/>
            <a:chOff x="935333" y="1334911"/>
            <a:chExt cx="2348420" cy="1900845"/>
          </a:xfrm>
        </p:grpSpPr>
        <p:sp>
          <p:nvSpPr>
            <p:cNvPr id="51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348420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b="1" dirty="0" smtClean="0">
                  <a:solidFill>
                    <a:srgbClr val="C48F22"/>
                  </a:solidFill>
                </a:rPr>
                <a:t>4</a:t>
              </a:r>
              <a:r>
                <a:rPr lang="ar-OM" sz="4400" b="1" dirty="0" smtClean="0">
                  <a:solidFill>
                    <a:srgbClr val="C48F22"/>
                  </a:solidFill>
                </a:rPr>
                <a:t>,</a:t>
              </a:r>
              <a:r>
                <a:rPr lang="en-US" sz="4400" b="1" dirty="0" smtClean="0">
                  <a:solidFill>
                    <a:srgbClr val="C48F22"/>
                  </a:solidFill>
                </a:rPr>
                <a:t>702</a:t>
              </a:r>
              <a:endParaRPr lang="en-US" sz="4400" b="1" dirty="0">
                <a:solidFill>
                  <a:srgbClr val="DCD084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  <p:sp>
          <p:nvSpPr>
            <p:cNvPr id="52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341531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إجمالي حجم المعاملات </a:t>
              </a:r>
              <a:endParaRPr lang="en-US" sz="20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53" name="Group 52"/>
          <p:cNvGrpSpPr/>
          <p:nvPr/>
        </p:nvGrpSpPr>
        <p:grpSpPr>
          <a:xfrm>
            <a:off x="4031536" y="4154557"/>
            <a:ext cx="2344548" cy="1799840"/>
            <a:chOff x="942222" y="1366338"/>
            <a:chExt cx="2344548" cy="1869418"/>
          </a:xfrm>
        </p:grpSpPr>
        <p:sp>
          <p:nvSpPr>
            <p:cNvPr id="54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1366338"/>
              <a:ext cx="2344548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b="1" dirty="0" smtClean="0">
                  <a:solidFill>
                    <a:srgbClr val="C48F22"/>
                  </a:solidFill>
                </a:rPr>
                <a:t>22</a:t>
              </a:r>
              <a:endParaRPr lang="en-US" sz="4400" b="1" dirty="0">
                <a:solidFill>
                  <a:srgbClr val="DCD084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  <p:sp>
          <p:nvSpPr>
            <p:cNvPr id="55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344548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المجموع الكلي للخدمات الاستباقية </a:t>
              </a:r>
              <a:endParaRPr lang="en-US" sz="20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56" name="Group 55"/>
          <p:cNvGrpSpPr/>
          <p:nvPr/>
        </p:nvGrpSpPr>
        <p:grpSpPr>
          <a:xfrm>
            <a:off x="9392103" y="4109968"/>
            <a:ext cx="2415584" cy="1900845"/>
            <a:chOff x="935333" y="1334911"/>
            <a:chExt cx="2415584" cy="1900845"/>
          </a:xfrm>
        </p:grpSpPr>
        <p:sp>
          <p:nvSpPr>
            <p:cNvPr id="57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415584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b="1" dirty="0" smtClean="0">
                  <a:solidFill>
                    <a:srgbClr val="C48F22"/>
                  </a:solidFill>
                </a:rPr>
                <a:t>5</a:t>
              </a:r>
              <a:r>
                <a:rPr lang="ar-OM" sz="4400" b="1" dirty="0" smtClean="0">
                  <a:solidFill>
                    <a:srgbClr val="C48F22"/>
                  </a:solidFill>
                </a:rPr>
                <a:t>,</a:t>
              </a:r>
              <a:r>
                <a:rPr lang="en-US" sz="4400" b="1" dirty="0" smtClean="0">
                  <a:solidFill>
                    <a:srgbClr val="C48F22"/>
                  </a:solidFill>
                </a:rPr>
                <a:t>664</a:t>
              </a:r>
              <a:endParaRPr lang="en-US" sz="4400" b="1" dirty="0">
                <a:solidFill>
                  <a:srgbClr val="DCD084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  <p:sp>
          <p:nvSpPr>
            <p:cNvPr id="58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408695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المجموع الكلي لطلبات حجز المواعيد </a:t>
              </a:r>
              <a:endParaRPr lang="fr-FR" sz="20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59" name="Group 58"/>
          <p:cNvGrpSpPr/>
          <p:nvPr/>
        </p:nvGrpSpPr>
        <p:grpSpPr>
          <a:xfrm>
            <a:off x="6724940" y="4154557"/>
            <a:ext cx="2360057" cy="1799840"/>
            <a:chOff x="942222" y="1435916"/>
            <a:chExt cx="2360057" cy="1799840"/>
          </a:xfrm>
        </p:grpSpPr>
        <p:sp>
          <p:nvSpPr>
            <p:cNvPr id="60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8040" y="1435916"/>
              <a:ext cx="2354239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b="1" dirty="0" smtClean="0">
                  <a:solidFill>
                    <a:srgbClr val="C48F22"/>
                  </a:solidFill>
                </a:rPr>
                <a:t>1</a:t>
              </a:r>
              <a:r>
                <a:rPr lang="ar-OM" sz="4400" b="1" dirty="0" smtClean="0">
                  <a:solidFill>
                    <a:srgbClr val="C48F22"/>
                  </a:solidFill>
                </a:rPr>
                <a:t>,</a:t>
              </a:r>
              <a:r>
                <a:rPr lang="en-US" sz="4400" b="1" dirty="0" smtClean="0">
                  <a:solidFill>
                    <a:srgbClr val="C48F22"/>
                  </a:solidFill>
                </a:rPr>
                <a:t>651</a:t>
              </a:r>
              <a:endParaRPr lang="en-US" sz="4400" b="1" dirty="0">
                <a:solidFill>
                  <a:srgbClr val="DCD084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  <p:sp>
          <p:nvSpPr>
            <p:cNvPr id="61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360057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المجموع الكلي للخدمات الذاتية </a:t>
              </a:r>
              <a:endParaRPr lang="en-US" sz="20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sp>
        <p:nvSpPr>
          <p:cNvPr id="62" name="Rectangle 61"/>
          <p:cNvSpPr/>
          <p:nvPr/>
        </p:nvSpPr>
        <p:spPr>
          <a:xfrm>
            <a:off x="4410371" y="1715620"/>
            <a:ext cx="1040670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 smtClean="0">
                <a:solidFill>
                  <a:srgbClr val="C48F22"/>
                </a:solidFill>
              </a:rPr>
              <a:t>317</a:t>
            </a:r>
            <a:endParaRPr lang="en-US" sz="4400" dirty="0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7C23099B-6F7C-4BBD-9F4E-A5126796931E}"/>
              </a:ext>
            </a:extLst>
          </p:cNvPr>
          <p:cNvSpPr/>
          <p:nvPr/>
        </p:nvSpPr>
        <p:spPr>
          <a:xfrm>
            <a:off x="211830" y="4738427"/>
            <a:ext cx="3208485" cy="740249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ar-OM" sz="2400" b="1" dirty="0" smtClean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 </a:t>
            </a:r>
            <a:r>
              <a:rPr lang="ar-OM" sz="3200" b="1" spc="33" dirty="0" smtClean="0">
                <a:solidFill>
                  <a:srgbClr val="760000"/>
                </a:solidFill>
                <a:latin typeface="Microsoft Uighur" panose="02000000000000000000" pitchFamily="2" charset="-78"/>
                <a:ea typeface="Segoe UI" panose="020B0502040204020203" pitchFamily="34" charset="0"/>
                <a:cs typeface="Microsoft Uighur" panose="02000000000000000000" pitchFamily="2" charset="-78"/>
              </a:rPr>
              <a:t>16</a:t>
            </a:r>
            <a:r>
              <a:rPr lang="ar-OM" sz="2400" b="1" dirty="0" smtClean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 </a:t>
            </a:r>
            <a:r>
              <a:rPr lang="ar-OM" sz="2200" b="1" dirty="0" smtClean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موظف</a:t>
            </a:r>
            <a:endParaRPr lang="en-US" sz="2200" b="1" dirty="0">
              <a:solidFill>
                <a:srgbClr val="760000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4C6A0D7B-C2BD-55C2-BDE8-6DD2DE363709}"/>
              </a:ext>
            </a:extLst>
          </p:cNvPr>
          <p:cNvSpPr/>
          <p:nvPr/>
        </p:nvSpPr>
        <p:spPr>
          <a:xfrm>
            <a:off x="279019" y="419584"/>
            <a:ext cx="2720051" cy="500988"/>
          </a:xfrm>
          <a:prstGeom prst="rect">
            <a:avLst/>
          </a:prstGeom>
          <a:gradFill>
            <a:gsLst>
              <a:gs pos="0">
                <a:srgbClr val="241F21">
                  <a:alpha val="85000"/>
                </a:srgbClr>
              </a:gs>
              <a:gs pos="100000">
                <a:srgbClr val="241F21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7B702577-6522-C60A-9629-8528414077DB}"/>
              </a:ext>
            </a:extLst>
          </p:cNvPr>
          <p:cNvSpPr/>
          <p:nvPr/>
        </p:nvSpPr>
        <p:spPr>
          <a:xfrm>
            <a:off x="2491326" y="538522"/>
            <a:ext cx="1005840" cy="302020"/>
          </a:xfrm>
          <a:prstGeom prst="rect">
            <a:avLst/>
          </a:prstGeom>
          <a:solidFill>
            <a:srgbClr val="C48F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OM" sz="20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Uighur" panose="02000000000000000000" pitchFamily="2" charset="-78"/>
                <a:cs typeface="Microsoft Uighur" panose="02000000000000000000" pitchFamily="2" charset="-78"/>
              </a:rPr>
              <a:t>يوليو</a:t>
            </a:r>
            <a:r>
              <a:rPr kumimoji="0" lang="ar-OM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A8C8AB7D-86D5-F874-9DE3-98B5C7FC131B}"/>
              </a:ext>
            </a:extLst>
          </p:cNvPr>
          <p:cNvCxnSpPr/>
          <p:nvPr/>
        </p:nvCxnSpPr>
        <p:spPr>
          <a:xfrm>
            <a:off x="1041193" y="670078"/>
            <a:ext cx="181356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364185" y="457044"/>
            <a:ext cx="718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OM" sz="2000" b="1" dirty="0" smtClean="0">
                <a:solidFill>
                  <a:prstClr val="white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سبتمبر </a:t>
            </a:r>
            <a:endParaRPr lang="en-US" sz="2000" b="1" dirty="0">
              <a:solidFill>
                <a:prstClr val="white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sp>
        <p:nvSpPr>
          <p:cNvPr id="35" name="Octagon 34">
            <a:extLst>
              <a:ext uri="{FF2B5EF4-FFF2-40B4-BE49-F238E27FC236}">
                <a16:creationId xmlns:a16="http://schemas.microsoft.com/office/drawing/2014/main" id="{8F86244E-E4BF-5A5A-2854-9EE6B1A483EE}"/>
              </a:ext>
            </a:extLst>
          </p:cNvPr>
          <p:cNvSpPr/>
          <p:nvPr/>
        </p:nvSpPr>
        <p:spPr>
          <a:xfrm>
            <a:off x="11766110" y="6358527"/>
            <a:ext cx="268357" cy="268357"/>
          </a:xfrm>
          <a:prstGeom prst="octagon">
            <a:avLst/>
          </a:prstGeom>
          <a:solidFill>
            <a:srgbClr val="CCA862"/>
          </a:solidFill>
          <a:ln>
            <a:noFill/>
          </a:ln>
          <a:effectLst>
            <a:outerShdw blurRad="127000" dist="635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254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560D64F-6F4F-EAF0-BAB7-5E47E078B92D}"/>
              </a:ext>
            </a:extLst>
          </p:cNvPr>
          <p:cNvCxnSpPr>
            <a:cxnSpLocks/>
          </p:cNvCxnSpPr>
          <p:nvPr/>
        </p:nvCxnSpPr>
        <p:spPr>
          <a:xfrm flipH="1">
            <a:off x="5022556" y="1262960"/>
            <a:ext cx="5791200" cy="0"/>
          </a:xfrm>
          <a:prstGeom prst="line">
            <a:avLst/>
          </a:prstGeom>
          <a:ln>
            <a:solidFill>
              <a:srgbClr val="C48F22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4C6A0D7B-C2BD-55C2-BDE8-6DD2DE363709}"/>
              </a:ext>
            </a:extLst>
          </p:cNvPr>
          <p:cNvSpPr/>
          <p:nvPr/>
        </p:nvSpPr>
        <p:spPr>
          <a:xfrm>
            <a:off x="172855" y="419308"/>
            <a:ext cx="2720051" cy="500988"/>
          </a:xfrm>
          <a:prstGeom prst="rect">
            <a:avLst/>
          </a:prstGeom>
          <a:gradFill>
            <a:gsLst>
              <a:gs pos="0">
                <a:srgbClr val="241F21">
                  <a:alpha val="85000"/>
                </a:srgbClr>
              </a:gs>
              <a:gs pos="100000">
                <a:srgbClr val="241F21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B702577-6522-C60A-9629-8528414077DB}"/>
              </a:ext>
            </a:extLst>
          </p:cNvPr>
          <p:cNvSpPr/>
          <p:nvPr/>
        </p:nvSpPr>
        <p:spPr>
          <a:xfrm>
            <a:off x="2385162" y="538246"/>
            <a:ext cx="1005840" cy="302020"/>
          </a:xfrm>
          <a:prstGeom prst="rect">
            <a:avLst/>
          </a:prstGeom>
          <a:solidFill>
            <a:srgbClr val="C48F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r-OM" sz="2000" b="1" dirty="0" smtClean="0">
                <a:solidFill>
                  <a:prstClr val="white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يوليو</a:t>
            </a:r>
            <a:r>
              <a:rPr kumimoji="0" lang="ar-OM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8C8AB7D-86D5-F874-9DE3-98B5C7FC131B}"/>
              </a:ext>
            </a:extLst>
          </p:cNvPr>
          <p:cNvCxnSpPr/>
          <p:nvPr/>
        </p:nvCxnSpPr>
        <p:spPr>
          <a:xfrm>
            <a:off x="935029" y="669802"/>
            <a:ext cx="181356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02392" y="460275"/>
            <a:ext cx="718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OM" sz="2000" b="1" dirty="0" smtClean="0">
                <a:solidFill>
                  <a:prstClr val="white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سبتمبر </a:t>
            </a:r>
            <a:endParaRPr lang="en-US" sz="2000" b="1" dirty="0">
              <a:solidFill>
                <a:prstClr val="white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461D46E-147C-49AA-1082-D50B53FFCC23}"/>
              </a:ext>
            </a:extLst>
          </p:cNvPr>
          <p:cNvSpPr/>
          <p:nvPr/>
        </p:nvSpPr>
        <p:spPr>
          <a:xfrm>
            <a:off x="630640" y="1531076"/>
            <a:ext cx="3218145" cy="4352859"/>
          </a:xfrm>
          <a:prstGeom prst="rect">
            <a:avLst/>
          </a:prstGeom>
          <a:solidFill>
            <a:srgbClr val="D8CFCE"/>
          </a:solidFill>
          <a:ln>
            <a:noFill/>
          </a:ln>
          <a:effectLst>
            <a:outerShdw blurRad="254000" sx="105000" sy="105000" algn="ctr" rotWithShape="0">
              <a:schemeClr val="tx1">
                <a:lumMod val="85000"/>
                <a:lumOff val="1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1" name="Group 10"/>
          <p:cNvGrpSpPr/>
          <p:nvPr/>
        </p:nvGrpSpPr>
        <p:grpSpPr>
          <a:xfrm>
            <a:off x="1532881" y="1878105"/>
            <a:ext cx="1918686" cy="1597123"/>
            <a:chOff x="5373387" y="3384253"/>
            <a:chExt cx="2941984" cy="2448922"/>
          </a:xfrm>
        </p:grpSpPr>
        <p:sp>
          <p:nvSpPr>
            <p:cNvPr id="12" name="Rectangle 11"/>
            <p:cNvSpPr/>
            <p:nvPr/>
          </p:nvSpPr>
          <p:spPr>
            <a:xfrm>
              <a:off x="5373387" y="4583559"/>
              <a:ext cx="2218266" cy="12496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ar-OM" sz="2348" b="1" dirty="0">
                  <a:solidFill>
                    <a:srgbClr val="013631"/>
                  </a:solidFill>
                  <a:latin typeface="Microsoft Uighur" panose="02000000000000000000" pitchFamily="2" charset="-78"/>
                  <a:cs typeface="Microsoft Uighur" panose="02000000000000000000" pitchFamily="2" charset="-78"/>
                </a:rPr>
                <a:t>إجمالي حجم الأعمال المنجزة </a:t>
              </a:r>
              <a:endParaRPr lang="ar-OM" sz="1044" b="1" dirty="0">
                <a:solidFill>
                  <a:srgbClr val="013631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5495626" y="3384253"/>
              <a:ext cx="2819745" cy="137280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4000" b="1" dirty="0" smtClean="0">
                  <a:solidFill>
                    <a:srgbClr val="760000"/>
                  </a:solidFill>
                </a:rPr>
                <a:t>30</a:t>
              </a:r>
              <a:r>
                <a:rPr lang="ar-OM" sz="4000" b="1" dirty="0">
                  <a:solidFill>
                    <a:srgbClr val="760000"/>
                  </a:solidFill>
                </a:rPr>
                <a:t>,</a:t>
              </a:r>
              <a:r>
                <a:rPr lang="en-US" sz="4000" b="1" dirty="0" smtClean="0">
                  <a:solidFill>
                    <a:srgbClr val="760000"/>
                  </a:solidFill>
                </a:rPr>
                <a:t>501 </a:t>
              </a:r>
              <a:r>
                <a:rPr lang="ar-OM" sz="5218" b="1" dirty="0" smtClean="0">
                  <a:solidFill>
                    <a:schemeClr val="accent2">
                      <a:lumMod val="50000"/>
                    </a:schemeClr>
                  </a:solidFill>
                  <a:latin typeface="Microsoft Uighur" panose="02000000000000000000" pitchFamily="2" charset="-78"/>
                  <a:ea typeface="SimSun" panose="02010600030101010101" pitchFamily="2" charset="-122"/>
                  <a:cs typeface="Microsoft Uighur" panose="02000000000000000000" pitchFamily="2" charset="-78"/>
                </a:rPr>
                <a:t> </a:t>
              </a:r>
              <a:endParaRPr lang="en-US" sz="5218" dirty="0">
                <a:solidFill>
                  <a:schemeClr val="accent2">
                    <a:lumMod val="50000"/>
                  </a:schemeClr>
                </a:solidFill>
                <a:latin typeface="Microsoft Uighur" panose="02000000000000000000" pitchFamily="2" charset="-78"/>
                <a:cs typeface="Microsoft Uighur" panose="02000000000000000000" pitchFamily="2" charset="-78"/>
              </a:endParaRPr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7C23099B-6F7C-4BBD-9F4E-A5126796931E}"/>
              </a:ext>
            </a:extLst>
          </p:cNvPr>
          <p:cNvSpPr/>
          <p:nvPr/>
        </p:nvSpPr>
        <p:spPr>
          <a:xfrm>
            <a:off x="661383" y="4041952"/>
            <a:ext cx="3187402" cy="764384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OM" sz="2200" b="1" dirty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المشاركة في </a:t>
            </a:r>
            <a:r>
              <a:rPr lang="en-GB" sz="3200" b="1" spc="33" dirty="0">
                <a:solidFill>
                  <a:srgbClr val="760000"/>
                </a:solidFill>
                <a:latin typeface="Microsoft Uighur" panose="02000000000000000000" pitchFamily="2" charset="-78"/>
                <a:ea typeface="Segoe UI" panose="020B0502040204020203" pitchFamily="34" charset="0"/>
                <a:cs typeface="Microsoft Uighur" panose="02000000000000000000" pitchFamily="2" charset="-78"/>
              </a:rPr>
              <a:t>15 </a:t>
            </a:r>
            <a:r>
              <a:rPr lang="ar-OM" sz="2200" b="1" dirty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 مبادرات تشغيلية</a:t>
            </a:r>
            <a:endParaRPr lang="en-US" sz="2200" b="1" dirty="0">
              <a:solidFill>
                <a:srgbClr val="760000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grpSp>
        <p:nvGrpSpPr>
          <p:cNvPr id="15" name="Group 14"/>
          <p:cNvGrpSpPr/>
          <p:nvPr/>
        </p:nvGrpSpPr>
        <p:grpSpPr>
          <a:xfrm>
            <a:off x="4197641" y="1531076"/>
            <a:ext cx="2358326" cy="1900845"/>
            <a:chOff x="1368125" y="1334911"/>
            <a:chExt cx="2358326" cy="1900845"/>
          </a:xfrm>
        </p:grpSpPr>
        <p:sp>
          <p:nvSpPr>
            <p:cNvPr id="16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1368125" y="1334911"/>
              <a:ext cx="2358326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>
                <a:solidFill>
                  <a:srgbClr val="DCD084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  <p:sp>
          <p:nvSpPr>
            <p:cNvPr id="17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1368125" y="2518030"/>
              <a:ext cx="2351437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إجمالي </a:t>
              </a:r>
              <a:r>
                <a:rPr lang="ar-OM" sz="2000" b="1" dirty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الخدمات الميدانية </a:t>
              </a:r>
              <a:endParaRPr lang="en-US" sz="20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6916460" y="1531076"/>
            <a:ext cx="2341531" cy="1900845"/>
            <a:chOff x="935333" y="1334911"/>
            <a:chExt cx="2341531" cy="1900845"/>
          </a:xfrm>
        </p:grpSpPr>
        <p:sp>
          <p:nvSpPr>
            <p:cNvPr id="19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341531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>
                <a:solidFill>
                  <a:srgbClr val="DCD084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  <p:sp>
          <p:nvSpPr>
            <p:cNvPr id="20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334642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المجموع الكلي للأنشطة الإعلامية</a:t>
              </a:r>
              <a:r>
                <a:rPr lang="ar-OM" sz="16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 </a:t>
              </a:r>
              <a:endParaRPr lang="en-US" sz="16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9632261" y="1531076"/>
            <a:ext cx="2348420" cy="1900845"/>
            <a:chOff x="935333" y="1334911"/>
            <a:chExt cx="2348420" cy="1900845"/>
          </a:xfrm>
        </p:grpSpPr>
        <p:sp>
          <p:nvSpPr>
            <p:cNvPr id="22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348420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b="1" dirty="0" smtClean="0">
                  <a:solidFill>
                    <a:srgbClr val="C48F22"/>
                  </a:solidFill>
                </a:rPr>
                <a:t>12,423</a:t>
              </a:r>
              <a:endParaRPr lang="en-US" sz="3600" b="1" dirty="0">
                <a:solidFill>
                  <a:srgbClr val="C48F22"/>
                </a:solidFill>
              </a:endParaRPr>
            </a:p>
          </p:txBody>
        </p:sp>
        <p:sp>
          <p:nvSpPr>
            <p:cNvPr id="23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341531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إجمالي حجم المعاملات </a:t>
              </a:r>
              <a:endParaRPr lang="en-US" sz="20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4190752" y="4053552"/>
            <a:ext cx="2358326" cy="1900845"/>
            <a:chOff x="935333" y="1334911"/>
            <a:chExt cx="2358326" cy="1900845"/>
          </a:xfrm>
        </p:grpSpPr>
        <p:sp>
          <p:nvSpPr>
            <p:cNvPr id="25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358326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>
                <a:solidFill>
                  <a:srgbClr val="DCD084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  <p:sp>
          <p:nvSpPr>
            <p:cNvPr id="26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344548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المجموع الكلي للخدمات الاستباقية </a:t>
              </a:r>
              <a:endParaRPr lang="en-US" sz="20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9565097" y="4109968"/>
            <a:ext cx="2415584" cy="1900845"/>
            <a:chOff x="935333" y="1334911"/>
            <a:chExt cx="2415584" cy="1900845"/>
          </a:xfrm>
        </p:grpSpPr>
        <p:sp>
          <p:nvSpPr>
            <p:cNvPr id="28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415584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>
                <a:solidFill>
                  <a:srgbClr val="DCD084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  <p:sp>
          <p:nvSpPr>
            <p:cNvPr id="29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408695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المجموع الكلي لطلبات حجز المواعيد </a:t>
              </a:r>
              <a:endParaRPr lang="fr-FR" sz="20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6891045" y="4053552"/>
            <a:ext cx="2366946" cy="1900845"/>
            <a:chOff x="935333" y="1334911"/>
            <a:chExt cx="2366946" cy="1900845"/>
          </a:xfrm>
        </p:grpSpPr>
        <p:sp>
          <p:nvSpPr>
            <p:cNvPr id="31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366946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>
                <a:solidFill>
                  <a:srgbClr val="DCD084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  <p:sp>
          <p:nvSpPr>
            <p:cNvPr id="32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360057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 المجموع الكلي للخدمات </a:t>
              </a:r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الذاتية</a:t>
              </a:r>
              <a:endParaRPr lang="en-US" sz="20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7C23099B-6F7C-4BBD-9F4E-A5126796931E}"/>
              </a:ext>
            </a:extLst>
          </p:cNvPr>
          <p:cNvSpPr/>
          <p:nvPr/>
        </p:nvSpPr>
        <p:spPr>
          <a:xfrm>
            <a:off x="630640" y="4955238"/>
            <a:ext cx="3199208" cy="740249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ar-OM" sz="3200" b="1" spc="33" dirty="0" smtClean="0">
                <a:solidFill>
                  <a:srgbClr val="760000"/>
                </a:solidFill>
                <a:latin typeface="Microsoft Uighur" panose="02000000000000000000" pitchFamily="2" charset="-78"/>
                <a:ea typeface="Segoe UI" panose="020B0502040204020203" pitchFamily="34" charset="0"/>
                <a:cs typeface="Microsoft Uighur" panose="02000000000000000000" pitchFamily="2" charset="-78"/>
              </a:rPr>
              <a:t>23</a:t>
            </a:r>
            <a:r>
              <a:rPr lang="ar-OM" sz="2800" b="1" dirty="0" smtClean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 </a:t>
            </a:r>
            <a:r>
              <a:rPr lang="ar-OM" sz="2400" b="1" dirty="0" smtClean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موظف</a:t>
            </a:r>
            <a:endParaRPr lang="en-US" sz="2200" b="1" dirty="0">
              <a:solidFill>
                <a:srgbClr val="760000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109904" y="122840"/>
            <a:ext cx="905502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OM" sz="3200" b="1" dirty="0" smtClean="0">
                <a:solidFill>
                  <a:srgbClr val="C48F22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أهم المؤشرات الإحصائية والإنجازات لصندوق الحماية </a:t>
            </a:r>
            <a:r>
              <a:rPr lang="ar-OM" sz="3200" b="1" dirty="0">
                <a:solidFill>
                  <a:srgbClr val="C48F22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الاجتماعية </a:t>
            </a:r>
            <a:endParaRPr lang="ar-OM" sz="3200" b="1" dirty="0" smtClean="0">
              <a:solidFill>
                <a:srgbClr val="C48F22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  <a:p>
            <a:pPr algn="ctr"/>
            <a:r>
              <a:rPr lang="ar-OM" sz="3200" b="1" dirty="0" smtClean="0">
                <a:solidFill>
                  <a:srgbClr val="C48F22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( محافظة شمال الباطنة)</a:t>
            </a:r>
            <a:endParaRPr lang="en-US" sz="3200" b="1" dirty="0">
              <a:solidFill>
                <a:srgbClr val="C48F22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7661584" y="1794204"/>
            <a:ext cx="78098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 smtClean="0">
                <a:solidFill>
                  <a:srgbClr val="C48F22"/>
                </a:solidFill>
              </a:rPr>
              <a:t>31</a:t>
            </a:r>
            <a:r>
              <a:rPr lang="ar-OM" sz="3600" b="1" dirty="0" smtClean="0">
                <a:solidFill>
                  <a:srgbClr val="C48F22"/>
                </a:solidFill>
              </a:rPr>
              <a:t> </a:t>
            </a:r>
            <a:endParaRPr lang="en-US" sz="3600" b="1" dirty="0">
              <a:solidFill>
                <a:srgbClr val="C48F22"/>
              </a:solidFill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4593909" y="1851003"/>
            <a:ext cx="136768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 smtClean="0">
                <a:solidFill>
                  <a:srgbClr val="C48F22"/>
                </a:solidFill>
              </a:rPr>
              <a:t>2,423</a:t>
            </a:r>
            <a:r>
              <a:rPr lang="ar-OM" sz="3600" b="1" dirty="0" smtClean="0">
                <a:solidFill>
                  <a:srgbClr val="C48F22"/>
                </a:solidFill>
              </a:rPr>
              <a:t> </a:t>
            </a:r>
            <a:endParaRPr lang="en-US" sz="3600" b="1" dirty="0">
              <a:solidFill>
                <a:srgbClr val="C48F22"/>
              </a:solidFill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4850389" y="4308907"/>
            <a:ext cx="88678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 smtClean="0">
                <a:solidFill>
                  <a:srgbClr val="C48F22"/>
                </a:solidFill>
              </a:rPr>
              <a:t>563</a:t>
            </a:r>
            <a:endParaRPr lang="en-US" sz="3600" b="1" dirty="0">
              <a:solidFill>
                <a:srgbClr val="C48F22"/>
              </a:solidFill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7337273" y="4356067"/>
            <a:ext cx="123944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 smtClean="0">
                <a:solidFill>
                  <a:srgbClr val="C48F22"/>
                </a:solidFill>
              </a:rPr>
              <a:t>5,395</a:t>
            </a:r>
            <a:endParaRPr lang="en-US" sz="3600" b="1" dirty="0">
              <a:solidFill>
                <a:srgbClr val="C48F22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9975234" y="4308907"/>
            <a:ext cx="123944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 smtClean="0">
                <a:solidFill>
                  <a:srgbClr val="C48F22"/>
                </a:solidFill>
              </a:rPr>
              <a:t>9,666</a:t>
            </a:r>
            <a:endParaRPr lang="en-US" sz="3600" b="1" dirty="0">
              <a:solidFill>
                <a:srgbClr val="C48F22"/>
              </a:solidFill>
            </a:endParaRPr>
          </a:p>
        </p:txBody>
      </p:sp>
      <p:sp>
        <p:nvSpPr>
          <p:cNvPr id="40" name="Octagon 39">
            <a:extLst>
              <a:ext uri="{FF2B5EF4-FFF2-40B4-BE49-F238E27FC236}">
                <a16:creationId xmlns:a16="http://schemas.microsoft.com/office/drawing/2014/main" id="{8F86244E-E4BF-5A5A-2854-9EE6B1A483EE}"/>
              </a:ext>
            </a:extLst>
          </p:cNvPr>
          <p:cNvSpPr/>
          <p:nvPr/>
        </p:nvSpPr>
        <p:spPr>
          <a:xfrm>
            <a:off x="11766110" y="6358527"/>
            <a:ext cx="268357" cy="268357"/>
          </a:xfrm>
          <a:prstGeom prst="octagon">
            <a:avLst/>
          </a:prstGeom>
          <a:solidFill>
            <a:srgbClr val="CCA862"/>
          </a:solidFill>
          <a:ln>
            <a:noFill/>
          </a:ln>
          <a:effectLst>
            <a:outerShdw blurRad="127000" dist="635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986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560D64F-6F4F-EAF0-BAB7-5E47E078B92D}"/>
              </a:ext>
            </a:extLst>
          </p:cNvPr>
          <p:cNvCxnSpPr>
            <a:cxnSpLocks/>
          </p:cNvCxnSpPr>
          <p:nvPr/>
        </p:nvCxnSpPr>
        <p:spPr>
          <a:xfrm flipH="1">
            <a:off x="5379120" y="936467"/>
            <a:ext cx="5611091" cy="27769"/>
          </a:xfrm>
          <a:prstGeom prst="line">
            <a:avLst/>
          </a:prstGeom>
          <a:ln>
            <a:solidFill>
              <a:srgbClr val="C48F22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D355DCE6-5919-5FC0-A6CE-6D5C4B577207}"/>
              </a:ext>
            </a:extLst>
          </p:cNvPr>
          <p:cNvSpPr txBox="1">
            <a:spLocks/>
          </p:cNvSpPr>
          <p:nvPr/>
        </p:nvSpPr>
        <p:spPr>
          <a:xfrm>
            <a:off x="11955968" y="151227"/>
            <a:ext cx="268357" cy="26835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en-US" sz="1000" b="1" dirty="0">
              <a:solidFill>
                <a:prstClr val="white"/>
              </a:solidFill>
              <a:latin typeface="Book Antiqua" panose="0204060205030503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460035" y="305892"/>
            <a:ext cx="87128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OM" sz="3200" b="1" dirty="0" smtClean="0">
                <a:solidFill>
                  <a:srgbClr val="C48F22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أهم المؤشرات الإحصائية والإنجازات لصندوق الحماية الاجتماعية  (محافظة الظاهرة)  </a:t>
            </a:r>
            <a:endParaRPr lang="en-US" sz="3200" b="1" dirty="0">
              <a:solidFill>
                <a:srgbClr val="C48F22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461D46E-147C-49AA-1082-D50B53FFCC23}"/>
              </a:ext>
            </a:extLst>
          </p:cNvPr>
          <p:cNvSpPr/>
          <p:nvPr/>
        </p:nvSpPr>
        <p:spPr>
          <a:xfrm>
            <a:off x="605927" y="1531076"/>
            <a:ext cx="3218145" cy="4352859"/>
          </a:xfrm>
          <a:prstGeom prst="rect">
            <a:avLst/>
          </a:prstGeom>
          <a:solidFill>
            <a:srgbClr val="D8CFCE"/>
          </a:solidFill>
          <a:ln>
            <a:noFill/>
          </a:ln>
          <a:effectLst>
            <a:outerShdw blurRad="254000" sx="105000" sy="105000" algn="ctr" rotWithShape="0">
              <a:schemeClr val="tx1">
                <a:lumMod val="85000"/>
                <a:lumOff val="1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7" name="Group 26"/>
          <p:cNvGrpSpPr/>
          <p:nvPr/>
        </p:nvGrpSpPr>
        <p:grpSpPr>
          <a:xfrm>
            <a:off x="1461431" y="1878103"/>
            <a:ext cx="1743304" cy="1633699"/>
            <a:chOff x="5373387" y="3328169"/>
            <a:chExt cx="2673064" cy="2505006"/>
          </a:xfrm>
        </p:grpSpPr>
        <p:sp>
          <p:nvSpPr>
            <p:cNvPr id="28" name="Rectangle 27"/>
            <p:cNvSpPr/>
            <p:nvPr/>
          </p:nvSpPr>
          <p:spPr>
            <a:xfrm>
              <a:off x="5373387" y="4583559"/>
              <a:ext cx="2218266" cy="12496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ar-OM" sz="2348" b="1" dirty="0">
                  <a:solidFill>
                    <a:srgbClr val="013631"/>
                  </a:solidFill>
                  <a:latin typeface="Microsoft Uighur" panose="02000000000000000000" pitchFamily="2" charset="-78"/>
                  <a:cs typeface="Microsoft Uighur" panose="02000000000000000000" pitchFamily="2" charset="-78"/>
                </a:rPr>
                <a:t>إجمالي حجم الأعمال المنجزة </a:t>
              </a:r>
              <a:endParaRPr lang="ar-OM" sz="1044" b="1" dirty="0">
                <a:solidFill>
                  <a:srgbClr val="013631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endParaRP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5467584" y="3328169"/>
              <a:ext cx="2578867" cy="137280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ar-OM" sz="4000" b="1" dirty="0" smtClean="0">
                  <a:solidFill>
                    <a:srgbClr val="760000"/>
                  </a:solidFill>
                </a:rPr>
                <a:t>5,393</a:t>
              </a:r>
              <a:r>
                <a:rPr lang="en-US" sz="4000" b="1" dirty="0" smtClean="0">
                  <a:solidFill>
                    <a:srgbClr val="760000"/>
                  </a:solidFill>
                </a:rPr>
                <a:t> </a:t>
              </a:r>
              <a:r>
                <a:rPr lang="ar-OM" sz="5218" b="1" dirty="0" smtClean="0">
                  <a:solidFill>
                    <a:schemeClr val="accent2">
                      <a:lumMod val="50000"/>
                    </a:schemeClr>
                  </a:solidFill>
                  <a:latin typeface="Microsoft Uighur" panose="02000000000000000000" pitchFamily="2" charset="-78"/>
                  <a:ea typeface="SimSun" panose="02010600030101010101" pitchFamily="2" charset="-122"/>
                  <a:cs typeface="Microsoft Uighur" panose="02000000000000000000" pitchFamily="2" charset="-78"/>
                </a:rPr>
                <a:t> </a:t>
              </a:r>
              <a:endParaRPr lang="en-US" sz="5218" dirty="0">
                <a:solidFill>
                  <a:schemeClr val="accent2">
                    <a:lumMod val="50000"/>
                  </a:schemeClr>
                </a:solidFill>
                <a:latin typeface="Microsoft Uighur" panose="02000000000000000000" pitchFamily="2" charset="-78"/>
                <a:cs typeface="Microsoft Uighur" panose="02000000000000000000" pitchFamily="2" charset="-78"/>
              </a:endParaRPr>
            </a:p>
          </p:txBody>
        </p: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7C23099B-6F7C-4BBD-9F4E-A5126796931E}"/>
              </a:ext>
            </a:extLst>
          </p:cNvPr>
          <p:cNvSpPr/>
          <p:nvPr/>
        </p:nvSpPr>
        <p:spPr>
          <a:xfrm>
            <a:off x="621298" y="3907248"/>
            <a:ext cx="3187402" cy="764384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OM" sz="2200" b="1" dirty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المشاركة في </a:t>
            </a:r>
            <a:r>
              <a:rPr lang="en-GB" sz="2200" b="1" dirty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15 </a:t>
            </a:r>
            <a:r>
              <a:rPr lang="ar-OM" sz="2200" b="1" dirty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 مبادرات تشغيلية</a:t>
            </a:r>
            <a:endParaRPr lang="en-US" sz="2200" b="1" dirty="0">
              <a:solidFill>
                <a:srgbClr val="760000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grpSp>
        <p:nvGrpSpPr>
          <p:cNvPr id="31" name="Group 30"/>
          <p:cNvGrpSpPr/>
          <p:nvPr/>
        </p:nvGrpSpPr>
        <p:grpSpPr>
          <a:xfrm>
            <a:off x="4172928" y="1531076"/>
            <a:ext cx="2358326" cy="1900845"/>
            <a:chOff x="1368125" y="1334911"/>
            <a:chExt cx="2358326" cy="1900845"/>
          </a:xfrm>
        </p:grpSpPr>
        <p:sp>
          <p:nvSpPr>
            <p:cNvPr id="32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1368125" y="1334911"/>
              <a:ext cx="2358326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>
                <a:solidFill>
                  <a:srgbClr val="DCD084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  <p:sp>
          <p:nvSpPr>
            <p:cNvPr id="33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1368125" y="2518030"/>
              <a:ext cx="2351437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إجمالي </a:t>
              </a:r>
              <a:r>
                <a:rPr lang="ar-OM" sz="2000" b="1" dirty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الخدمات الميدانية </a:t>
              </a:r>
              <a:endParaRPr lang="en-US" sz="20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6891747" y="1531076"/>
            <a:ext cx="2341531" cy="1900845"/>
            <a:chOff x="935333" y="1334911"/>
            <a:chExt cx="2341531" cy="1900845"/>
          </a:xfrm>
        </p:grpSpPr>
        <p:sp>
          <p:nvSpPr>
            <p:cNvPr id="35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341531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4400" b="1" dirty="0" smtClean="0">
                  <a:solidFill>
                    <a:srgbClr val="C48F22"/>
                  </a:solidFill>
                </a:rPr>
                <a:t>10</a:t>
              </a:r>
              <a:endParaRPr lang="en-US" sz="4400" b="1" dirty="0">
                <a:solidFill>
                  <a:srgbClr val="DCD084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  <p:sp>
          <p:nvSpPr>
            <p:cNvPr id="36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334642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المجموع الكلي للأنشطة الإعلامية</a:t>
              </a:r>
              <a:r>
                <a:rPr lang="ar-OM" sz="16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 </a:t>
              </a:r>
              <a:endParaRPr lang="en-US" sz="16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9607548" y="1531076"/>
            <a:ext cx="2348420" cy="1900845"/>
            <a:chOff x="935333" y="1334911"/>
            <a:chExt cx="2348420" cy="1900845"/>
          </a:xfrm>
        </p:grpSpPr>
        <p:sp>
          <p:nvSpPr>
            <p:cNvPr id="38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348420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4400" b="1" dirty="0" smtClean="0">
                  <a:solidFill>
                    <a:srgbClr val="C48F22"/>
                  </a:solidFill>
                </a:rPr>
                <a:t>2,030</a:t>
              </a:r>
              <a:endParaRPr lang="en-US" sz="4400" b="1" dirty="0">
                <a:solidFill>
                  <a:srgbClr val="DCD084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  <p:sp>
          <p:nvSpPr>
            <p:cNvPr id="39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341531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إجمالي حجم المعاملات </a:t>
              </a:r>
              <a:endParaRPr lang="en-US" sz="20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4172928" y="4053552"/>
            <a:ext cx="2358326" cy="1900845"/>
            <a:chOff x="935333" y="1334911"/>
            <a:chExt cx="2358326" cy="1900845"/>
          </a:xfrm>
        </p:grpSpPr>
        <p:sp>
          <p:nvSpPr>
            <p:cNvPr id="41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358326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4400" b="1" dirty="0" smtClean="0">
                  <a:solidFill>
                    <a:srgbClr val="C48F22"/>
                  </a:solidFill>
                </a:rPr>
                <a:t>67</a:t>
              </a:r>
              <a:endParaRPr lang="en-US" sz="4400" b="1" dirty="0">
                <a:solidFill>
                  <a:srgbClr val="C48F22"/>
                </a:solidFill>
              </a:endParaRPr>
            </a:p>
          </p:txBody>
        </p:sp>
        <p:sp>
          <p:nvSpPr>
            <p:cNvPr id="42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344548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المجموع الكلي للخدمات الاستباقية </a:t>
              </a:r>
              <a:endParaRPr lang="en-US" sz="20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43" name="Group 42"/>
          <p:cNvGrpSpPr/>
          <p:nvPr/>
        </p:nvGrpSpPr>
        <p:grpSpPr>
          <a:xfrm>
            <a:off x="9540384" y="4109968"/>
            <a:ext cx="2415584" cy="1900845"/>
            <a:chOff x="935333" y="1334911"/>
            <a:chExt cx="2415584" cy="1900845"/>
          </a:xfrm>
        </p:grpSpPr>
        <p:sp>
          <p:nvSpPr>
            <p:cNvPr id="44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415584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4400" b="1" dirty="0" smtClean="0">
                  <a:solidFill>
                    <a:srgbClr val="C48F22"/>
                  </a:solidFill>
                </a:rPr>
                <a:t>2,031</a:t>
              </a:r>
              <a:endParaRPr lang="en-US" sz="4400" b="1" dirty="0">
                <a:solidFill>
                  <a:srgbClr val="DCD084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  <p:sp>
          <p:nvSpPr>
            <p:cNvPr id="45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408695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المجموع الكلي لطلبات حجز المواعيد </a:t>
              </a:r>
              <a:endParaRPr lang="fr-FR" sz="20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46" name="Group 45"/>
          <p:cNvGrpSpPr/>
          <p:nvPr/>
        </p:nvGrpSpPr>
        <p:grpSpPr>
          <a:xfrm>
            <a:off x="6873221" y="4022240"/>
            <a:ext cx="2392361" cy="1932157"/>
            <a:chOff x="942222" y="1303599"/>
            <a:chExt cx="2392361" cy="1932157"/>
          </a:xfrm>
        </p:grpSpPr>
        <p:sp>
          <p:nvSpPr>
            <p:cNvPr id="47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67637" y="1303599"/>
              <a:ext cx="2366946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4400" b="1" dirty="0" smtClean="0">
                  <a:solidFill>
                    <a:srgbClr val="C48F22"/>
                  </a:solidFill>
                </a:rPr>
                <a:t>1,147</a:t>
              </a:r>
              <a:endParaRPr lang="en-US" sz="4400" b="1" dirty="0">
                <a:solidFill>
                  <a:srgbClr val="C48F22"/>
                </a:solidFill>
              </a:endParaRPr>
            </a:p>
          </p:txBody>
        </p:sp>
        <p:sp>
          <p:nvSpPr>
            <p:cNvPr id="48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360057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المجموع الكلي للخدمات الذاتية </a:t>
              </a:r>
              <a:endParaRPr lang="en-US" sz="20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sp>
        <p:nvSpPr>
          <p:cNvPr id="49" name="Rectangle 48"/>
          <p:cNvSpPr/>
          <p:nvPr/>
        </p:nvSpPr>
        <p:spPr>
          <a:xfrm>
            <a:off x="4896652" y="1715620"/>
            <a:ext cx="1127232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OM" sz="4400" b="1" dirty="0" smtClean="0">
                <a:solidFill>
                  <a:srgbClr val="C48F22"/>
                </a:solidFill>
              </a:rPr>
              <a:t>108</a:t>
            </a:r>
            <a:endParaRPr lang="en-US" sz="4400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C23099B-6F7C-4BBD-9F4E-A5126796931E}"/>
              </a:ext>
            </a:extLst>
          </p:cNvPr>
          <p:cNvSpPr/>
          <p:nvPr/>
        </p:nvSpPr>
        <p:spPr>
          <a:xfrm>
            <a:off x="596650" y="4790646"/>
            <a:ext cx="3208485" cy="740249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ar-OM" sz="2200" b="1" dirty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7 موظف</a:t>
            </a:r>
            <a:endParaRPr lang="en-US" sz="2200" b="1" dirty="0">
              <a:solidFill>
                <a:srgbClr val="760000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C6A0D7B-C2BD-55C2-BDE8-6DD2DE363709}"/>
              </a:ext>
            </a:extLst>
          </p:cNvPr>
          <p:cNvSpPr/>
          <p:nvPr/>
        </p:nvSpPr>
        <p:spPr>
          <a:xfrm>
            <a:off x="241888" y="389679"/>
            <a:ext cx="2720051" cy="500988"/>
          </a:xfrm>
          <a:prstGeom prst="rect">
            <a:avLst/>
          </a:prstGeom>
          <a:gradFill>
            <a:gsLst>
              <a:gs pos="0">
                <a:srgbClr val="241F21">
                  <a:alpha val="85000"/>
                </a:srgbClr>
              </a:gs>
              <a:gs pos="100000">
                <a:srgbClr val="241F21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7B702577-6522-C60A-9629-8528414077DB}"/>
              </a:ext>
            </a:extLst>
          </p:cNvPr>
          <p:cNvSpPr/>
          <p:nvPr/>
        </p:nvSpPr>
        <p:spPr>
          <a:xfrm>
            <a:off x="2454195" y="508617"/>
            <a:ext cx="1005840" cy="302020"/>
          </a:xfrm>
          <a:prstGeom prst="rect">
            <a:avLst/>
          </a:prstGeom>
          <a:solidFill>
            <a:srgbClr val="C48F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r-OM" sz="2000" b="1" noProof="0" dirty="0" smtClean="0">
                <a:solidFill>
                  <a:prstClr val="white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يوليو </a:t>
            </a:r>
            <a:r>
              <a:rPr kumimoji="0" lang="ar-OM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A8C8AB7D-86D5-F874-9DE3-98B5C7FC131B}"/>
              </a:ext>
            </a:extLst>
          </p:cNvPr>
          <p:cNvCxnSpPr/>
          <p:nvPr/>
        </p:nvCxnSpPr>
        <p:spPr>
          <a:xfrm>
            <a:off x="1004062" y="640173"/>
            <a:ext cx="181356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379373" y="430646"/>
            <a:ext cx="718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OM" sz="2000" b="1" dirty="0" smtClean="0">
                <a:solidFill>
                  <a:prstClr val="white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سبتمبر </a:t>
            </a:r>
            <a:endParaRPr lang="en-US" sz="2000" b="1" dirty="0">
              <a:solidFill>
                <a:prstClr val="white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sp>
        <p:nvSpPr>
          <p:cNvPr id="55" name="Octagon 54">
            <a:extLst>
              <a:ext uri="{FF2B5EF4-FFF2-40B4-BE49-F238E27FC236}">
                <a16:creationId xmlns:a16="http://schemas.microsoft.com/office/drawing/2014/main" id="{8F86244E-E4BF-5A5A-2854-9EE6B1A483EE}"/>
              </a:ext>
            </a:extLst>
          </p:cNvPr>
          <p:cNvSpPr/>
          <p:nvPr/>
        </p:nvSpPr>
        <p:spPr>
          <a:xfrm>
            <a:off x="11766110" y="6358527"/>
            <a:ext cx="268357" cy="268357"/>
          </a:xfrm>
          <a:prstGeom prst="octagon">
            <a:avLst/>
          </a:prstGeom>
          <a:solidFill>
            <a:srgbClr val="CCA862"/>
          </a:solidFill>
          <a:ln>
            <a:noFill/>
          </a:ln>
          <a:effectLst>
            <a:outerShdw blurRad="127000" dist="635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2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560D64F-6F4F-EAF0-BAB7-5E47E078B92D}"/>
              </a:ext>
            </a:extLst>
          </p:cNvPr>
          <p:cNvCxnSpPr>
            <a:cxnSpLocks/>
          </p:cNvCxnSpPr>
          <p:nvPr/>
        </p:nvCxnSpPr>
        <p:spPr>
          <a:xfrm flipH="1">
            <a:off x="5026414" y="1202345"/>
            <a:ext cx="5791200" cy="0"/>
          </a:xfrm>
          <a:prstGeom prst="line">
            <a:avLst/>
          </a:prstGeom>
          <a:ln>
            <a:solidFill>
              <a:srgbClr val="C48F22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2662020" y="76255"/>
            <a:ext cx="931566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OM" sz="3200" b="1" dirty="0" smtClean="0">
                <a:solidFill>
                  <a:srgbClr val="C48F22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أهم المؤشرات الإحصائية والإنجازات لصندوق الحماية الاجتماعية</a:t>
            </a:r>
          </a:p>
          <a:p>
            <a:pPr algn="ctr"/>
            <a:r>
              <a:rPr lang="ar-OM" sz="3200" b="1" dirty="0" smtClean="0">
                <a:solidFill>
                  <a:srgbClr val="C48F22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  (محافظة شمال الشرقية )  </a:t>
            </a:r>
            <a:endParaRPr lang="en-US" sz="3200" b="1" dirty="0">
              <a:solidFill>
                <a:srgbClr val="C48F22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8C8AB7D-86D5-F874-9DE3-98B5C7FC131B}"/>
              </a:ext>
            </a:extLst>
          </p:cNvPr>
          <p:cNvCxnSpPr/>
          <p:nvPr/>
        </p:nvCxnSpPr>
        <p:spPr>
          <a:xfrm>
            <a:off x="499807" y="665332"/>
            <a:ext cx="182002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/>
          <p:cNvGrpSpPr/>
          <p:nvPr/>
        </p:nvGrpSpPr>
        <p:grpSpPr>
          <a:xfrm>
            <a:off x="1260674" y="2634603"/>
            <a:ext cx="1549857" cy="1597123"/>
            <a:chOff x="5215205" y="3384253"/>
            <a:chExt cx="2376448" cy="2448922"/>
          </a:xfrm>
        </p:grpSpPr>
        <p:sp>
          <p:nvSpPr>
            <p:cNvPr id="8" name="Rectangle 7"/>
            <p:cNvSpPr/>
            <p:nvPr/>
          </p:nvSpPr>
          <p:spPr>
            <a:xfrm>
              <a:off x="5373387" y="4583559"/>
              <a:ext cx="2218266" cy="12496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ar-OM" sz="2348" b="1" dirty="0">
                  <a:solidFill>
                    <a:srgbClr val="013631"/>
                  </a:solidFill>
                  <a:latin typeface="Microsoft Uighur" panose="02000000000000000000" pitchFamily="2" charset="-78"/>
                  <a:cs typeface="Microsoft Uighur" panose="02000000000000000000" pitchFamily="2" charset="-78"/>
                </a:rPr>
                <a:t>إجمالي حجم الأعمال المنجزة </a:t>
              </a:r>
              <a:endParaRPr lang="ar-OM" sz="1044" b="1" dirty="0">
                <a:solidFill>
                  <a:srgbClr val="013631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5215205" y="3384253"/>
              <a:ext cx="2148731" cy="137280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ar-OM" sz="5218" b="1" dirty="0" smtClean="0">
                  <a:solidFill>
                    <a:schemeClr val="accent2">
                      <a:lumMod val="50000"/>
                    </a:schemeClr>
                  </a:solidFill>
                  <a:latin typeface="Microsoft Uighur" panose="02000000000000000000" pitchFamily="2" charset="-78"/>
                  <a:ea typeface="SimSun" panose="02010600030101010101" pitchFamily="2" charset="-122"/>
                  <a:cs typeface="Microsoft Uighur" panose="02000000000000000000" pitchFamily="2" charset="-78"/>
                </a:rPr>
                <a:t>4,345 </a:t>
              </a:r>
              <a:endParaRPr lang="en-US" sz="5218" dirty="0">
                <a:solidFill>
                  <a:schemeClr val="accent2">
                    <a:lumMod val="50000"/>
                  </a:schemeClr>
                </a:solidFill>
                <a:latin typeface="Microsoft Uighur" panose="02000000000000000000" pitchFamily="2" charset="-78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4017758" y="1515914"/>
            <a:ext cx="2358326" cy="1900845"/>
            <a:chOff x="1368125" y="1334911"/>
            <a:chExt cx="2358326" cy="1900845"/>
          </a:xfrm>
        </p:grpSpPr>
        <p:sp>
          <p:nvSpPr>
            <p:cNvPr id="11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1368125" y="1334911"/>
              <a:ext cx="2358326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>
                <a:solidFill>
                  <a:srgbClr val="DCD084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  <p:sp>
          <p:nvSpPr>
            <p:cNvPr id="12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1368125" y="2518030"/>
              <a:ext cx="2351437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إجمالي </a:t>
              </a:r>
              <a:r>
                <a:rPr lang="ar-OM" sz="2000" b="1" dirty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الخدمات الميدانية </a:t>
              </a:r>
              <a:endParaRPr lang="en-US" sz="20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6743466" y="1531076"/>
            <a:ext cx="2341531" cy="1900845"/>
            <a:chOff x="935333" y="1334911"/>
            <a:chExt cx="2341531" cy="1900845"/>
          </a:xfrm>
        </p:grpSpPr>
        <p:sp>
          <p:nvSpPr>
            <p:cNvPr id="14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341531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4400" b="1" dirty="0" smtClean="0">
                  <a:solidFill>
                    <a:srgbClr val="C48F22"/>
                  </a:solidFill>
                </a:rPr>
                <a:t>10</a:t>
              </a:r>
              <a:endParaRPr lang="en-US" sz="4400" b="1" dirty="0">
                <a:solidFill>
                  <a:srgbClr val="DCD084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  <p:sp>
          <p:nvSpPr>
            <p:cNvPr id="15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334642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المجموع الكلي للأنشطة الإعلامية</a:t>
              </a:r>
              <a:r>
                <a:rPr lang="ar-OM" sz="16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 </a:t>
              </a:r>
              <a:endParaRPr lang="en-US" sz="16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9459267" y="1531076"/>
            <a:ext cx="2348420" cy="1900845"/>
            <a:chOff x="935333" y="1334911"/>
            <a:chExt cx="2348420" cy="1900845"/>
          </a:xfrm>
        </p:grpSpPr>
        <p:sp>
          <p:nvSpPr>
            <p:cNvPr id="17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348420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4400" b="1" dirty="0" smtClean="0">
                  <a:solidFill>
                    <a:srgbClr val="C48F22"/>
                  </a:solidFill>
                </a:rPr>
                <a:t>915</a:t>
              </a:r>
              <a:endParaRPr lang="en-US" sz="4400" b="1" dirty="0">
                <a:solidFill>
                  <a:srgbClr val="DCD084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  <p:sp>
          <p:nvSpPr>
            <p:cNvPr id="18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341531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إجمالي حجم المعاملات </a:t>
              </a:r>
              <a:endParaRPr lang="en-US" sz="20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4024647" y="4053552"/>
            <a:ext cx="2358326" cy="1900845"/>
            <a:chOff x="935333" y="1334911"/>
            <a:chExt cx="2358326" cy="1900845"/>
          </a:xfrm>
        </p:grpSpPr>
        <p:sp>
          <p:nvSpPr>
            <p:cNvPr id="20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358326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4400" b="1" dirty="0" smtClean="0">
                  <a:solidFill>
                    <a:srgbClr val="C48F22"/>
                  </a:solidFill>
                </a:rPr>
                <a:t>41</a:t>
              </a:r>
              <a:endParaRPr lang="en-US" sz="4400" b="1" dirty="0">
                <a:solidFill>
                  <a:srgbClr val="C48F22"/>
                </a:solidFill>
              </a:endParaRPr>
            </a:p>
          </p:txBody>
        </p:sp>
        <p:sp>
          <p:nvSpPr>
            <p:cNvPr id="21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344548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المجموع الكلي للخدمات الاستباقية </a:t>
              </a:r>
              <a:endParaRPr lang="en-US" sz="20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9392103" y="4109968"/>
            <a:ext cx="2415584" cy="1900845"/>
            <a:chOff x="935333" y="1334911"/>
            <a:chExt cx="2415584" cy="1900845"/>
          </a:xfrm>
        </p:grpSpPr>
        <p:sp>
          <p:nvSpPr>
            <p:cNvPr id="23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415584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4400" b="1" dirty="0" smtClean="0">
                  <a:solidFill>
                    <a:srgbClr val="C48F22"/>
                  </a:solidFill>
                </a:rPr>
                <a:t>4,146</a:t>
              </a:r>
              <a:endParaRPr lang="en-US" sz="4400" b="1" dirty="0">
                <a:solidFill>
                  <a:srgbClr val="C48F22"/>
                </a:solidFill>
              </a:endParaRPr>
            </a:p>
          </p:txBody>
        </p:sp>
        <p:sp>
          <p:nvSpPr>
            <p:cNvPr id="24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408695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المجموع الكلي لطلبات حجز المواعيد </a:t>
              </a:r>
              <a:endParaRPr lang="fr-FR" sz="20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6718051" y="4053552"/>
            <a:ext cx="2366946" cy="1900845"/>
            <a:chOff x="935333" y="1334911"/>
            <a:chExt cx="2366946" cy="1900845"/>
          </a:xfrm>
        </p:grpSpPr>
        <p:sp>
          <p:nvSpPr>
            <p:cNvPr id="26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366946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4400" b="1" dirty="0" smtClean="0">
                  <a:solidFill>
                    <a:srgbClr val="C48F22"/>
                  </a:solidFill>
                </a:rPr>
                <a:t>2,310</a:t>
              </a:r>
              <a:endParaRPr lang="en-US" sz="4400" b="1" dirty="0">
                <a:solidFill>
                  <a:srgbClr val="C48F22"/>
                </a:solidFill>
              </a:endParaRPr>
            </a:p>
          </p:txBody>
        </p:sp>
        <p:sp>
          <p:nvSpPr>
            <p:cNvPr id="27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360057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المجموع الكلي للخدمات الذاتية</a:t>
              </a:r>
              <a:endParaRPr lang="en-US" sz="20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sp>
        <p:nvSpPr>
          <p:cNvPr id="28" name="Rectangle 27"/>
          <p:cNvSpPr/>
          <p:nvPr/>
        </p:nvSpPr>
        <p:spPr>
          <a:xfrm>
            <a:off x="4707731" y="1715620"/>
            <a:ext cx="1127232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OM" sz="4400" b="1" dirty="0" smtClean="0">
                <a:solidFill>
                  <a:srgbClr val="C48F22"/>
                </a:solidFill>
              </a:rPr>
              <a:t>816</a:t>
            </a:r>
            <a:endParaRPr lang="en-US" sz="44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461D46E-147C-49AA-1082-D50B53FFCC23}"/>
              </a:ext>
            </a:extLst>
          </p:cNvPr>
          <p:cNvSpPr/>
          <p:nvPr/>
        </p:nvSpPr>
        <p:spPr>
          <a:xfrm>
            <a:off x="511861" y="1544567"/>
            <a:ext cx="3218145" cy="4352859"/>
          </a:xfrm>
          <a:prstGeom prst="rect">
            <a:avLst/>
          </a:prstGeom>
          <a:solidFill>
            <a:srgbClr val="D8CFCE"/>
          </a:solidFill>
          <a:ln>
            <a:noFill/>
          </a:ln>
          <a:effectLst>
            <a:outerShdw blurRad="254000" sx="105000" sy="105000" algn="ctr" rotWithShape="0">
              <a:schemeClr val="tx1">
                <a:lumMod val="85000"/>
                <a:lumOff val="1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0" name="Group 29"/>
          <p:cNvGrpSpPr/>
          <p:nvPr/>
        </p:nvGrpSpPr>
        <p:grpSpPr>
          <a:xfrm>
            <a:off x="1246318" y="1891623"/>
            <a:ext cx="1595701" cy="1613121"/>
            <a:chOff x="5200997" y="3415806"/>
            <a:chExt cx="2446739" cy="2473452"/>
          </a:xfrm>
        </p:grpSpPr>
        <p:sp>
          <p:nvSpPr>
            <p:cNvPr id="31" name="Rectangle 30"/>
            <p:cNvSpPr/>
            <p:nvPr/>
          </p:nvSpPr>
          <p:spPr>
            <a:xfrm>
              <a:off x="5429470" y="4639642"/>
              <a:ext cx="2218266" cy="12496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ar-OM" sz="2348" b="1" dirty="0">
                  <a:solidFill>
                    <a:srgbClr val="013631"/>
                  </a:solidFill>
                  <a:latin typeface="Microsoft Uighur" panose="02000000000000000000" pitchFamily="2" charset="-78"/>
                  <a:cs typeface="Microsoft Uighur" panose="02000000000000000000" pitchFamily="2" charset="-78"/>
                </a:rPr>
                <a:t>إجمالي حجم الأعمال المنجزة </a:t>
              </a:r>
              <a:endParaRPr lang="ar-OM" sz="1044" b="1" dirty="0">
                <a:solidFill>
                  <a:srgbClr val="013631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endParaRP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5200997" y="3415806"/>
              <a:ext cx="2251961" cy="108542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ar-OM" sz="4000" b="1" dirty="0" smtClean="0">
                  <a:solidFill>
                    <a:srgbClr val="760000"/>
                  </a:solidFill>
                </a:rPr>
                <a:t>8,238</a:t>
              </a:r>
              <a:endParaRPr lang="en-US" sz="5218" dirty="0">
                <a:solidFill>
                  <a:schemeClr val="accent2">
                    <a:lumMod val="50000"/>
                  </a:schemeClr>
                </a:solidFill>
                <a:latin typeface="Microsoft Uighur" panose="02000000000000000000" pitchFamily="2" charset="-78"/>
                <a:cs typeface="Microsoft Uighur" panose="02000000000000000000" pitchFamily="2" charset="-78"/>
              </a:endParaRPr>
            </a:p>
          </p:txBody>
        </p: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7C23099B-6F7C-4BBD-9F4E-A5126796931E}"/>
              </a:ext>
            </a:extLst>
          </p:cNvPr>
          <p:cNvSpPr/>
          <p:nvPr/>
        </p:nvSpPr>
        <p:spPr>
          <a:xfrm>
            <a:off x="521521" y="3938984"/>
            <a:ext cx="3208485" cy="740249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OM" sz="2200" b="1" dirty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المشاركة في </a:t>
            </a:r>
            <a:r>
              <a:rPr lang="en-GB" sz="3200" b="1" spc="33" dirty="0">
                <a:solidFill>
                  <a:srgbClr val="760000"/>
                </a:solidFill>
                <a:latin typeface="Microsoft Uighur" panose="02000000000000000000" pitchFamily="2" charset="-78"/>
                <a:ea typeface="Segoe UI" panose="020B0502040204020203" pitchFamily="34" charset="0"/>
                <a:cs typeface="Microsoft Uighur" panose="02000000000000000000" pitchFamily="2" charset="-78"/>
              </a:rPr>
              <a:t>15 </a:t>
            </a:r>
            <a:r>
              <a:rPr lang="ar-OM" sz="2200" b="1" dirty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 مبادرات </a:t>
            </a:r>
            <a:r>
              <a:rPr lang="ar-OM" sz="2200" b="1" dirty="0" smtClean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تشغيلية</a:t>
            </a:r>
            <a:endParaRPr lang="en-US" sz="2200" b="1" dirty="0">
              <a:solidFill>
                <a:srgbClr val="760000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C23099B-6F7C-4BBD-9F4E-A5126796931E}"/>
              </a:ext>
            </a:extLst>
          </p:cNvPr>
          <p:cNvSpPr/>
          <p:nvPr/>
        </p:nvSpPr>
        <p:spPr>
          <a:xfrm>
            <a:off x="521521" y="4790646"/>
            <a:ext cx="3208485" cy="740249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ar-OM" sz="3200" b="1" spc="33" dirty="0" smtClean="0">
                <a:solidFill>
                  <a:srgbClr val="760000"/>
                </a:solidFill>
                <a:latin typeface="Microsoft Uighur" panose="02000000000000000000" pitchFamily="2" charset="-78"/>
                <a:ea typeface="Segoe UI" panose="020B0502040204020203" pitchFamily="34" charset="0"/>
                <a:cs typeface="Microsoft Uighur" panose="02000000000000000000" pitchFamily="2" charset="-78"/>
              </a:rPr>
              <a:t>13</a:t>
            </a:r>
            <a:r>
              <a:rPr lang="ar-OM" sz="2000" b="1" dirty="0" smtClean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 </a:t>
            </a:r>
            <a:r>
              <a:rPr lang="ar-OM" sz="2200" b="1" dirty="0" smtClean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موظف</a:t>
            </a:r>
            <a:endParaRPr lang="en-US" sz="2200" b="1" dirty="0">
              <a:solidFill>
                <a:srgbClr val="760000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C6A0D7B-C2BD-55C2-BDE8-6DD2DE363709}"/>
              </a:ext>
            </a:extLst>
          </p:cNvPr>
          <p:cNvSpPr/>
          <p:nvPr/>
        </p:nvSpPr>
        <p:spPr>
          <a:xfrm>
            <a:off x="121968" y="373842"/>
            <a:ext cx="2720051" cy="500988"/>
          </a:xfrm>
          <a:prstGeom prst="rect">
            <a:avLst/>
          </a:prstGeom>
          <a:gradFill>
            <a:gsLst>
              <a:gs pos="0">
                <a:srgbClr val="241F21">
                  <a:alpha val="85000"/>
                </a:srgbClr>
              </a:gs>
              <a:gs pos="100000">
                <a:srgbClr val="241F21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B702577-6522-C60A-9629-8528414077DB}"/>
              </a:ext>
            </a:extLst>
          </p:cNvPr>
          <p:cNvSpPr/>
          <p:nvPr/>
        </p:nvSpPr>
        <p:spPr>
          <a:xfrm>
            <a:off x="2334275" y="492780"/>
            <a:ext cx="1005840" cy="302020"/>
          </a:xfrm>
          <a:prstGeom prst="rect">
            <a:avLst/>
          </a:prstGeom>
          <a:solidFill>
            <a:srgbClr val="C48F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r-OM" sz="2000" b="1" dirty="0" smtClean="0">
                <a:solidFill>
                  <a:prstClr val="white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يوليو</a:t>
            </a:r>
            <a:r>
              <a:rPr kumimoji="0" lang="ar-OM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8C8AB7D-86D5-F874-9DE3-98B5C7FC131B}"/>
              </a:ext>
            </a:extLst>
          </p:cNvPr>
          <p:cNvCxnSpPr/>
          <p:nvPr/>
        </p:nvCxnSpPr>
        <p:spPr>
          <a:xfrm>
            <a:off x="884142" y="624336"/>
            <a:ext cx="181356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251505" y="414809"/>
            <a:ext cx="718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OM" sz="2000" b="1" dirty="0" smtClean="0">
                <a:solidFill>
                  <a:prstClr val="white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سبتمبر </a:t>
            </a:r>
            <a:endParaRPr lang="en-US" sz="2000" b="1" dirty="0">
              <a:solidFill>
                <a:prstClr val="white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sp>
        <p:nvSpPr>
          <p:cNvPr id="39" name="Octagon 38">
            <a:extLst>
              <a:ext uri="{FF2B5EF4-FFF2-40B4-BE49-F238E27FC236}">
                <a16:creationId xmlns:a16="http://schemas.microsoft.com/office/drawing/2014/main" id="{8F86244E-E4BF-5A5A-2854-9EE6B1A483EE}"/>
              </a:ext>
            </a:extLst>
          </p:cNvPr>
          <p:cNvSpPr/>
          <p:nvPr/>
        </p:nvSpPr>
        <p:spPr>
          <a:xfrm>
            <a:off x="11766110" y="6358527"/>
            <a:ext cx="268357" cy="268357"/>
          </a:xfrm>
          <a:prstGeom prst="octagon">
            <a:avLst/>
          </a:prstGeom>
          <a:solidFill>
            <a:srgbClr val="CCA862"/>
          </a:solidFill>
          <a:ln>
            <a:noFill/>
          </a:ln>
          <a:effectLst>
            <a:outerShdw blurRad="127000" dist="635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660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560D64F-6F4F-EAF0-BAB7-5E47E078B92D}"/>
              </a:ext>
            </a:extLst>
          </p:cNvPr>
          <p:cNvCxnSpPr>
            <a:cxnSpLocks/>
          </p:cNvCxnSpPr>
          <p:nvPr/>
        </p:nvCxnSpPr>
        <p:spPr>
          <a:xfrm flipH="1">
            <a:off x="4808695" y="1186016"/>
            <a:ext cx="5791200" cy="0"/>
          </a:xfrm>
          <a:prstGeom prst="line">
            <a:avLst/>
          </a:prstGeom>
          <a:ln>
            <a:solidFill>
              <a:srgbClr val="C48F22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3059017" y="100818"/>
            <a:ext cx="931566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OM" sz="3200" b="1" dirty="0" smtClean="0">
                <a:solidFill>
                  <a:srgbClr val="C48F22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أهم المؤشرات الإحصائية والإنجازات لصندوق الحماية الاجتماعية</a:t>
            </a:r>
          </a:p>
          <a:p>
            <a:pPr algn="ctr"/>
            <a:r>
              <a:rPr lang="ar-OM" sz="3200" b="1" dirty="0" smtClean="0">
                <a:solidFill>
                  <a:srgbClr val="C48F22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  (محافظة جنوب الشرقية )  </a:t>
            </a:r>
            <a:endParaRPr lang="en-US" sz="3200" b="1" dirty="0">
              <a:solidFill>
                <a:srgbClr val="C48F22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8C8AB7D-86D5-F874-9DE3-98B5C7FC131B}"/>
              </a:ext>
            </a:extLst>
          </p:cNvPr>
          <p:cNvCxnSpPr/>
          <p:nvPr/>
        </p:nvCxnSpPr>
        <p:spPr>
          <a:xfrm>
            <a:off x="499807" y="665332"/>
            <a:ext cx="182002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/>
          <p:cNvGrpSpPr/>
          <p:nvPr/>
        </p:nvGrpSpPr>
        <p:grpSpPr>
          <a:xfrm>
            <a:off x="1260674" y="2634603"/>
            <a:ext cx="1549857" cy="1597123"/>
            <a:chOff x="5215205" y="3384253"/>
            <a:chExt cx="2376448" cy="2448922"/>
          </a:xfrm>
        </p:grpSpPr>
        <p:sp>
          <p:nvSpPr>
            <p:cNvPr id="8" name="Rectangle 7"/>
            <p:cNvSpPr/>
            <p:nvPr/>
          </p:nvSpPr>
          <p:spPr>
            <a:xfrm>
              <a:off x="5373387" y="4583559"/>
              <a:ext cx="2218266" cy="12496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ar-OM" sz="2348" b="1" dirty="0">
                  <a:solidFill>
                    <a:srgbClr val="013631"/>
                  </a:solidFill>
                  <a:latin typeface="Microsoft Uighur" panose="02000000000000000000" pitchFamily="2" charset="-78"/>
                  <a:cs typeface="Microsoft Uighur" panose="02000000000000000000" pitchFamily="2" charset="-78"/>
                </a:rPr>
                <a:t>إجمالي حجم الأعمال المنجزة </a:t>
              </a:r>
              <a:endParaRPr lang="ar-OM" sz="1044" b="1" dirty="0">
                <a:solidFill>
                  <a:srgbClr val="013631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5215205" y="3384253"/>
              <a:ext cx="2148731" cy="137280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ar-OM" sz="5218" b="1" dirty="0" smtClean="0">
                  <a:solidFill>
                    <a:schemeClr val="accent2">
                      <a:lumMod val="50000"/>
                    </a:schemeClr>
                  </a:solidFill>
                  <a:latin typeface="Microsoft Uighur" panose="02000000000000000000" pitchFamily="2" charset="-78"/>
                  <a:ea typeface="SimSun" panose="02010600030101010101" pitchFamily="2" charset="-122"/>
                  <a:cs typeface="Microsoft Uighur" panose="02000000000000000000" pitchFamily="2" charset="-78"/>
                </a:rPr>
                <a:t>4,345 </a:t>
              </a:r>
              <a:endParaRPr lang="en-US" sz="5218" dirty="0">
                <a:solidFill>
                  <a:schemeClr val="accent2">
                    <a:lumMod val="50000"/>
                  </a:schemeClr>
                </a:solidFill>
                <a:latin typeface="Microsoft Uighur" panose="02000000000000000000" pitchFamily="2" charset="-78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4044865" y="1544567"/>
            <a:ext cx="2358326" cy="1900845"/>
            <a:chOff x="1368125" y="1334911"/>
            <a:chExt cx="2358326" cy="1900845"/>
          </a:xfrm>
        </p:grpSpPr>
        <p:sp>
          <p:nvSpPr>
            <p:cNvPr id="11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1368125" y="1334911"/>
              <a:ext cx="2358326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>
                <a:solidFill>
                  <a:srgbClr val="DCD084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  <p:sp>
          <p:nvSpPr>
            <p:cNvPr id="12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1368125" y="2518030"/>
              <a:ext cx="2351437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إجمالي </a:t>
              </a:r>
              <a:r>
                <a:rPr lang="ar-OM" sz="2000" b="1" dirty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الخدمات الميدانية </a:t>
              </a:r>
              <a:endParaRPr lang="en-US" sz="20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6743466" y="1531076"/>
            <a:ext cx="2341531" cy="1900845"/>
            <a:chOff x="935333" y="1334911"/>
            <a:chExt cx="2341531" cy="1900845"/>
          </a:xfrm>
        </p:grpSpPr>
        <p:sp>
          <p:nvSpPr>
            <p:cNvPr id="14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341531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4400" b="1" dirty="0" smtClean="0">
                  <a:solidFill>
                    <a:srgbClr val="C48F22"/>
                  </a:solidFill>
                </a:rPr>
                <a:t>25</a:t>
              </a:r>
              <a:endParaRPr lang="en-US" sz="4400" b="1" dirty="0">
                <a:solidFill>
                  <a:srgbClr val="DCD084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  <p:sp>
          <p:nvSpPr>
            <p:cNvPr id="15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334642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المجموع الكلي للأنشطة الإعلامية</a:t>
              </a:r>
              <a:r>
                <a:rPr lang="ar-OM" sz="16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 </a:t>
              </a:r>
              <a:endParaRPr lang="en-US" sz="16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9459267" y="1531076"/>
            <a:ext cx="2348420" cy="1900845"/>
            <a:chOff x="935333" y="1334911"/>
            <a:chExt cx="2348420" cy="1900845"/>
          </a:xfrm>
        </p:grpSpPr>
        <p:sp>
          <p:nvSpPr>
            <p:cNvPr id="17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348420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4400" b="1" dirty="0" smtClean="0">
                  <a:solidFill>
                    <a:srgbClr val="C48F22"/>
                  </a:solidFill>
                </a:rPr>
                <a:t>2,218</a:t>
              </a:r>
              <a:endParaRPr lang="en-US" sz="4400" b="1" dirty="0">
                <a:solidFill>
                  <a:srgbClr val="DCD084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  <p:sp>
          <p:nvSpPr>
            <p:cNvPr id="18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341531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إجمالي حجم المعاملات </a:t>
              </a:r>
              <a:endParaRPr lang="en-US" sz="20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4024647" y="4053552"/>
            <a:ext cx="2358326" cy="1900845"/>
            <a:chOff x="935333" y="1334911"/>
            <a:chExt cx="2358326" cy="1900845"/>
          </a:xfrm>
        </p:grpSpPr>
        <p:sp>
          <p:nvSpPr>
            <p:cNvPr id="20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358326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4400" b="1" dirty="0" smtClean="0">
                  <a:solidFill>
                    <a:srgbClr val="C48F22"/>
                  </a:solidFill>
                </a:rPr>
                <a:t>128</a:t>
              </a:r>
              <a:endParaRPr lang="en-US" sz="4400" b="1" dirty="0">
                <a:solidFill>
                  <a:srgbClr val="C48F22"/>
                </a:solidFill>
              </a:endParaRPr>
            </a:p>
          </p:txBody>
        </p:sp>
        <p:sp>
          <p:nvSpPr>
            <p:cNvPr id="21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344548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المجموع الكلي للخدمات الاستباقية </a:t>
              </a:r>
              <a:endParaRPr lang="en-US" sz="20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9392103" y="4109968"/>
            <a:ext cx="2415584" cy="1900845"/>
            <a:chOff x="935333" y="1334911"/>
            <a:chExt cx="2415584" cy="1900845"/>
          </a:xfrm>
        </p:grpSpPr>
        <p:sp>
          <p:nvSpPr>
            <p:cNvPr id="23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415584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4400" b="1" dirty="0" smtClean="0">
                  <a:solidFill>
                    <a:srgbClr val="C48F22"/>
                  </a:solidFill>
                </a:rPr>
                <a:t>3,310</a:t>
              </a:r>
              <a:endParaRPr lang="en-US" sz="4400" b="1" dirty="0">
                <a:solidFill>
                  <a:srgbClr val="C48F22"/>
                </a:solidFill>
              </a:endParaRPr>
            </a:p>
          </p:txBody>
        </p:sp>
        <p:sp>
          <p:nvSpPr>
            <p:cNvPr id="24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408695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المجموع الكلي لطلبات حجز المواعيد </a:t>
              </a:r>
              <a:endParaRPr lang="fr-FR" sz="20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6718051" y="4053552"/>
            <a:ext cx="2366946" cy="1900845"/>
            <a:chOff x="935333" y="1334911"/>
            <a:chExt cx="2366946" cy="1900845"/>
          </a:xfrm>
        </p:grpSpPr>
        <p:sp>
          <p:nvSpPr>
            <p:cNvPr id="26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366946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4400" b="1" dirty="0" smtClean="0">
                  <a:solidFill>
                    <a:srgbClr val="C48F22"/>
                  </a:solidFill>
                </a:rPr>
                <a:t>3,476</a:t>
              </a:r>
              <a:endParaRPr lang="en-US" sz="4400" b="1" dirty="0">
                <a:solidFill>
                  <a:srgbClr val="C48F22"/>
                </a:solidFill>
              </a:endParaRPr>
            </a:p>
          </p:txBody>
        </p:sp>
        <p:sp>
          <p:nvSpPr>
            <p:cNvPr id="27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360057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المجموع الكلي للخدمات الذاتية</a:t>
              </a:r>
              <a:endParaRPr lang="en-US" sz="20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sp>
        <p:nvSpPr>
          <p:cNvPr id="28" name="Rectangle 27"/>
          <p:cNvSpPr/>
          <p:nvPr/>
        </p:nvSpPr>
        <p:spPr>
          <a:xfrm>
            <a:off x="4808695" y="1715620"/>
            <a:ext cx="813043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OM" sz="4400" b="1" dirty="0" smtClean="0">
                <a:solidFill>
                  <a:srgbClr val="C48F22"/>
                </a:solidFill>
              </a:rPr>
              <a:t>74</a:t>
            </a:r>
            <a:endParaRPr lang="en-US" sz="44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461D46E-147C-49AA-1082-D50B53FFCC23}"/>
              </a:ext>
            </a:extLst>
          </p:cNvPr>
          <p:cNvSpPr/>
          <p:nvPr/>
        </p:nvSpPr>
        <p:spPr>
          <a:xfrm>
            <a:off x="511861" y="1544567"/>
            <a:ext cx="3218145" cy="4352859"/>
          </a:xfrm>
          <a:prstGeom prst="rect">
            <a:avLst/>
          </a:prstGeom>
          <a:solidFill>
            <a:srgbClr val="D8CFCE"/>
          </a:solidFill>
          <a:ln>
            <a:noFill/>
          </a:ln>
          <a:effectLst>
            <a:outerShdw blurRad="254000" sx="105000" sy="105000" algn="ctr" rotWithShape="0">
              <a:schemeClr val="tx1">
                <a:lumMod val="85000"/>
                <a:lumOff val="1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0" name="Group 29"/>
          <p:cNvGrpSpPr/>
          <p:nvPr/>
        </p:nvGrpSpPr>
        <p:grpSpPr>
          <a:xfrm>
            <a:off x="1246318" y="1891623"/>
            <a:ext cx="1595701" cy="1613121"/>
            <a:chOff x="5200997" y="3415806"/>
            <a:chExt cx="2446739" cy="2473452"/>
          </a:xfrm>
        </p:grpSpPr>
        <p:sp>
          <p:nvSpPr>
            <p:cNvPr id="31" name="Rectangle 30"/>
            <p:cNvSpPr/>
            <p:nvPr/>
          </p:nvSpPr>
          <p:spPr>
            <a:xfrm>
              <a:off x="5429470" y="4639642"/>
              <a:ext cx="2218266" cy="12496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ar-OM" sz="2348" b="1" dirty="0">
                  <a:solidFill>
                    <a:srgbClr val="013631"/>
                  </a:solidFill>
                  <a:latin typeface="Microsoft Uighur" panose="02000000000000000000" pitchFamily="2" charset="-78"/>
                  <a:cs typeface="Microsoft Uighur" panose="02000000000000000000" pitchFamily="2" charset="-78"/>
                </a:rPr>
                <a:t>إجمالي حجم الأعمال المنجزة </a:t>
              </a:r>
              <a:endParaRPr lang="ar-OM" sz="1044" b="1" dirty="0">
                <a:solidFill>
                  <a:srgbClr val="013631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endParaRP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5200997" y="3415806"/>
              <a:ext cx="2251961" cy="108542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ar-OM" sz="4000" b="1" dirty="0" smtClean="0">
                  <a:solidFill>
                    <a:srgbClr val="760000"/>
                  </a:solidFill>
                </a:rPr>
                <a:t>9,231</a:t>
              </a:r>
              <a:endParaRPr lang="en-US" sz="5218" dirty="0">
                <a:solidFill>
                  <a:schemeClr val="accent2">
                    <a:lumMod val="50000"/>
                  </a:schemeClr>
                </a:solidFill>
                <a:latin typeface="Microsoft Uighur" panose="02000000000000000000" pitchFamily="2" charset="-78"/>
                <a:cs typeface="Microsoft Uighur" panose="02000000000000000000" pitchFamily="2" charset="-78"/>
              </a:endParaRPr>
            </a:p>
          </p:txBody>
        </p: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7C23099B-6F7C-4BBD-9F4E-A5126796931E}"/>
              </a:ext>
            </a:extLst>
          </p:cNvPr>
          <p:cNvSpPr/>
          <p:nvPr/>
        </p:nvSpPr>
        <p:spPr>
          <a:xfrm>
            <a:off x="521521" y="3938984"/>
            <a:ext cx="3208485" cy="740249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OM" sz="2200" b="1" dirty="0" smtClean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المشاركة </a:t>
            </a:r>
            <a:r>
              <a:rPr lang="ar-OM" sz="2200" b="1" dirty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في </a:t>
            </a:r>
            <a:r>
              <a:rPr lang="en-GB" sz="3200" b="1" spc="33" dirty="0">
                <a:solidFill>
                  <a:srgbClr val="760000"/>
                </a:solidFill>
                <a:latin typeface="Microsoft Uighur" panose="02000000000000000000" pitchFamily="2" charset="-78"/>
                <a:ea typeface="Segoe UI" panose="020B0502040204020203" pitchFamily="34" charset="0"/>
                <a:cs typeface="Microsoft Uighur" panose="02000000000000000000" pitchFamily="2" charset="-78"/>
              </a:rPr>
              <a:t>15 </a:t>
            </a:r>
            <a:r>
              <a:rPr lang="ar-OM" sz="2200" b="1" dirty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 مبادرات تشغيلية</a:t>
            </a:r>
            <a:endParaRPr lang="en-US" sz="2200" b="1" dirty="0">
              <a:solidFill>
                <a:srgbClr val="760000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C23099B-6F7C-4BBD-9F4E-A5126796931E}"/>
              </a:ext>
            </a:extLst>
          </p:cNvPr>
          <p:cNvSpPr/>
          <p:nvPr/>
        </p:nvSpPr>
        <p:spPr>
          <a:xfrm>
            <a:off x="521521" y="4790646"/>
            <a:ext cx="3208485" cy="740249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ar-OM" sz="3200" b="1" spc="33" dirty="0" smtClean="0">
                <a:solidFill>
                  <a:srgbClr val="760000"/>
                </a:solidFill>
                <a:latin typeface="Microsoft Uighur" panose="02000000000000000000" pitchFamily="2" charset="-78"/>
                <a:ea typeface="Segoe UI" panose="020B0502040204020203" pitchFamily="34" charset="0"/>
                <a:cs typeface="Microsoft Uighur" panose="02000000000000000000" pitchFamily="2" charset="-78"/>
              </a:rPr>
              <a:t>10</a:t>
            </a:r>
            <a:r>
              <a:rPr lang="ar-OM" sz="2400" b="1" dirty="0" smtClean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 </a:t>
            </a:r>
            <a:r>
              <a:rPr lang="ar-OM" sz="2200" b="1" dirty="0" smtClean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موظف</a:t>
            </a:r>
            <a:endParaRPr lang="en-US" sz="2200" b="1" dirty="0">
              <a:solidFill>
                <a:srgbClr val="760000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C6A0D7B-C2BD-55C2-BDE8-6DD2DE363709}"/>
              </a:ext>
            </a:extLst>
          </p:cNvPr>
          <p:cNvSpPr/>
          <p:nvPr/>
        </p:nvSpPr>
        <p:spPr>
          <a:xfrm>
            <a:off x="121968" y="373842"/>
            <a:ext cx="2720051" cy="500988"/>
          </a:xfrm>
          <a:prstGeom prst="rect">
            <a:avLst/>
          </a:prstGeom>
          <a:gradFill>
            <a:gsLst>
              <a:gs pos="0">
                <a:srgbClr val="241F21">
                  <a:alpha val="85000"/>
                </a:srgbClr>
              </a:gs>
              <a:gs pos="100000">
                <a:srgbClr val="241F21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B702577-6522-C60A-9629-8528414077DB}"/>
              </a:ext>
            </a:extLst>
          </p:cNvPr>
          <p:cNvSpPr/>
          <p:nvPr/>
        </p:nvSpPr>
        <p:spPr>
          <a:xfrm>
            <a:off x="2334275" y="492780"/>
            <a:ext cx="1005840" cy="302020"/>
          </a:xfrm>
          <a:prstGeom prst="rect">
            <a:avLst/>
          </a:prstGeom>
          <a:solidFill>
            <a:srgbClr val="C48F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r-OM" sz="2000" b="1" dirty="0" smtClean="0">
                <a:solidFill>
                  <a:prstClr val="white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يوليو</a:t>
            </a:r>
            <a:r>
              <a:rPr kumimoji="0" lang="ar-OM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8C8AB7D-86D5-F874-9DE3-98B5C7FC131B}"/>
              </a:ext>
            </a:extLst>
          </p:cNvPr>
          <p:cNvCxnSpPr/>
          <p:nvPr/>
        </p:nvCxnSpPr>
        <p:spPr>
          <a:xfrm>
            <a:off x="884142" y="624336"/>
            <a:ext cx="181356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267407" y="414809"/>
            <a:ext cx="718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OM" sz="2000" b="1" dirty="0" smtClean="0">
                <a:solidFill>
                  <a:prstClr val="white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سبتمبر </a:t>
            </a:r>
            <a:endParaRPr lang="en-US" sz="2000" b="1" dirty="0">
              <a:solidFill>
                <a:prstClr val="white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sp>
        <p:nvSpPr>
          <p:cNvPr id="39" name="Octagon 38">
            <a:extLst>
              <a:ext uri="{FF2B5EF4-FFF2-40B4-BE49-F238E27FC236}">
                <a16:creationId xmlns:a16="http://schemas.microsoft.com/office/drawing/2014/main" id="{8F86244E-E4BF-5A5A-2854-9EE6B1A483EE}"/>
              </a:ext>
            </a:extLst>
          </p:cNvPr>
          <p:cNvSpPr/>
          <p:nvPr/>
        </p:nvSpPr>
        <p:spPr>
          <a:xfrm>
            <a:off x="11766110" y="6358527"/>
            <a:ext cx="268357" cy="268357"/>
          </a:xfrm>
          <a:prstGeom prst="octagon">
            <a:avLst/>
          </a:prstGeom>
          <a:solidFill>
            <a:srgbClr val="CCA862"/>
          </a:solidFill>
          <a:ln>
            <a:noFill/>
          </a:ln>
          <a:effectLst>
            <a:outerShdw blurRad="127000" dist="635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91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560D64F-6F4F-EAF0-BAB7-5E47E078B92D}"/>
              </a:ext>
            </a:extLst>
          </p:cNvPr>
          <p:cNvCxnSpPr>
            <a:cxnSpLocks/>
          </p:cNvCxnSpPr>
          <p:nvPr/>
        </p:nvCxnSpPr>
        <p:spPr>
          <a:xfrm flipH="1">
            <a:off x="5149163" y="892102"/>
            <a:ext cx="5791200" cy="0"/>
          </a:xfrm>
          <a:prstGeom prst="line">
            <a:avLst/>
          </a:prstGeom>
          <a:ln>
            <a:solidFill>
              <a:srgbClr val="C48F22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3387195" y="303591"/>
            <a:ext cx="93156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OM" sz="3200" b="1" dirty="0" smtClean="0">
                <a:solidFill>
                  <a:srgbClr val="C48F22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أهم المؤشرات الإحصائية والإنجازات لصندوق الحماية الاجتماعية  (محافظة ظفار)  </a:t>
            </a:r>
            <a:endParaRPr lang="en-US" sz="3200" b="1" dirty="0">
              <a:solidFill>
                <a:srgbClr val="C48F22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8C8AB7D-86D5-F874-9DE3-98B5C7FC131B}"/>
              </a:ext>
            </a:extLst>
          </p:cNvPr>
          <p:cNvCxnSpPr/>
          <p:nvPr/>
        </p:nvCxnSpPr>
        <p:spPr>
          <a:xfrm>
            <a:off x="499807" y="665332"/>
            <a:ext cx="182002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/>
          <p:cNvGrpSpPr/>
          <p:nvPr/>
        </p:nvGrpSpPr>
        <p:grpSpPr>
          <a:xfrm>
            <a:off x="1260674" y="2634603"/>
            <a:ext cx="1549857" cy="1597123"/>
            <a:chOff x="5215205" y="3384253"/>
            <a:chExt cx="2376448" cy="2448922"/>
          </a:xfrm>
        </p:grpSpPr>
        <p:sp>
          <p:nvSpPr>
            <p:cNvPr id="8" name="Rectangle 7"/>
            <p:cNvSpPr/>
            <p:nvPr/>
          </p:nvSpPr>
          <p:spPr>
            <a:xfrm>
              <a:off x="5373387" y="4583559"/>
              <a:ext cx="2218266" cy="12496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ar-OM" sz="2348" b="1" dirty="0">
                  <a:solidFill>
                    <a:srgbClr val="013631"/>
                  </a:solidFill>
                  <a:latin typeface="Microsoft Uighur" panose="02000000000000000000" pitchFamily="2" charset="-78"/>
                  <a:cs typeface="Microsoft Uighur" panose="02000000000000000000" pitchFamily="2" charset="-78"/>
                </a:rPr>
                <a:t>إجمالي حجم الأعمال المنجزة </a:t>
              </a:r>
              <a:endParaRPr lang="ar-OM" sz="1044" b="1" dirty="0">
                <a:solidFill>
                  <a:srgbClr val="013631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5215205" y="3384253"/>
              <a:ext cx="2148731" cy="137280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ar-OM" sz="5218" b="1" dirty="0" smtClean="0">
                  <a:solidFill>
                    <a:schemeClr val="accent2">
                      <a:lumMod val="50000"/>
                    </a:schemeClr>
                  </a:solidFill>
                  <a:latin typeface="Microsoft Uighur" panose="02000000000000000000" pitchFamily="2" charset="-78"/>
                  <a:ea typeface="SimSun" panose="02010600030101010101" pitchFamily="2" charset="-122"/>
                  <a:cs typeface="Microsoft Uighur" panose="02000000000000000000" pitchFamily="2" charset="-78"/>
                </a:rPr>
                <a:t>4,345 </a:t>
              </a:r>
              <a:endParaRPr lang="en-US" sz="5218" dirty="0">
                <a:solidFill>
                  <a:schemeClr val="accent2">
                    <a:lumMod val="50000"/>
                  </a:schemeClr>
                </a:solidFill>
                <a:latin typeface="Microsoft Uighur" panose="02000000000000000000" pitchFamily="2" charset="-78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4024647" y="1531076"/>
            <a:ext cx="2358326" cy="1900845"/>
            <a:chOff x="1368125" y="1334911"/>
            <a:chExt cx="2358326" cy="1900845"/>
          </a:xfrm>
        </p:grpSpPr>
        <p:sp>
          <p:nvSpPr>
            <p:cNvPr id="11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1368125" y="1334911"/>
              <a:ext cx="2358326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>
                <a:solidFill>
                  <a:srgbClr val="DCD084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  <p:sp>
          <p:nvSpPr>
            <p:cNvPr id="12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1368125" y="2518030"/>
              <a:ext cx="2351437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إجمالي </a:t>
              </a:r>
              <a:r>
                <a:rPr lang="ar-OM" sz="2000" b="1" dirty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الخدمات الميدانية </a:t>
              </a:r>
              <a:endParaRPr lang="en-US" sz="20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6743466" y="1531076"/>
            <a:ext cx="2341531" cy="1900845"/>
            <a:chOff x="935333" y="1334911"/>
            <a:chExt cx="2341531" cy="1900845"/>
          </a:xfrm>
        </p:grpSpPr>
        <p:sp>
          <p:nvSpPr>
            <p:cNvPr id="14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341531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4400" b="1" dirty="0" smtClean="0">
                  <a:solidFill>
                    <a:srgbClr val="C48F22"/>
                  </a:solidFill>
                </a:rPr>
                <a:t>6</a:t>
              </a:r>
              <a:endParaRPr lang="en-US" sz="4400" b="1" dirty="0">
                <a:solidFill>
                  <a:srgbClr val="DCD084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  <p:sp>
          <p:nvSpPr>
            <p:cNvPr id="15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334642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المجموع الكلي للأنشطة الإعلامية</a:t>
              </a:r>
              <a:r>
                <a:rPr lang="ar-OM" sz="16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 </a:t>
              </a:r>
              <a:endParaRPr lang="en-US" sz="16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9459267" y="1531076"/>
            <a:ext cx="2348420" cy="1900845"/>
            <a:chOff x="935333" y="1334911"/>
            <a:chExt cx="2348420" cy="1900845"/>
          </a:xfrm>
        </p:grpSpPr>
        <p:sp>
          <p:nvSpPr>
            <p:cNvPr id="17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348420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4400" b="1" dirty="0" smtClean="0">
                  <a:solidFill>
                    <a:srgbClr val="C48F22"/>
                  </a:solidFill>
                </a:rPr>
                <a:t>6,202</a:t>
              </a:r>
              <a:endParaRPr lang="en-US" sz="4400" b="1" dirty="0">
                <a:solidFill>
                  <a:srgbClr val="DCD084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  <p:sp>
          <p:nvSpPr>
            <p:cNvPr id="18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341531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إجمالي حجم المعاملات </a:t>
              </a:r>
              <a:endParaRPr lang="en-US" sz="20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4024647" y="4053552"/>
            <a:ext cx="2358326" cy="1900845"/>
            <a:chOff x="935333" y="1334911"/>
            <a:chExt cx="2358326" cy="1900845"/>
          </a:xfrm>
        </p:grpSpPr>
        <p:sp>
          <p:nvSpPr>
            <p:cNvPr id="20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358326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4400" b="1" dirty="0" smtClean="0">
                  <a:solidFill>
                    <a:srgbClr val="C48F22"/>
                  </a:solidFill>
                </a:rPr>
                <a:t>51</a:t>
              </a:r>
              <a:endParaRPr lang="en-US" sz="4400" b="1" dirty="0">
                <a:solidFill>
                  <a:srgbClr val="C48F22"/>
                </a:solidFill>
              </a:endParaRPr>
            </a:p>
          </p:txBody>
        </p:sp>
        <p:sp>
          <p:nvSpPr>
            <p:cNvPr id="21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344548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المجموع الكلي للخدمات الاستباقية </a:t>
              </a:r>
              <a:endParaRPr lang="en-US" sz="20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9392103" y="4109968"/>
            <a:ext cx="2415584" cy="1900845"/>
            <a:chOff x="935333" y="1334911"/>
            <a:chExt cx="2415584" cy="1900845"/>
          </a:xfrm>
        </p:grpSpPr>
        <p:sp>
          <p:nvSpPr>
            <p:cNvPr id="23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415584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4400" b="1" dirty="0" smtClean="0">
                  <a:solidFill>
                    <a:srgbClr val="C48F22"/>
                  </a:solidFill>
                </a:rPr>
                <a:t>6,203</a:t>
              </a:r>
              <a:endParaRPr lang="en-US" sz="4400" b="1" dirty="0">
                <a:solidFill>
                  <a:srgbClr val="C48F22"/>
                </a:solidFill>
              </a:endParaRPr>
            </a:p>
          </p:txBody>
        </p:sp>
        <p:sp>
          <p:nvSpPr>
            <p:cNvPr id="24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408695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المجموع الكلي لطلبات حجز المواعيد </a:t>
              </a:r>
              <a:endParaRPr lang="fr-FR" sz="20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6718051" y="4053552"/>
            <a:ext cx="2366946" cy="1900845"/>
            <a:chOff x="935333" y="1334911"/>
            <a:chExt cx="2366946" cy="1900845"/>
          </a:xfrm>
        </p:grpSpPr>
        <p:sp>
          <p:nvSpPr>
            <p:cNvPr id="26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366946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4400" b="1" dirty="0" smtClean="0">
                  <a:solidFill>
                    <a:srgbClr val="C48F22"/>
                  </a:solidFill>
                </a:rPr>
                <a:t>1,217</a:t>
              </a:r>
              <a:endParaRPr lang="en-US" sz="4400" b="1" dirty="0">
                <a:solidFill>
                  <a:srgbClr val="C48F22"/>
                </a:solidFill>
              </a:endParaRPr>
            </a:p>
          </p:txBody>
        </p:sp>
        <p:sp>
          <p:nvSpPr>
            <p:cNvPr id="27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360057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المجموع الكلي للخدمات الذاتية</a:t>
              </a:r>
              <a:endParaRPr lang="en-US" sz="20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sp>
        <p:nvSpPr>
          <p:cNvPr id="28" name="Rectangle 27"/>
          <p:cNvSpPr/>
          <p:nvPr/>
        </p:nvSpPr>
        <p:spPr>
          <a:xfrm>
            <a:off x="4585547" y="1699649"/>
            <a:ext cx="1127232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OM" sz="4400" b="1" dirty="0" smtClean="0">
                <a:solidFill>
                  <a:srgbClr val="C48F22"/>
                </a:solidFill>
              </a:rPr>
              <a:t>590</a:t>
            </a:r>
            <a:endParaRPr lang="en-US" sz="44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461D46E-147C-49AA-1082-D50B53FFCC23}"/>
              </a:ext>
            </a:extLst>
          </p:cNvPr>
          <p:cNvSpPr/>
          <p:nvPr/>
        </p:nvSpPr>
        <p:spPr>
          <a:xfrm>
            <a:off x="511861" y="1544567"/>
            <a:ext cx="3218145" cy="4352859"/>
          </a:xfrm>
          <a:prstGeom prst="rect">
            <a:avLst/>
          </a:prstGeom>
          <a:solidFill>
            <a:srgbClr val="D8CFCE"/>
          </a:solidFill>
          <a:ln>
            <a:noFill/>
          </a:ln>
          <a:effectLst>
            <a:outerShdw blurRad="254000" sx="105000" sy="105000" algn="ctr" rotWithShape="0">
              <a:schemeClr val="tx1">
                <a:lumMod val="85000"/>
                <a:lumOff val="1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0" name="Group 29"/>
          <p:cNvGrpSpPr/>
          <p:nvPr/>
        </p:nvGrpSpPr>
        <p:grpSpPr>
          <a:xfrm>
            <a:off x="1246318" y="1891623"/>
            <a:ext cx="1754006" cy="1613121"/>
            <a:chOff x="5200997" y="3415806"/>
            <a:chExt cx="2689473" cy="2473452"/>
          </a:xfrm>
        </p:grpSpPr>
        <p:sp>
          <p:nvSpPr>
            <p:cNvPr id="31" name="Rectangle 30"/>
            <p:cNvSpPr/>
            <p:nvPr/>
          </p:nvSpPr>
          <p:spPr>
            <a:xfrm>
              <a:off x="5429470" y="4639642"/>
              <a:ext cx="2218266" cy="12496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ar-OM" sz="2348" b="1" dirty="0">
                  <a:solidFill>
                    <a:srgbClr val="013631"/>
                  </a:solidFill>
                  <a:latin typeface="Microsoft Uighur" panose="02000000000000000000" pitchFamily="2" charset="-78"/>
                  <a:cs typeface="Microsoft Uighur" panose="02000000000000000000" pitchFamily="2" charset="-78"/>
                </a:rPr>
                <a:t>إجمالي حجم الأعمال المنجزة </a:t>
              </a:r>
              <a:endParaRPr lang="ar-OM" sz="1044" b="1" dirty="0">
                <a:solidFill>
                  <a:srgbClr val="013631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endParaRP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5200997" y="3415806"/>
              <a:ext cx="2689473" cy="108542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ar-OM" sz="4000" b="1" dirty="0" smtClean="0">
                  <a:solidFill>
                    <a:srgbClr val="760000"/>
                  </a:solidFill>
                </a:rPr>
                <a:t>14,269</a:t>
              </a:r>
              <a:endParaRPr lang="en-US" sz="5218" dirty="0">
                <a:solidFill>
                  <a:schemeClr val="accent2">
                    <a:lumMod val="50000"/>
                  </a:schemeClr>
                </a:solidFill>
                <a:latin typeface="Microsoft Uighur" panose="02000000000000000000" pitchFamily="2" charset="-78"/>
                <a:cs typeface="Microsoft Uighur" panose="02000000000000000000" pitchFamily="2" charset="-78"/>
              </a:endParaRPr>
            </a:p>
          </p:txBody>
        </p: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7C23099B-6F7C-4BBD-9F4E-A5126796931E}"/>
              </a:ext>
            </a:extLst>
          </p:cNvPr>
          <p:cNvSpPr/>
          <p:nvPr/>
        </p:nvSpPr>
        <p:spPr>
          <a:xfrm>
            <a:off x="521521" y="3938984"/>
            <a:ext cx="3208485" cy="740249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OM" sz="2200" b="1" dirty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المشاركة في </a:t>
            </a:r>
            <a:r>
              <a:rPr lang="en-GB" sz="3200" b="1" spc="33" dirty="0">
                <a:solidFill>
                  <a:srgbClr val="760000"/>
                </a:solidFill>
                <a:latin typeface="Microsoft Uighur" panose="02000000000000000000" pitchFamily="2" charset="-78"/>
                <a:ea typeface="Segoe UI" panose="020B0502040204020203" pitchFamily="34" charset="0"/>
                <a:cs typeface="Microsoft Uighur" panose="02000000000000000000" pitchFamily="2" charset="-78"/>
              </a:rPr>
              <a:t>15 </a:t>
            </a:r>
            <a:r>
              <a:rPr lang="ar-OM" sz="2200" b="1" dirty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 مبادرات تشغيلية</a:t>
            </a:r>
            <a:endParaRPr lang="en-US" sz="2200" b="1" dirty="0">
              <a:solidFill>
                <a:srgbClr val="760000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C23099B-6F7C-4BBD-9F4E-A5126796931E}"/>
              </a:ext>
            </a:extLst>
          </p:cNvPr>
          <p:cNvSpPr/>
          <p:nvPr/>
        </p:nvSpPr>
        <p:spPr>
          <a:xfrm>
            <a:off x="521521" y="4790646"/>
            <a:ext cx="3208485" cy="740249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ar-OM" sz="3200" b="1" spc="33" dirty="0">
                <a:solidFill>
                  <a:srgbClr val="760000"/>
                </a:solidFill>
                <a:latin typeface="Microsoft Uighur" panose="02000000000000000000" pitchFamily="2" charset="-78"/>
                <a:ea typeface="Segoe UI" panose="020B0502040204020203" pitchFamily="34" charset="0"/>
                <a:cs typeface="Microsoft Uighur" panose="02000000000000000000" pitchFamily="2" charset="-78"/>
              </a:rPr>
              <a:t>19</a:t>
            </a:r>
            <a:r>
              <a:rPr lang="ar-OM" sz="2200" b="1" dirty="0" smtClean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 موظف</a:t>
            </a:r>
            <a:endParaRPr lang="en-US" sz="2200" b="1" dirty="0">
              <a:solidFill>
                <a:srgbClr val="760000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C6A0D7B-C2BD-55C2-BDE8-6DD2DE363709}"/>
              </a:ext>
            </a:extLst>
          </p:cNvPr>
          <p:cNvSpPr/>
          <p:nvPr/>
        </p:nvSpPr>
        <p:spPr>
          <a:xfrm>
            <a:off x="121968" y="373842"/>
            <a:ext cx="2720051" cy="500988"/>
          </a:xfrm>
          <a:prstGeom prst="rect">
            <a:avLst/>
          </a:prstGeom>
          <a:gradFill>
            <a:gsLst>
              <a:gs pos="0">
                <a:srgbClr val="241F21">
                  <a:alpha val="85000"/>
                </a:srgbClr>
              </a:gs>
              <a:gs pos="100000">
                <a:srgbClr val="241F21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B702577-6522-C60A-9629-8528414077DB}"/>
              </a:ext>
            </a:extLst>
          </p:cNvPr>
          <p:cNvSpPr/>
          <p:nvPr/>
        </p:nvSpPr>
        <p:spPr>
          <a:xfrm>
            <a:off x="2334275" y="492780"/>
            <a:ext cx="1005840" cy="302020"/>
          </a:xfrm>
          <a:prstGeom prst="rect">
            <a:avLst/>
          </a:prstGeom>
          <a:solidFill>
            <a:srgbClr val="C48F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OM" sz="20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Uighur" panose="02000000000000000000" pitchFamily="2" charset="-78"/>
                <a:cs typeface="Microsoft Uighur" panose="02000000000000000000" pitchFamily="2" charset="-78"/>
              </a:rPr>
              <a:t>يوليو</a:t>
            </a:r>
            <a:r>
              <a:rPr kumimoji="0" lang="ar-OM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8C8AB7D-86D5-F874-9DE3-98B5C7FC131B}"/>
              </a:ext>
            </a:extLst>
          </p:cNvPr>
          <p:cNvCxnSpPr/>
          <p:nvPr/>
        </p:nvCxnSpPr>
        <p:spPr>
          <a:xfrm>
            <a:off x="884142" y="624336"/>
            <a:ext cx="181356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259456" y="414809"/>
            <a:ext cx="718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OM" sz="2000" b="1" dirty="0" smtClean="0">
                <a:solidFill>
                  <a:prstClr val="white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سبتمبر </a:t>
            </a:r>
            <a:endParaRPr lang="en-US" sz="2000" b="1" dirty="0">
              <a:solidFill>
                <a:prstClr val="white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sp>
        <p:nvSpPr>
          <p:cNvPr id="39" name="Octagon 38">
            <a:extLst>
              <a:ext uri="{FF2B5EF4-FFF2-40B4-BE49-F238E27FC236}">
                <a16:creationId xmlns:a16="http://schemas.microsoft.com/office/drawing/2014/main" id="{8F86244E-E4BF-5A5A-2854-9EE6B1A483EE}"/>
              </a:ext>
            </a:extLst>
          </p:cNvPr>
          <p:cNvSpPr/>
          <p:nvPr/>
        </p:nvSpPr>
        <p:spPr>
          <a:xfrm>
            <a:off x="11766110" y="6358527"/>
            <a:ext cx="268357" cy="268357"/>
          </a:xfrm>
          <a:prstGeom prst="octagon">
            <a:avLst/>
          </a:prstGeom>
          <a:solidFill>
            <a:srgbClr val="CCA862"/>
          </a:solidFill>
          <a:ln>
            <a:noFill/>
          </a:ln>
          <a:effectLst>
            <a:outerShdw blurRad="127000" dist="635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676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560D64F-6F4F-EAF0-BAB7-5E47E078B92D}"/>
              </a:ext>
            </a:extLst>
          </p:cNvPr>
          <p:cNvCxnSpPr>
            <a:cxnSpLocks/>
          </p:cNvCxnSpPr>
          <p:nvPr/>
        </p:nvCxnSpPr>
        <p:spPr>
          <a:xfrm flipH="1">
            <a:off x="5149163" y="892102"/>
            <a:ext cx="5791200" cy="0"/>
          </a:xfrm>
          <a:prstGeom prst="line">
            <a:avLst/>
          </a:prstGeom>
          <a:ln>
            <a:solidFill>
              <a:srgbClr val="C48F22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3387195" y="303591"/>
            <a:ext cx="93156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OM" sz="3200" b="1" dirty="0" smtClean="0">
                <a:solidFill>
                  <a:srgbClr val="C48F22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أهم المؤشرات الإحصائية والإنجازات لصندوق الحماية الاجتماعية  (محافظة مسندم)  </a:t>
            </a:r>
            <a:endParaRPr lang="en-US" sz="3200" b="1" dirty="0">
              <a:solidFill>
                <a:srgbClr val="C48F22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8C8AB7D-86D5-F874-9DE3-98B5C7FC131B}"/>
              </a:ext>
            </a:extLst>
          </p:cNvPr>
          <p:cNvCxnSpPr/>
          <p:nvPr/>
        </p:nvCxnSpPr>
        <p:spPr>
          <a:xfrm>
            <a:off x="499807" y="665332"/>
            <a:ext cx="182002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/>
          <p:cNvGrpSpPr/>
          <p:nvPr/>
        </p:nvGrpSpPr>
        <p:grpSpPr>
          <a:xfrm>
            <a:off x="1260674" y="2634603"/>
            <a:ext cx="1549857" cy="1597123"/>
            <a:chOff x="5215205" y="3384253"/>
            <a:chExt cx="2376448" cy="2448922"/>
          </a:xfrm>
        </p:grpSpPr>
        <p:sp>
          <p:nvSpPr>
            <p:cNvPr id="8" name="Rectangle 7"/>
            <p:cNvSpPr/>
            <p:nvPr/>
          </p:nvSpPr>
          <p:spPr>
            <a:xfrm>
              <a:off x="5373387" y="4583559"/>
              <a:ext cx="2218266" cy="12496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ar-OM" sz="2348" b="1" dirty="0">
                  <a:solidFill>
                    <a:srgbClr val="013631"/>
                  </a:solidFill>
                  <a:latin typeface="Microsoft Uighur" panose="02000000000000000000" pitchFamily="2" charset="-78"/>
                  <a:cs typeface="Microsoft Uighur" panose="02000000000000000000" pitchFamily="2" charset="-78"/>
                </a:rPr>
                <a:t>إجمالي حجم الأعمال المنجزة </a:t>
              </a:r>
              <a:endParaRPr lang="ar-OM" sz="1044" b="1" dirty="0">
                <a:solidFill>
                  <a:srgbClr val="013631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5215205" y="3384253"/>
              <a:ext cx="2148731" cy="137280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ar-OM" sz="5218" b="1" dirty="0" smtClean="0">
                  <a:solidFill>
                    <a:schemeClr val="accent2">
                      <a:lumMod val="50000"/>
                    </a:schemeClr>
                  </a:solidFill>
                  <a:latin typeface="Microsoft Uighur" panose="02000000000000000000" pitchFamily="2" charset="-78"/>
                  <a:ea typeface="SimSun" panose="02010600030101010101" pitchFamily="2" charset="-122"/>
                  <a:cs typeface="Microsoft Uighur" panose="02000000000000000000" pitchFamily="2" charset="-78"/>
                </a:rPr>
                <a:t>4,345 </a:t>
              </a:r>
              <a:endParaRPr lang="en-US" sz="5218" dirty="0">
                <a:solidFill>
                  <a:schemeClr val="accent2">
                    <a:lumMod val="50000"/>
                  </a:schemeClr>
                </a:solidFill>
                <a:latin typeface="Microsoft Uighur" panose="02000000000000000000" pitchFamily="2" charset="-78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4024647" y="1531076"/>
            <a:ext cx="2358326" cy="1900845"/>
            <a:chOff x="1368125" y="1334911"/>
            <a:chExt cx="2358326" cy="1900845"/>
          </a:xfrm>
        </p:grpSpPr>
        <p:sp>
          <p:nvSpPr>
            <p:cNvPr id="11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1368125" y="1334911"/>
              <a:ext cx="2358326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>
                <a:solidFill>
                  <a:srgbClr val="DCD084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  <p:sp>
          <p:nvSpPr>
            <p:cNvPr id="12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1368125" y="2518030"/>
              <a:ext cx="2351437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إجمالي </a:t>
              </a:r>
              <a:r>
                <a:rPr lang="ar-OM" sz="2000" b="1" dirty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الخدمات الميدانية </a:t>
              </a:r>
              <a:endParaRPr lang="en-US" sz="20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6743466" y="1531076"/>
            <a:ext cx="2341531" cy="1900845"/>
            <a:chOff x="935333" y="1334911"/>
            <a:chExt cx="2341531" cy="1900845"/>
          </a:xfrm>
        </p:grpSpPr>
        <p:sp>
          <p:nvSpPr>
            <p:cNvPr id="14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341531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4400" b="1" dirty="0" smtClean="0">
                  <a:solidFill>
                    <a:srgbClr val="C48F22"/>
                  </a:solidFill>
                </a:rPr>
                <a:t>5</a:t>
              </a:r>
              <a:endParaRPr lang="en-US" sz="4400" b="1" dirty="0">
                <a:solidFill>
                  <a:srgbClr val="DCD084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  <p:sp>
          <p:nvSpPr>
            <p:cNvPr id="15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334642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المجموع الكلي للأنشطة الإعلامية</a:t>
              </a:r>
              <a:r>
                <a:rPr lang="ar-OM" sz="16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 </a:t>
              </a:r>
              <a:endParaRPr lang="en-US" sz="16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9459267" y="1531076"/>
            <a:ext cx="2348420" cy="1900845"/>
            <a:chOff x="935333" y="1334911"/>
            <a:chExt cx="2348420" cy="1900845"/>
          </a:xfrm>
        </p:grpSpPr>
        <p:sp>
          <p:nvSpPr>
            <p:cNvPr id="17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348420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4400" b="1" dirty="0" smtClean="0">
                  <a:solidFill>
                    <a:srgbClr val="C48F22"/>
                  </a:solidFill>
                </a:rPr>
                <a:t>2,398</a:t>
              </a:r>
              <a:endParaRPr lang="en-US" sz="4400" b="1" dirty="0">
                <a:solidFill>
                  <a:srgbClr val="DCD084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  <p:sp>
          <p:nvSpPr>
            <p:cNvPr id="18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341531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إجمالي حجم المعاملات </a:t>
              </a:r>
              <a:endParaRPr lang="en-US" sz="20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3970000" y="4053552"/>
            <a:ext cx="2406084" cy="1900845"/>
            <a:chOff x="880686" y="1334911"/>
            <a:chExt cx="2406084" cy="1900845"/>
          </a:xfrm>
        </p:grpSpPr>
        <p:sp>
          <p:nvSpPr>
            <p:cNvPr id="20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880686" y="1334911"/>
              <a:ext cx="2358326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4400" b="1" dirty="0" smtClean="0">
                  <a:solidFill>
                    <a:srgbClr val="C48F22"/>
                  </a:solidFill>
                </a:rPr>
                <a:t>34</a:t>
              </a:r>
              <a:endParaRPr lang="en-US" sz="4400" b="1" dirty="0">
                <a:solidFill>
                  <a:srgbClr val="C48F22"/>
                </a:solidFill>
              </a:endParaRPr>
            </a:p>
          </p:txBody>
        </p:sp>
        <p:sp>
          <p:nvSpPr>
            <p:cNvPr id="21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344548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المجموع الكلي للخدمات الاستباقية </a:t>
              </a:r>
              <a:endParaRPr lang="en-US" sz="20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9392103" y="4109968"/>
            <a:ext cx="2415584" cy="1900845"/>
            <a:chOff x="935333" y="1334911"/>
            <a:chExt cx="2415584" cy="1900845"/>
          </a:xfrm>
        </p:grpSpPr>
        <p:sp>
          <p:nvSpPr>
            <p:cNvPr id="23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415584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4400" b="1" dirty="0" smtClean="0">
                  <a:solidFill>
                    <a:srgbClr val="C48F22"/>
                  </a:solidFill>
                </a:rPr>
                <a:t>2,399</a:t>
              </a:r>
              <a:endParaRPr lang="en-US" sz="4400" b="1" dirty="0">
                <a:solidFill>
                  <a:srgbClr val="C48F22"/>
                </a:solidFill>
              </a:endParaRPr>
            </a:p>
          </p:txBody>
        </p:sp>
        <p:sp>
          <p:nvSpPr>
            <p:cNvPr id="24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408695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المجموع الكلي لطلبات حجز المواعيد </a:t>
              </a:r>
              <a:endParaRPr lang="fr-FR" sz="20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6718051" y="4053552"/>
            <a:ext cx="2366946" cy="1900845"/>
            <a:chOff x="935333" y="1334911"/>
            <a:chExt cx="2366946" cy="1900845"/>
          </a:xfrm>
        </p:grpSpPr>
        <p:sp>
          <p:nvSpPr>
            <p:cNvPr id="26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366946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4400" b="1" dirty="0" smtClean="0">
                  <a:solidFill>
                    <a:srgbClr val="C48F22"/>
                  </a:solidFill>
                </a:rPr>
                <a:t>812</a:t>
              </a:r>
              <a:endParaRPr lang="en-US" sz="4400" b="1" dirty="0">
                <a:solidFill>
                  <a:srgbClr val="C48F22"/>
                </a:solidFill>
              </a:endParaRPr>
            </a:p>
          </p:txBody>
        </p:sp>
        <p:sp>
          <p:nvSpPr>
            <p:cNvPr id="27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360057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المجموع الكلي للخدمات الذاتية</a:t>
              </a:r>
              <a:endParaRPr lang="en-US" sz="20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sp>
        <p:nvSpPr>
          <p:cNvPr id="28" name="Rectangle 27"/>
          <p:cNvSpPr/>
          <p:nvPr/>
        </p:nvSpPr>
        <p:spPr>
          <a:xfrm>
            <a:off x="4585547" y="1699649"/>
            <a:ext cx="1127232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OM" sz="4400" b="1" dirty="0" smtClean="0">
                <a:solidFill>
                  <a:srgbClr val="C48F22"/>
                </a:solidFill>
              </a:rPr>
              <a:t>428</a:t>
            </a:r>
            <a:endParaRPr lang="en-US" sz="44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461D46E-147C-49AA-1082-D50B53FFCC23}"/>
              </a:ext>
            </a:extLst>
          </p:cNvPr>
          <p:cNvSpPr/>
          <p:nvPr/>
        </p:nvSpPr>
        <p:spPr>
          <a:xfrm>
            <a:off x="511861" y="1544567"/>
            <a:ext cx="3218145" cy="4352859"/>
          </a:xfrm>
          <a:prstGeom prst="rect">
            <a:avLst/>
          </a:prstGeom>
          <a:solidFill>
            <a:srgbClr val="D8CFCE"/>
          </a:solidFill>
          <a:ln>
            <a:noFill/>
          </a:ln>
          <a:effectLst>
            <a:outerShdw blurRad="254000" sx="105000" sy="105000" algn="ctr" rotWithShape="0">
              <a:schemeClr val="tx1">
                <a:lumMod val="85000"/>
                <a:lumOff val="1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0" name="Group 29"/>
          <p:cNvGrpSpPr/>
          <p:nvPr/>
        </p:nvGrpSpPr>
        <p:grpSpPr>
          <a:xfrm>
            <a:off x="1246318" y="1891623"/>
            <a:ext cx="1595701" cy="1613121"/>
            <a:chOff x="5200997" y="3415806"/>
            <a:chExt cx="2446739" cy="2473452"/>
          </a:xfrm>
        </p:grpSpPr>
        <p:sp>
          <p:nvSpPr>
            <p:cNvPr id="31" name="Rectangle 30"/>
            <p:cNvSpPr/>
            <p:nvPr/>
          </p:nvSpPr>
          <p:spPr>
            <a:xfrm>
              <a:off x="5429470" y="4639642"/>
              <a:ext cx="2218266" cy="12496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ar-OM" sz="2348" b="1" dirty="0">
                  <a:solidFill>
                    <a:srgbClr val="013631"/>
                  </a:solidFill>
                  <a:latin typeface="Microsoft Uighur" panose="02000000000000000000" pitchFamily="2" charset="-78"/>
                  <a:cs typeface="Microsoft Uighur" panose="02000000000000000000" pitchFamily="2" charset="-78"/>
                </a:rPr>
                <a:t>إجمالي حجم الأعمال المنجزة </a:t>
              </a:r>
              <a:endParaRPr lang="ar-OM" sz="1044" b="1" dirty="0">
                <a:solidFill>
                  <a:srgbClr val="013631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endParaRP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5200997" y="3415806"/>
              <a:ext cx="2251961" cy="108542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ar-OM" sz="4000" b="1" dirty="0" smtClean="0">
                  <a:solidFill>
                    <a:srgbClr val="760000"/>
                  </a:solidFill>
                </a:rPr>
                <a:t>6,076</a:t>
              </a:r>
              <a:endParaRPr lang="en-US" sz="5218" dirty="0">
                <a:solidFill>
                  <a:schemeClr val="accent2">
                    <a:lumMod val="50000"/>
                  </a:schemeClr>
                </a:solidFill>
                <a:latin typeface="Microsoft Uighur" panose="02000000000000000000" pitchFamily="2" charset="-78"/>
                <a:cs typeface="Microsoft Uighur" panose="02000000000000000000" pitchFamily="2" charset="-78"/>
              </a:endParaRPr>
            </a:p>
          </p:txBody>
        </p: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7C23099B-6F7C-4BBD-9F4E-A5126796931E}"/>
              </a:ext>
            </a:extLst>
          </p:cNvPr>
          <p:cNvSpPr/>
          <p:nvPr/>
        </p:nvSpPr>
        <p:spPr>
          <a:xfrm>
            <a:off x="521521" y="3938984"/>
            <a:ext cx="3208485" cy="740249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OM" sz="2200" b="1" dirty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المشاركة في </a:t>
            </a:r>
            <a:r>
              <a:rPr lang="en-GB" sz="3200" b="1" spc="33" dirty="0">
                <a:solidFill>
                  <a:srgbClr val="760000"/>
                </a:solidFill>
                <a:latin typeface="Microsoft Uighur" panose="02000000000000000000" pitchFamily="2" charset="-78"/>
                <a:ea typeface="Segoe UI" panose="020B0502040204020203" pitchFamily="34" charset="0"/>
                <a:cs typeface="Microsoft Uighur" panose="02000000000000000000" pitchFamily="2" charset="-78"/>
              </a:rPr>
              <a:t>15 </a:t>
            </a:r>
            <a:r>
              <a:rPr lang="ar-OM" sz="2200" b="1" dirty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 مبادرات تشغيلية</a:t>
            </a:r>
            <a:endParaRPr lang="en-US" sz="2200" b="1" dirty="0">
              <a:solidFill>
                <a:srgbClr val="760000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C23099B-6F7C-4BBD-9F4E-A5126796931E}"/>
              </a:ext>
            </a:extLst>
          </p:cNvPr>
          <p:cNvSpPr/>
          <p:nvPr/>
        </p:nvSpPr>
        <p:spPr>
          <a:xfrm>
            <a:off x="521521" y="4790646"/>
            <a:ext cx="3208485" cy="740249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ar-OM" sz="3200" b="1" spc="33" dirty="0" smtClean="0">
                <a:solidFill>
                  <a:srgbClr val="760000"/>
                </a:solidFill>
                <a:latin typeface="Microsoft Uighur" panose="02000000000000000000" pitchFamily="2" charset="-78"/>
                <a:ea typeface="Segoe UI" panose="020B0502040204020203" pitchFamily="34" charset="0"/>
                <a:cs typeface="Microsoft Uighur" panose="02000000000000000000" pitchFamily="2" charset="-78"/>
              </a:rPr>
              <a:t>7</a:t>
            </a:r>
            <a:r>
              <a:rPr lang="ar-OM" sz="2200" b="1" dirty="0" smtClean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 موظف</a:t>
            </a:r>
            <a:endParaRPr lang="en-US" sz="2200" b="1" dirty="0">
              <a:solidFill>
                <a:srgbClr val="760000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C6A0D7B-C2BD-55C2-BDE8-6DD2DE363709}"/>
              </a:ext>
            </a:extLst>
          </p:cNvPr>
          <p:cNvSpPr/>
          <p:nvPr/>
        </p:nvSpPr>
        <p:spPr>
          <a:xfrm>
            <a:off x="121968" y="373842"/>
            <a:ext cx="2720051" cy="500988"/>
          </a:xfrm>
          <a:prstGeom prst="rect">
            <a:avLst/>
          </a:prstGeom>
          <a:gradFill>
            <a:gsLst>
              <a:gs pos="0">
                <a:srgbClr val="241F21">
                  <a:alpha val="85000"/>
                </a:srgbClr>
              </a:gs>
              <a:gs pos="100000">
                <a:srgbClr val="241F21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B702577-6522-C60A-9629-8528414077DB}"/>
              </a:ext>
            </a:extLst>
          </p:cNvPr>
          <p:cNvSpPr/>
          <p:nvPr/>
        </p:nvSpPr>
        <p:spPr>
          <a:xfrm>
            <a:off x="2334275" y="492780"/>
            <a:ext cx="1005840" cy="302020"/>
          </a:xfrm>
          <a:prstGeom prst="rect">
            <a:avLst/>
          </a:prstGeom>
          <a:solidFill>
            <a:srgbClr val="C48F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OM" sz="20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Uighur" panose="02000000000000000000" pitchFamily="2" charset="-78"/>
                <a:cs typeface="Microsoft Uighur" panose="02000000000000000000" pitchFamily="2" charset="-78"/>
              </a:rPr>
              <a:t>يوليو</a:t>
            </a:r>
            <a:r>
              <a:rPr kumimoji="0" lang="ar-OM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8C8AB7D-86D5-F874-9DE3-98B5C7FC131B}"/>
              </a:ext>
            </a:extLst>
          </p:cNvPr>
          <p:cNvCxnSpPr/>
          <p:nvPr/>
        </p:nvCxnSpPr>
        <p:spPr>
          <a:xfrm>
            <a:off x="884142" y="624336"/>
            <a:ext cx="181356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165182" y="407646"/>
            <a:ext cx="718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OM" sz="2000" b="1" dirty="0" smtClean="0">
                <a:solidFill>
                  <a:prstClr val="white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سبتمبر </a:t>
            </a:r>
            <a:endParaRPr lang="en-US" sz="2000" b="1" dirty="0">
              <a:solidFill>
                <a:prstClr val="white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sp>
        <p:nvSpPr>
          <p:cNvPr id="39" name="Octagon 38">
            <a:extLst>
              <a:ext uri="{FF2B5EF4-FFF2-40B4-BE49-F238E27FC236}">
                <a16:creationId xmlns:a16="http://schemas.microsoft.com/office/drawing/2014/main" id="{8F86244E-E4BF-5A5A-2854-9EE6B1A483EE}"/>
              </a:ext>
            </a:extLst>
          </p:cNvPr>
          <p:cNvSpPr/>
          <p:nvPr/>
        </p:nvSpPr>
        <p:spPr>
          <a:xfrm>
            <a:off x="11766110" y="6358527"/>
            <a:ext cx="268357" cy="268357"/>
          </a:xfrm>
          <a:prstGeom prst="octagon">
            <a:avLst/>
          </a:prstGeom>
          <a:solidFill>
            <a:srgbClr val="CCA862"/>
          </a:solidFill>
          <a:ln>
            <a:noFill/>
          </a:ln>
          <a:effectLst>
            <a:outerShdw blurRad="127000" dist="635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855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560D64F-6F4F-EAF0-BAB7-5E47E078B92D}"/>
              </a:ext>
            </a:extLst>
          </p:cNvPr>
          <p:cNvCxnSpPr>
            <a:cxnSpLocks/>
          </p:cNvCxnSpPr>
          <p:nvPr/>
        </p:nvCxnSpPr>
        <p:spPr>
          <a:xfrm flipH="1">
            <a:off x="5149163" y="892102"/>
            <a:ext cx="5791200" cy="0"/>
          </a:xfrm>
          <a:prstGeom prst="line">
            <a:avLst/>
          </a:prstGeom>
          <a:ln>
            <a:solidFill>
              <a:srgbClr val="C48F22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3242878" y="287250"/>
            <a:ext cx="93156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OM" sz="3200" b="1" dirty="0" smtClean="0">
                <a:solidFill>
                  <a:srgbClr val="C48F22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أهم المؤشرات الإحصائية والإنجازات لصندوق الحماية الاجتماعية  (محافظة الوسطى )  </a:t>
            </a:r>
            <a:endParaRPr lang="en-US" sz="3200" b="1" dirty="0">
              <a:solidFill>
                <a:srgbClr val="C48F22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8C8AB7D-86D5-F874-9DE3-98B5C7FC131B}"/>
              </a:ext>
            </a:extLst>
          </p:cNvPr>
          <p:cNvCxnSpPr/>
          <p:nvPr/>
        </p:nvCxnSpPr>
        <p:spPr>
          <a:xfrm>
            <a:off x="499807" y="665332"/>
            <a:ext cx="182002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/>
          <p:cNvGrpSpPr/>
          <p:nvPr/>
        </p:nvGrpSpPr>
        <p:grpSpPr>
          <a:xfrm>
            <a:off x="1260674" y="2634603"/>
            <a:ext cx="1549857" cy="1597123"/>
            <a:chOff x="5215205" y="3384253"/>
            <a:chExt cx="2376448" cy="2448922"/>
          </a:xfrm>
        </p:grpSpPr>
        <p:sp>
          <p:nvSpPr>
            <p:cNvPr id="8" name="Rectangle 7"/>
            <p:cNvSpPr/>
            <p:nvPr/>
          </p:nvSpPr>
          <p:spPr>
            <a:xfrm>
              <a:off x="5373387" y="4583559"/>
              <a:ext cx="2218266" cy="12496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ar-OM" sz="2348" b="1" dirty="0">
                  <a:solidFill>
                    <a:srgbClr val="013631"/>
                  </a:solidFill>
                  <a:latin typeface="Microsoft Uighur" panose="02000000000000000000" pitchFamily="2" charset="-78"/>
                  <a:cs typeface="Microsoft Uighur" panose="02000000000000000000" pitchFamily="2" charset="-78"/>
                </a:rPr>
                <a:t>إجمالي حجم الأعمال المنجزة </a:t>
              </a:r>
              <a:endParaRPr lang="ar-OM" sz="1044" b="1" dirty="0">
                <a:solidFill>
                  <a:srgbClr val="013631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5215205" y="3384253"/>
              <a:ext cx="2148731" cy="137280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ar-OM" sz="5218" b="1" dirty="0" smtClean="0">
                  <a:solidFill>
                    <a:schemeClr val="accent2">
                      <a:lumMod val="50000"/>
                    </a:schemeClr>
                  </a:solidFill>
                  <a:latin typeface="Microsoft Uighur" panose="02000000000000000000" pitchFamily="2" charset="-78"/>
                  <a:ea typeface="SimSun" panose="02010600030101010101" pitchFamily="2" charset="-122"/>
                  <a:cs typeface="Microsoft Uighur" panose="02000000000000000000" pitchFamily="2" charset="-78"/>
                </a:rPr>
                <a:t>4,345 </a:t>
              </a:r>
              <a:endParaRPr lang="en-US" sz="5218" dirty="0">
                <a:solidFill>
                  <a:schemeClr val="accent2">
                    <a:lumMod val="50000"/>
                  </a:schemeClr>
                </a:solidFill>
                <a:latin typeface="Microsoft Uighur" panose="02000000000000000000" pitchFamily="2" charset="-78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4024647" y="1531076"/>
            <a:ext cx="2358326" cy="1900845"/>
            <a:chOff x="1368125" y="1334911"/>
            <a:chExt cx="2358326" cy="1900845"/>
          </a:xfrm>
        </p:grpSpPr>
        <p:sp>
          <p:nvSpPr>
            <p:cNvPr id="11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1368125" y="1334911"/>
              <a:ext cx="2358326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>
                <a:solidFill>
                  <a:srgbClr val="DCD084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  <p:sp>
          <p:nvSpPr>
            <p:cNvPr id="12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1368125" y="2518030"/>
              <a:ext cx="2351437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إجمالي </a:t>
              </a:r>
              <a:r>
                <a:rPr lang="ar-OM" sz="2000" b="1" dirty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الخدمات الميدانية </a:t>
              </a:r>
              <a:endParaRPr lang="en-US" sz="20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6743466" y="1531076"/>
            <a:ext cx="2341531" cy="1900845"/>
            <a:chOff x="935333" y="1334911"/>
            <a:chExt cx="2341531" cy="1900845"/>
          </a:xfrm>
        </p:grpSpPr>
        <p:sp>
          <p:nvSpPr>
            <p:cNvPr id="14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341531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4400" b="1" dirty="0" smtClean="0">
                  <a:solidFill>
                    <a:srgbClr val="C48F22"/>
                  </a:solidFill>
                </a:rPr>
                <a:t>33</a:t>
              </a:r>
              <a:endParaRPr lang="en-US" sz="4400" b="1" dirty="0">
                <a:solidFill>
                  <a:srgbClr val="DCD084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  <p:sp>
          <p:nvSpPr>
            <p:cNvPr id="15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334642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المجموع الكلي للأنشطة الإعلامية</a:t>
              </a:r>
              <a:r>
                <a:rPr lang="ar-OM" sz="16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 </a:t>
              </a:r>
              <a:endParaRPr lang="en-US" sz="16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9459267" y="1531076"/>
            <a:ext cx="2348420" cy="1900845"/>
            <a:chOff x="935333" y="1334911"/>
            <a:chExt cx="2348420" cy="1900845"/>
          </a:xfrm>
        </p:grpSpPr>
        <p:sp>
          <p:nvSpPr>
            <p:cNvPr id="17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348420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4400" b="1" dirty="0" smtClean="0">
                  <a:solidFill>
                    <a:srgbClr val="C48F22"/>
                  </a:solidFill>
                </a:rPr>
                <a:t>3,616</a:t>
              </a:r>
              <a:endParaRPr lang="en-US" sz="4400" b="1" dirty="0">
                <a:solidFill>
                  <a:srgbClr val="DCD084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  <p:sp>
          <p:nvSpPr>
            <p:cNvPr id="18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341531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إجمالي حجم المعاملات </a:t>
              </a:r>
              <a:endParaRPr lang="en-US" sz="20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3970000" y="4053552"/>
            <a:ext cx="2358326" cy="1900845"/>
            <a:chOff x="935333" y="1334911"/>
            <a:chExt cx="2358326" cy="1900845"/>
          </a:xfrm>
        </p:grpSpPr>
        <p:sp>
          <p:nvSpPr>
            <p:cNvPr id="20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358326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4400" b="1" dirty="0" smtClean="0">
                  <a:solidFill>
                    <a:srgbClr val="C48F22"/>
                  </a:solidFill>
                </a:rPr>
                <a:t>12</a:t>
              </a:r>
              <a:endParaRPr lang="en-US" sz="4400" b="1" dirty="0">
                <a:solidFill>
                  <a:srgbClr val="C48F22"/>
                </a:solidFill>
              </a:endParaRPr>
            </a:p>
          </p:txBody>
        </p:sp>
        <p:sp>
          <p:nvSpPr>
            <p:cNvPr id="21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344548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المجموع الكلي للخدمات الاستباقية </a:t>
              </a:r>
              <a:endParaRPr lang="en-US" sz="20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9392103" y="4109968"/>
            <a:ext cx="2415584" cy="1900845"/>
            <a:chOff x="935333" y="1334911"/>
            <a:chExt cx="2415584" cy="1900845"/>
          </a:xfrm>
        </p:grpSpPr>
        <p:sp>
          <p:nvSpPr>
            <p:cNvPr id="23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415584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4400" b="1" dirty="0" smtClean="0">
                  <a:solidFill>
                    <a:srgbClr val="C48F22"/>
                  </a:solidFill>
                </a:rPr>
                <a:t>1,281</a:t>
              </a:r>
              <a:endParaRPr lang="en-US" sz="4400" b="1" dirty="0">
                <a:solidFill>
                  <a:srgbClr val="C48F22"/>
                </a:solidFill>
              </a:endParaRPr>
            </a:p>
          </p:txBody>
        </p:sp>
        <p:sp>
          <p:nvSpPr>
            <p:cNvPr id="24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408695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المجموع الكلي لطلبات حجز المواعيد </a:t>
              </a:r>
              <a:endParaRPr lang="fr-FR" sz="20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6568320" y="4062814"/>
            <a:ext cx="2366946" cy="1900845"/>
            <a:chOff x="935333" y="1334911"/>
            <a:chExt cx="2366946" cy="1900845"/>
          </a:xfrm>
        </p:grpSpPr>
        <p:sp>
          <p:nvSpPr>
            <p:cNvPr id="26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366946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4400" b="1" dirty="0" smtClean="0">
                  <a:solidFill>
                    <a:srgbClr val="C48F22"/>
                  </a:solidFill>
                </a:rPr>
                <a:t>1,301</a:t>
              </a:r>
              <a:endParaRPr lang="en-US" sz="4400" b="1" dirty="0">
                <a:solidFill>
                  <a:srgbClr val="C48F22"/>
                </a:solidFill>
              </a:endParaRPr>
            </a:p>
          </p:txBody>
        </p:sp>
        <p:sp>
          <p:nvSpPr>
            <p:cNvPr id="27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360057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المجموع الكلي للخدمات الذاتية</a:t>
              </a:r>
              <a:endParaRPr lang="en-US" sz="20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sp>
        <p:nvSpPr>
          <p:cNvPr id="28" name="Rectangle 27"/>
          <p:cNvSpPr/>
          <p:nvPr/>
        </p:nvSpPr>
        <p:spPr>
          <a:xfrm>
            <a:off x="4585547" y="1699649"/>
            <a:ext cx="1127232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OM" sz="4400" b="1" dirty="0" smtClean="0">
                <a:solidFill>
                  <a:srgbClr val="C48F22"/>
                </a:solidFill>
              </a:rPr>
              <a:t>448</a:t>
            </a:r>
            <a:endParaRPr lang="en-US" sz="44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461D46E-147C-49AA-1082-D50B53FFCC23}"/>
              </a:ext>
            </a:extLst>
          </p:cNvPr>
          <p:cNvSpPr/>
          <p:nvPr/>
        </p:nvSpPr>
        <p:spPr>
          <a:xfrm>
            <a:off x="511861" y="1544567"/>
            <a:ext cx="3218145" cy="4352859"/>
          </a:xfrm>
          <a:prstGeom prst="rect">
            <a:avLst/>
          </a:prstGeom>
          <a:solidFill>
            <a:srgbClr val="D8CFCE"/>
          </a:solidFill>
          <a:ln>
            <a:noFill/>
          </a:ln>
          <a:effectLst>
            <a:outerShdw blurRad="254000" sx="105000" sy="105000" algn="ctr" rotWithShape="0">
              <a:schemeClr val="tx1">
                <a:lumMod val="85000"/>
                <a:lumOff val="1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0" name="Group 29"/>
          <p:cNvGrpSpPr/>
          <p:nvPr/>
        </p:nvGrpSpPr>
        <p:grpSpPr>
          <a:xfrm>
            <a:off x="1246318" y="1891623"/>
            <a:ext cx="1595701" cy="1613121"/>
            <a:chOff x="5200997" y="3415806"/>
            <a:chExt cx="2446739" cy="2473452"/>
          </a:xfrm>
        </p:grpSpPr>
        <p:sp>
          <p:nvSpPr>
            <p:cNvPr id="31" name="Rectangle 30"/>
            <p:cNvSpPr/>
            <p:nvPr/>
          </p:nvSpPr>
          <p:spPr>
            <a:xfrm>
              <a:off x="5429470" y="4639642"/>
              <a:ext cx="2218266" cy="12496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ar-OM" sz="2348" b="1" dirty="0">
                  <a:solidFill>
                    <a:srgbClr val="013631"/>
                  </a:solidFill>
                  <a:latin typeface="Microsoft Uighur" panose="02000000000000000000" pitchFamily="2" charset="-78"/>
                  <a:cs typeface="Microsoft Uighur" panose="02000000000000000000" pitchFamily="2" charset="-78"/>
                </a:rPr>
                <a:t>إجمالي حجم الأعمال المنجزة </a:t>
              </a:r>
              <a:endParaRPr lang="ar-OM" sz="1044" b="1" dirty="0">
                <a:solidFill>
                  <a:srgbClr val="013631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endParaRP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5200997" y="3415806"/>
              <a:ext cx="2251961" cy="108542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ar-OM" sz="4000" b="1" dirty="0" smtClean="0">
                  <a:solidFill>
                    <a:srgbClr val="760000"/>
                  </a:solidFill>
                </a:rPr>
                <a:t>6,691</a:t>
              </a:r>
              <a:endParaRPr lang="en-US" sz="5218" dirty="0">
                <a:solidFill>
                  <a:schemeClr val="accent2">
                    <a:lumMod val="50000"/>
                  </a:schemeClr>
                </a:solidFill>
                <a:latin typeface="Microsoft Uighur" panose="02000000000000000000" pitchFamily="2" charset="-78"/>
                <a:cs typeface="Microsoft Uighur" panose="02000000000000000000" pitchFamily="2" charset="-78"/>
              </a:endParaRPr>
            </a:p>
          </p:txBody>
        </p: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7C23099B-6F7C-4BBD-9F4E-A5126796931E}"/>
              </a:ext>
            </a:extLst>
          </p:cNvPr>
          <p:cNvSpPr/>
          <p:nvPr/>
        </p:nvSpPr>
        <p:spPr>
          <a:xfrm>
            <a:off x="521521" y="3938984"/>
            <a:ext cx="3208485" cy="740249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OM" sz="2200" b="1" dirty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المشاركة في </a:t>
            </a:r>
            <a:r>
              <a:rPr lang="en-GB" sz="3200" b="1" spc="33" dirty="0">
                <a:solidFill>
                  <a:srgbClr val="760000"/>
                </a:solidFill>
                <a:latin typeface="Microsoft Uighur" panose="02000000000000000000" pitchFamily="2" charset="-78"/>
                <a:ea typeface="Segoe UI" panose="020B0502040204020203" pitchFamily="34" charset="0"/>
                <a:cs typeface="Microsoft Uighur" panose="02000000000000000000" pitchFamily="2" charset="-78"/>
              </a:rPr>
              <a:t>15 </a:t>
            </a:r>
            <a:r>
              <a:rPr lang="ar-OM" sz="2200" b="1" dirty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 مبادرات تشغيلية</a:t>
            </a:r>
            <a:endParaRPr lang="en-US" sz="2200" b="1" dirty="0">
              <a:solidFill>
                <a:srgbClr val="760000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C23099B-6F7C-4BBD-9F4E-A5126796931E}"/>
              </a:ext>
            </a:extLst>
          </p:cNvPr>
          <p:cNvSpPr/>
          <p:nvPr/>
        </p:nvSpPr>
        <p:spPr>
          <a:xfrm>
            <a:off x="521521" y="4790646"/>
            <a:ext cx="3208485" cy="740249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ar-OM" sz="2400" b="1" dirty="0" smtClean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4</a:t>
            </a:r>
            <a:r>
              <a:rPr lang="ar-OM" sz="2200" b="1" dirty="0" smtClean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 موظف</a:t>
            </a:r>
            <a:endParaRPr lang="en-US" sz="2200" b="1" dirty="0">
              <a:solidFill>
                <a:srgbClr val="760000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C6A0D7B-C2BD-55C2-BDE8-6DD2DE363709}"/>
              </a:ext>
            </a:extLst>
          </p:cNvPr>
          <p:cNvSpPr/>
          <p:nvPr/>
        </p:nvSpPr>
        <p:spPr>
          <a:xfrm>
            <a:off x="121968" y="373842"/>
            <a:ext cx="2720051" cy="500988"/>
          </a:xfrm>
          <a:prstGeom prst="rect">
            <a:avLst/>
          </a:prstGeom>
          <a:gradFill>
            <a:gsLst>
              <a:gs pos="0">
                <a:srgbClr val="241F21">
                  <a:alpha val="85000"/>
                </a:srgbClr>
              </a:gs>
              <a:gs pos="100000">
                <a:srgbClr val="241F21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B702577-6522-C60A-9629-8528414077DB}"/>
              </a:ext>
            </a:extLst>
          </p:cNvPr>
          <p:cNvSpPr/>
          <p:nvPr/>
        </p:nvSpPr>
        <p:spPr>
          <a:xfrm>
            <a:off x="2334275" y="492780"/>
            <a:ext cx="1005840" cy="302020"/>
          </a:xfrm>
          <a:prstGeom prst="rect">
            <a:avLst/>
          </a:prstGeom>
          <a:solidFill>
            <a:srgbClr val="C48F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r-OM" sz="2000" b="1" dirty="0" smtClean="0">
                <a:solidFill>
                  <a:prstClr val="white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يوليو</a:t>
            </a:r>
            <a:r>
              <a:rPr kumimoji="0" lang="ar-OM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8C8AB7D-86D5-F874-9DE3-98B5C7FC131B}"/>
              </a:ext>
            </a:extLst>
          </p:cNvPr>
          <p:cNvCxnSpPr/>
          <p:nvPr/>
        </p:nvCxnSpPr>
        <p:spPr>
          <a:xfrm>
            <a:off x="884142" y="624336"/>
            <a:ext cx="181356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165182" y="425925"/>
            <a:ext cx="718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OM" sz="2000" b="1" dirty="0" smtClean="0">
                <a:solidFill>
                  <a:prstClr val="white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سبتمبر </a:t>
            </a:r>
            <a:endParaRPr lang="en-US" sz="2000" b="1" dirty="0">
              <a:solidFill>
                <a:prstClr val="white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sp>
        <p:nvSpPr>
          <p:cNvPr id="39" name="Octagon 38">
            <a:extLst>
              <a:ext uri="{FF2B5EF4-FFF2-40B4-BE49-F238E27FC236}">
                <a16:creationId xmlns:a16="http://schemas.microsoft.com/office/drawing/2014/main" id="{8F86244E-E4BF-5A5A-2854-9EE6B1A483EE}"/>
              </a:ext>
            </a:extLst>
          </p:cNvPr>
          <p:cNvSpPr/>
          <p:nvPr/>
        </p:nvSpPr>
        <p:spPr>
          <a:xfrm>
            <a:off x="11766110" y="6358527"/>
            <a:ext cx="268357" cy="268357"/>
          </a:xfrm>
          <a:prstGeom prst="octagon">
            <a:avLst/>
          </a:prstGeom>
          <a:solidFill>
            <a:srgbClr val="CCA862"/>
          </a:solidFill>
          <a:ln>
            <a:noFill/>
          </a:ln>
          <a:effectLst>
            <a:outerShdw blurRad="127000" dist="635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361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560D64F-6F4F-EAF0-BAB7-5E47E078B92D}"/>
              </a:ext>
            </a:extLst>
          </p:cNvPr>
          <p:cNvCxnSpPr>
            <a:cxnSpLocks/>
          </p:cNvCxnSpPr>
          <p:nvPr/>
        </p:nvCxnSpPr>
        <p:spPr>
          <a:xfrm flipH="1">
            <a:off x="5149163" y="892102"/>
            <a:ext cx="5791200" cy="0"/>
          </a:xfrm>
          <a:prstGeom prst="line">
            <a:avLst/>
          </a:prstGeom>
          <a:ln>
            <a:solidFill>
              <a:srgbClr val="C48F22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3242878" y="287250"/>
            <a:ext cx="93156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OM" sz="3200" b="1" dirty="0" smtClean="0">
                <a:solidFill>
                  <a:srgbClr val="C48F22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أهم المؤشرات الإحصائية والإنجازات لصندوق الحماية الاجتماعية  (محافظة الداخلية )  </a:t>
            </a:r>
            <a:endParaRPr lang="en-US" sz="3200" b="1" dirty="0">
              <a:solidFill>
                <a:srgbClr val="C48F22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8C8AB7D-86D5-F874-9DE3-98B5C7FC131B}"/>
              </a:ext>
            </a:extLst>
          </p:cNvPr>
          <p:cNvCxnSpPr/>
          <p:nvPr/>
        </p:nvCxnSpPr>
        <p:spPr>
          <a:xfrm>
            <a:off x="499807" y="665332"/>
            <a:ext cx="182002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/>
          <p:cNvGrpSpPr/>
          <p:nvPr/>
        </p:nvGrpSpPr>
        <p:grpSpPr>
          <a:xfrm>
            <a:off x="1260674" y="2634603"/>
            <a:ext cx="1549857" cy="1597123"/>
            <a:chOff x="5215205" y="3384253"/>
            <a:chExt cx="2376448" cy="2448922"/>
          </a:xfrm>
        </p:grpSpPr>
        <p:sp>
          <p:nvSpPr>
            <p:cNvPr id="8" name="Rectangle 7"/>
            <p:cNvSpPr/>
            <p:nvPr/>
          </p:nvSpPr>
          <p:spPr>
            <a:xfrm>
              <a:off x="5373387" y="4583559"/>
              <a:ext cx="2218266" cy="12496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ar-OM" sz="2348" b="1" dirty="0">
                  <a:solidFill>
                    <a:srgbClr val="013631"/>
                  </a:solidFill>
                  <a:latin typeface="Microsoft Uighur" panose="02000000000000000000" pitchFamily="2" charset="-78"/>
                  <a:cs typeface="Microsoft Uighur" panose="02000000000000000000" pitchFamily="2" charset="-78"/>
                </a:rPr>
                <a:t>إجمالي حجم الأعمال المنجزة </a:t>
              </a:r>
              <a:endParaRPr lang="ar-OM" sz="1044" b="1" dirty="0">
                <a:solidFill>
                  <a:srgbClr val="013631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5215205" y="3384253"/>
              <a:ext cx="2148731" cy="137280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ar-OM" sz="5218" b="1" dirty="0" smtClean="0">
                  <a:solidFill>
                    <a:schemeClr val="accent2">
                      <a:lumMod val="50000"/>
                    </a:schemeClr>
                  </a:solidFill>
                  <a:latin typeface="Microsoft Uighur" panose="02000000000000000000" pitchFamily="2" charset="-78"/>
                  <a:ea typeface="SimSun" panose="02010600030101010101" pitchFamily="2" charset="-122"/>
                  <a:cs typeface="Microsoft Uighur" panose="02000000000000000000" pitchFamily="2" charset="-78"/>
                </a:rPr>
                <a:t>4,345 </a:t>
              </a:r>
              <a:endParaRPr lang="en-US" sz="5218" dirty="0">
                <a:solidFill>
                  <a:schemeClr val="accent2">
                    <a:lumMod val="50000"/>
                  </a:schemeClr>
                </a:solidFill>
                <a:latin typeface="Microsoft Uighur" panose="02000000000000000000" pitchFamily="2" charset="-78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4024647" y="1531076"/>
            <a:ext cx="2358326" cy="1900845"/>
            <a:chOff x="1368125" y="1334911"/>
            <a:chExt cx="2358326" cy="1900845"/>
          </a:xfrm>
        </p:grpSpPr>
        <p:sp>
          <p:nvSpPr>
            <p:cNvPr id="11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1368125" y="1334911"/>
              <a:ext cx="2358326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>
                <a:solidFill>
                  <a:srgbClr val="DCD084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  <p:sp>
          <p:nvSpPr>
            <p:cNvPr id="12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1368125" y="2518030"/>
              <a:ext cx="2351437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إجمالي </a:t>
              </a:r>
              <a:r>
                <a:rPr lang="ar-OM" sz="2000" b="1" dirty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الخدمات الميدانية </a:t>
              </a:r>
              <a:endParaRPr lang="en-US" sz="20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6743466" y="1531076"/>
            <a:ext cx="2341531" cy="1900845"/>
            <a:chOff x="935333" y="1334911"/>
            <a:chExt cx="2341531" cy="1900845"/>
          </a:xfrm>
        </p:grpSpPr>
        <p:sp>
          <p:nvSpPr>
            <p:cNvPr id="14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341531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4400" b="1" dirty="0" smtClean="0">
                  <a:solidFill>
                    <a:srgbClr val="C48F22"/>
                  </a:solidFill>
                </a:rPr>
                <a:t>5</a:t>
              </a:r>
              <a:endParaRPr lang="en-US" sz="4400" b="1" dirty="0">
                <a:solidFill>
                  <a:srgbClr val="DCD084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  <p:sp>
          <p:nvSpPr>
            <p:cNvPr id="15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334642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المجموع الكلي للأنشطة الإعلامية</a:t>
              </a:r>
              <a:r>
                <a:rPr lang="ar-OM" sz="16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 </a:t>
              </a:r>
              <a:endParaRPr lang="en-US" sz="16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9459267" y="1531076"/>
            <a:ext cx="2348420" cy="1900845"/>
            <a:chOff x="935333" y="1334911"/>
            <a:chExt cx="2348420" cy="1900845"/>
          </a:xfrm>
        </p:grpSpPr>
        <p:sp>
          <p:nvSpPr>
            <p:cNvPr id="17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348420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4400" b="1" dirty="0" smtClean="0">
                  <a:solidFill>
                    <a:srgbClr val="C48F22"/>
                  </a:solidFill>
                </a:rPr>
                <a:t>5,842</a:t>
              </a:r>
              <a:endParaRPr lang="en-US" sz="4400" b="1" dirty="0">
                <a:solidFill>
                  <a:srgbClr val="DCD084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  <p:sp>
          <p:nvSpPr>
            <p:cNvPr id="18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341531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إجمالي حجم المعاملات </a:t>
              </a:r>
              <a:endParaRPr lang="en-US" sz="20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4024647" y="4053552"/>
            <a:ext cx="2358326" cy="1900845"/>
            <a:chOff x="935333" y="1334911"/>
            <a:chExt cx="2358326" cy="1900845"/>
          </a:xfrm>
        </p:grpSpPr>
        <p:sp>
          <p:nvSpPr>
            <p:cNvPr id="20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358326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4400" b="1" dirty="0" smtClean="0">
                  <a:solidFill>
                    <a:srgbClr val="C48F22"/>
                  </a:solidFill>
                </a:rPr>
                <a:t>126</a:t>
              </a:r>
              <a:endParaRPr lang="en-US" sz="4400" b="1" dirty="0">
                <a:solidFill>
                  <a:srgbClr val="C48F22"/>
                </a:solidFill>
              </a:endParaRPr>
            </a:p>
          </p:txBody>
        </p:sp>
        <p:sp>
          <p:nvSpPr>
            <p:cNvPr id="21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344548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المجموع الكلي للخدمات الاستباقية </a:t>
              </a:r>
              <a:endParaRPr lang="en-US" sz="20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9392103" y="4109968"/>
            <a:ext cx="2415584" cy="1900845"/>
            <a:chOff x="935333" y="1334911"/>
            <a:chExt cx="2415584" cy="1900845"/>
          </a:xfrm>
        </p:grpSpPr>
        <p:sp>
          <p:nvSpPr>
            <p:cNvPr id="23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415584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4400" b="1" dirty="0" smtClean="0">
                  <a:solidFill>
                    <a:srgbClr val="C48F22"/>
                  </a:solidFill>
                </a:rPr>
                <a:t>5,052</a:t>
              </a:r>
              <a:endParaRPr lang="en-US" sz="4400" b="1" dirty="0">
                <a:solidFill>
                  <a:srgbClr val="C48F22"/>
                </a:solidFill>
              </a:endParaRPr>
            </a:p>
          </p:txBody>
        </p:sp>
        <p:sp>
          <p:nvSpPr>
            <p:cNvPr id="24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408695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المجموع الكلي لطلبات حجز المواعيد </a:t>
              </a:r>
              <a:endParaRPr lang="fr-FR" sz="20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6718051" y="4053552"/>
            <a:ext cx="2366946" cy="1900845"/>
            <a:chOff x="935333" y="1334911"/>
            <a:chExt cx="2366946" cy="1900845"/>
          </a:xfrm>
        </p:grpSpPr>
        <p:sp>
          <p:nvSpPr>
            <p:cNvPr id="26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366946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4400" b="1" dirty="0" smtClean="0">
                  <a:solidFill>
                    <a:srgbClr val="C48F22"/>
                  </a:solidFill>
                </a:rPr>
                <a:t>1,899</a:t>
              </a:r>
              <a:endParaRPr lang="en-US" sz="4400" b="1" dirty="0">
                <a:solidFill>
                  <a:srgbClr val="C48F22"/>
                </a:solidFill>
              </a:endParaRPr>
            </a:p>
          </p:txBody>
        </p:sp>
        <p:sp>
          <p:nvSpPr>
            <p:cNvPr id="27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360057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المجموع الكلي للخدمات الذاتية</a:t>
              </a:r>
              <a:endParaRPr lang="en-US" sz="20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sp>
        <p:nvSpPr>
          <p:cNvPr id="28" name="Rectangle 27"/>
          <p:cNvSpPr/>
          <p:nvPr/>
        </p:nvSpPr>
        <p:spPr>
          <a:xfrm>
            <a:off x="4585547" y="1699649"/>
            <a:ext cx="813043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OM" sz="4400" b="1" dirty="0" smtClean="0">
                <a:solidFill>
                  <a:srgbClr val="C48F22"/>
                </a:solidFill>
                <a:latin typeface="+mj-lt"/>
              </a:rPr>
              <a:t>73</a:t>
            </a:r>
            <a:endParaRPr lang="en-US" sz="4400" dirty="0">
              <a:latin typeface="+mj-lt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461D46E-147C-49AA-1082-D50B53FFCC23}"/>
              </a:ext>
            </a:extLst>
          </p:cNvPr>
          <p:cNvSpPr/>
          <p:nvPr/>
        </p:nvSpPr>
        <p:spPr>
          <a:xfrm>
            <a:off x="511861" y="1544567"/>
            <a:ext cx="3218145" cy="4352859"/>
          </a:xfrm>
          <a:prstGeom prst="rect">
            <a:avLst/>
          </a:prstGeom>
          <a:solidFill>
            <a:srgbClr val="D8CFCE"/>
          </a:solidFill>
          <a:ln>
            <a:noFill/>
          </a:ln>
          <a:effectLst>
            <a:outerShdw blurRad="254000" sx="105000" sy="105000" algn="ctr" rotWithShape="0">
              <a:schemeClr val="tx1">
                <a:lumMod val="85000"/>
                <a:lumOff val="1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0" name="Group 29"/>
          <p:cNvGrpSpPr/>
          <p:nvPr/>
        </p:nvGrpSpPr>
        <p:grpSpPr>
          <a:xfrm>
            <a:off x="1246318" y="1891623"/>
            <a:ext cx="1754006" cy="1613121"/>
            <a:chOff x="5200997" y="3415806"/>
            <a:chExt cx="2689473" cy="2473452"/>
          </a:xfrm>
        </p:grpSpPr>
        <p:sp>
          <p:nvSpPr>
            <p:cNvPr id="31" name="Rectangle 30"/>
            <p:cNvSpPr/>
            <p:nvPr/>
          </p:nvSpPr>
          <p:spPr>
            <a:xfrm>
              <a:off x="5429470" y="4639642"/>
              <a:ext cx="2218266" cy="12496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ar-OM" sz="2348" b="1" dirty="0">
                  <a:solidFill>
                    <a:srgbClr val="013631"/>
                  </a:solidFill>
                  <a:latin typeface="Microsoft Uighur" panose="02000000000000000000" pitchFamily="2" charset="-78"/>
                  <a:cs typeface="Microsoft Uighur" panose="02000000000000000000" pitchFamily="2" charset="-78"/>
                </a:rPr>
                <a:t>إجمالي حجم الأعمال المنجزة </a:t>
              </a:r>
              <a:endParaRPr lang="ar-OM" sz="1044" b="1" dirty="0">
                <a:solidFill>
                  <a:srgbClr val="013631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endParaRP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5200997" y="3415806"/>
              <a:ext cx="2689473" cy="108542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ar-OM" sz="4000" b="1" dirty="0" smtClean="0">
                  <a:solidFill>
                    <a:srgbClr val="760000"/>
                  </a:solidFill>
                </a:rPr>
                <a:t>12,997</a:t>
              </a:r>
              <a:endParaRPr lang="en-US" sz="5218" dirty="0">
                <a:solidFill>
                  <a:schemeClr val="accent2">
                    <a:lumMod val="50000"/>
                  </a:schemeClr>
                </a:solidFill>
                <a:latin typeface="Microsoft Uighur" panose="02000000000000000000" pitchFamily="2" charset="-78"/>
                <a:cs typeface="Microsoft Uighur" panose="02000000000000000000" pitchFamily="2" charset="-78"/>
              </a:endParaRPr>
            </a:p>
          </p:txBody>
        </p: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7C23099B-6F7C-4BBD-9F4E-A5126796931E}"/>
              </a:ext>
            </a:extLst>
          </p:cNvPr>
          <p:cNvSpPr/>
          <p:nvPr/>
        </p:nvSpPr>
        <p:spPr>
          <a:xfrm>
            <a:off x="521521" y="3938984"/>
            <a:ext cx="3208485" cy="740249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OM" sz="2200" b="1" dirty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المشاركة في </a:t>
            </a:r>
            <a:r>
              <a:rPr lang="en-GB" sz="3200" b="1" spc="33" dirty="0" smtClean="0">
                <a:solidFill>
                  <a:srgbClr val="760000"/>
                </a:solidFill>
                <a:latin typeface="Microsoft Uighur" panose="02000000000000000000" pitchFamily="2" charset="-78"/>
                <a:ea typeface="Segoe UI" panose="020B0502040204020203" pitchFamily="34" charset="0"/>
                <a:cs typeface="Microsoft Uighur" panose="02000000000000000000" pitchFamily="2" charset="-78"/>
              </a:rPr>
              <a:t>15 </a:t>
            </a:r>
            <a:r>
              <a:rPr lang="ar-OM" sz="2200" b="1" dirty="0" smtClean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 مبادرات </a:t>
            </a:r>
            <a:r>
              <a:rPr lang="ar-OM" sz="2200" b="1" dirty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تشغيلية</a:t>
            </a:r>
            <a:endParaRPr lang="en-US" sz="2200" b="1" dirty="0">
              <a:solidFill>
                <a:srgbClr val="760000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C23099B-6F7C-4BBD-9F4E-A5126796931E}"/>
              </a:ext>
            </a:extLst>
          </p:cNvPr>
          <p:cNvSpPr/>
          <p:nvPr/>
        </p:nvSpPr>
        <p:spPr>
          <a:xfrm>
            <a:off x="521521" y="4790646"/>
            <a:ext cx="3208485" cy="740249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ar-OM" sz="2800" b="1" dirty="0" smtClean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13</a:t>
            </a:r>
            <a:r>
              <a:rPr lang="ar-OM" sz="2200" b="1" dirty="0" smtClean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 موظف</a:t>
            </a:r>
            <a:endParaRPr lang="en-US" sz="2200" b="1" dirty="0">
              <a:solidFill>
                <a:srgbClr val="760000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C6A0D7B-C2BD-55C2-BDE8-6DD2DE363709}"/>
              </a:ext>
            </a:extLst>
          </p:cNvPr>
          <p:cNvSpPr/>
          <p:nvPr/>
        </p:nvSpPr>
        <p:spPr>
          <a:xfrm>
            <a:off x="121968" y="373842"/>
            <a:ext cx="2720051" cy="500988"/>
          </a:xfrm>
          <a:prstGeom prst="rect">
            <a:avLst/>
          </a:prstGeom>
          <a:gradFill>
            <a:gsLst>
              <a:gs pos="0">
                <a:srgbClr val="241F21">
                  <a:alpha val="85000"/>
                </a:srgbClr>
              </a:gs>
              <a:gs pos="100000">
                <a:srgbClr val="241F21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B702577-6522-C60A-9629-8528414077DB}"/>
              </a:ext>
            </a:extLst>
          </p:cNvPr>
          <p:cNvSpPr/>
          <p:nvPr/>
        </p:nvSpPr>
        <p:spPr>
          <a:xfrm>
            <a:off x="2334275" y="492780"/>
            <a:ext cx="1005840" cy="302020"/>
          </a:xfrm>
          <a:prstGeom prst="rect">
            <a:avLst/>
          </a:prstGeom>
          <a:solidFill>
            <a:srgbClr val="C48F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OM" sz="20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Uighur" panose="02000000000000000000" pitchFamily="2" charset="-78"/>
                <a:cs typeface="Microsoft Uighur" panose="02000000000000000000" pitchFamily="2" charset="-78"/>
              </a:rPr>
              <a:t>يوليو</a:t>
            </a:r>
            <a:r>
              <a:rPr kumimoji="0" lang="ar-OM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8C8AB7D-86D5-F874-9DE3-98B5C7FC131B}"/>
              </a:ext>
            </a:extLst>
          </p:cNvPr>
          <p:cNvCxnSpPr/>
          <p:nvPr/>
        </p:nvCxnSpPr>
        <p:spPr>
          <a:xfrm>
            <a:off x="884142" y="624336"/>
            <a:ext cx="181356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195842" y="414809"/>
            <a:ext cx="718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OM" sz="2000" b="1" dirty="0" smtClean="0">
                <a:solidFill>
                  <a:prstClr val="white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سبتمبر </a:t>
            </a:r>
            <a:endParaRPr lang="en-US" sz="2000" b="1" dirty="0">
              <a:solidFill>
                <a:prstClr val="white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sp>
        <p:nvSpPr>
          <p:cNvPr id="39" name="Octagon 38">
            <a:extLst>
              <a:ext uri="{FF2B5EF4-FFF2-40B4-BE49-F238E27FC236}">
                <a16:creationId xmlns:a16="http://schemas.microsoft.com/office/drawing/2014/main" id="{8F86244E-E4BF-5A5A-2854-9EE6B1A483EE}"/>
              </a:ext>
            </a:extLst>
          </p:cNvPr>
          <p:cNvSpPr/>
          <p:nvPr/>
        </p:nvSpPr>
        <p:spPr>
          <a:xfrm>
            <a:off x="11766110" y="6358527"/>
            <a:ext cx="268357" cy="268357"/>
          </a:xfrm>
          <a:prstGeom prst="octagon">
            <a:avLst/>
          </a:prstGeom>
          <a:solidFill>
            <a:srgbClr val="CCA862"/>
          </a:solidFill>
          <a:ln>
            <a:noFill/>
          </a:ln>
          <a:effectLst>
            <a:outerShdw blurRad="127000" dist="635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028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0DA08-55BC-F717-DD5C-A2315587D3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8637" y="2791864"/>
            <a:ext cx="7216302" cy="1325563"/>
          </a:xfrm>
        </p:spPr>
        <p:txBody>
          <a:bodyPr>
            <a:normAutofit/>
          </a:bodyPr>
          <a:lstStyle/>
          <a:p>
            <a:pPr algn="ctr" rtl="1"/>
            <a:r>
              <a:rPr lang="ar-SA" sz="4800" b="1" dirty="0" smtClean="0">
                <a:solidFill>
                  <a:srgbClr val="CCA862"/>
                </a:solidFill>
                <a:latin typeface="+mn-lt"/>
                <a:cs typeface="DIN Next LT Arabic" panose="020B0503020203050203" pitchFamily="34" charset="-78"/>
              </a:rPr>
              <a:t>شكر</a:t>
            </a:r>
            <a:r>
              <a:rPr lang="ar-OM" sz="4800" b="1" dirty="0" smtClean="0">
                <a:solidFill>
                  <a:srgbClr val="CCA862"/>
                </a:solidFill>
                <a:latin typeface="+mn-lt"/>
                <a:cs typeface="DIN Next LT Arabic" panose="020B0503020203050203" pitchFamily="34" charset="-78"/>
              </a:rPr>
              <a:t>اً</a:t>
            </a:r>
            <a:endParaRPr lang="en-OM" sz="4800" b="1" dirty="0">
              <a:solidFill>
                <a:srgbClr val="CCA862"/>
              </a:solidFill>
              <a:latin typeface="+mn-lt"/>
              <a:cs typeface="DIN Next LT Arabic" panose="020B0503020203050203" pitchFamily="34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889015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2221</TotalTime>
  <Words>1892</Words>
  <Application>Microsoft Office PowerPoint</Application>
  <PresentationFormat>Widescreen</PresentationFormat>
  <Paragraphs>815</Paragraphs>
  <Slides>24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9" baseType="lpstr">
      <vt:lpstr>Arial Unicode MS</vt:lpstr>
      <vt:lpstr>SimSun</vt:lpstr>
      <vt:lpstr>Arial</vt:lpstr>
      <vt:lpstr>Book Antiqua</vt:lpstr>
      <vt:lpstr>Calibri</vt:lpstr>
      <vt:lpstr>Calibri Light</vt:lpstr>
      <vt:lpstr>Century Gothic</vt:lpstr>
      <vt:lpstr>DIN Next LT Arabic</vt:lpstr>
      <vt:lpstr>FreeHand</vt:lpstr>
      <vt:lpstr>Microsoft Sans Serif</vt:lpstr>
      <vt:lpstr>Microsoft Uighur</vt:lpstr>
      <vt:lpstr>Open Sans</vt:lpstr>
      <vt:lpstr>Segoe UI</vt:lpstr>
      <vt:lpstr>Times New Roman</vt:lpstr>
      <vt:lpstr>Office Theme</vt:lpstr>
      <vt:lpstr>التقرير الربع السنوي للمديرية العامة لخدمات المتعاملين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شكراً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العنوان</dc:title>
  <dc:creator>Microsoft Office User</dc:creator>
  <cp:lastModifiedBy>Laila Mohammed Al Siyabi</cp:lastModifiedBy>
  <cp:revision>250</cp:revision>
  <dcterms:created xsi:type="dcterms:W3CDTF">2023-10-25T10:34:05Z</dcterms:created>
  <dcterms:modified xsi:type="dcterms:W3CDTF">2024-10-03T05:21:26Z</dcterms:modified>
</cp:coreProperties>
</file>