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75" r:id="rId4"/>
    <p:sldId id="277" r:id="rId5"/>
    <p:sldId id="274" r:id="rId6"/>
    <p:sldId id="278" r:id="rId7"/>
    <p:sldId id="279" r:id="rId8"/>
    <p:sldId id="273" r:id="rId9"/>
    <p:sldId id="280" r:id="rId10"/>
    <p:sldId id="263" r:id="rId11"/>
    <p:sldId id="262" r:id="rId12"/>
    <p:sldId id="282" r:id="rId13"/>
    <p:sldId id="265" r:id="rId14"/>
    <p:sldId id="284" r:id="rId15"/>
    <p:sldId id="264" r:id="rId16"/>
    <p:sldId id="272" r:id="rId17"/>
    <p:sldId id="268" r:id="rId18"/>
    <p:sldId id="270" r:id="rId19"/>
    <p:sldId id="283" r:id="rId20"/>
    <p:sldId id="285" r:id="rId21"/>
    <p:sldId id="286" r:id="rId22"/>
    <p:sldId id="287" r:id="rId23"/>
    <p:sldId id="288" r:id="rId24"/>
    <p:sldId id="258" r:id="rId25"/>
  </p:sldIdLst>
  <p:sldSz cx="12192000" cy="6858000"/>
  <p:notesSz cx="6858000" cy="9144000"/>
  <p:defaultTextStyle>
    <a:defPPr>
      <a:defRPr lang="en-O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64C"/>
    <a:srgbClr val="C48F22"/>
    <a:srgbClr val="F4F6F5"/>
    <a:srgbClr val="CCA862"/>
    <a:srgbClr val="E4E8E7"/>
    <a:srgbClr val="F3F5F4"/>
    <a:srgbClr val="E6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9" autoAdjust="0"/>
    <p:restoredTop sz="94658"/>
  </p:normalViewPr>
  <p:slideViewPr>
    <p:cSldViewPr snapToGrid="0">
      <p:cViewPr varScale="1">
        <p:scale>
          <a:sx n="61" d="100"/>
          <a:sy n="61" d="100"/>
        </p:scale>
        <p:origin x="1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27E05-829B-4BA6-B816-DC73FAA7FE16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52CBF-3CC8-40CC-9115-F65A4FCD6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4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01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OM" dirty="0" smtClean="0"/>
              <a:t>تعديل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4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CBF-3CC8-40CC-9115-F65A4FCD68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1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0FB1-2D02-BD59-7DF6-1F7FA345D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AB9ED-F7A5-96A3-0C5B-A6E5EA49B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F420-EC38-8574-E6BB-6C67A255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0B159-64CE-590A-EC92-46FCD629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2017-F796-7560-30E3-57BB37BE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89443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0A22-5C0E-F6A7-B79B-92CADA18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381C-AA23-EEC7-79BD-057BA035A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6999-05C0-A0BB-46FD-64AE3064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724F-C9DB-6568-E3B8-A690199E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A2F9-A5EA-90D1-4E64-FC377EE8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1015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F63F-D6D1-8A91-99FB-E3B4F53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3E3D9-3CDF-A5DE-984B-080C2BF5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7E9A-3C5E-2C71-C71C-C37FF658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A6EE-BA19-B14F-ACCB-E7A8C1DF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D88-4676-1984-C199-DA0C656A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51494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D35-E122-E92E-825F-965A344C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8B7-5898-50B0-6FE6-DAE552375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12541-A05D-8C6D-6A5E-D8A901E2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3A730-0017-C678-5734-7CA34CF2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84DA6-6A2C-E701-A533-B3EA7515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4B334-54CB-A310-79DD-6C838A8E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39404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99C5-2307-CC45-3753-5A83AE8D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8AC8A-C08A-4CA4-C619-BDEECF2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94D4A-AA7A-35B9-CC72-788BCFE56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01046-F7A4-E4B5-8FEA-818E6AFA2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6BF7C-D3F6-FA53-2BDD-902EED7BD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52984-AFEC-BB2D-64DB-FF76DA55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540AA-6A0F-3736-CB9E-53F74A41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D3497-39D5-0D54-4902-5F7C2B32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61708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3A53-826B-0B40-03F2-B1EBAB39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0DFE-6ABF-5766-BB49-DAD106A6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BD99E-94EE-E827-65E9-4B72228C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B6860-8666-96A2-6FE7-6F71A5BF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379680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AB111-AC8A-AC8E-FD22-AEEF83E9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8F253-B1A6-1D1B-32CF-17610FCA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9844-F292-F9C2-E2F2-62108517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8728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FF5C-BB6F-8315-DAD4-E1D7BC9E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BC1A-5A56-D581-7EF6-B507853C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5ADCD-9DA2-5314-8DF5-3F13C51E1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4C5AE-FE1F-5640-889F-39917FC5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F1D4-4508-5CD9-2A5C-0C38F9B6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0B2E3-EEED-A398-3992-58521F6E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7017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BCCE-DDF3-5C11-4615-DEC8B7BA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FA8E7-15C7-CAE2-CE40-A10C98850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O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B1307-15C6-B9C7-D286-73BB185E7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241B1-03A5-6E65-2184-A556AFF7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45B38-5108-AAC3-804B-3B85A339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8C852-A76E-7141-DD02-41AF6FE9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4753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9ED4-3BE2-EE4B-CCEC-A30C0E1C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E4A70-7F63-6105-7E56-968A45800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FCEA-305E-8695-958E-338DE847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8D1EE-A272-546D-BABE-7586F0AA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7984F-C925-FC51-363D-8284B328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173211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54C18-E4AF-02A2-1C2E-D22A8323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11211-181C-0C0C-246D-389BD7C93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D5C89-7AD1-0084-AD99-8AC83B52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FA6E-F843-B0C1-67EA-DDAA5397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A029-30E1-4C49-2863-5B378112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289588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17E11-75F0-7AB7-480B-5E37A13D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O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D76FE-3416-725D-1555-12D5FCAF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O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46D2-2231-BAD7-73D6-13A041C0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4B064-EAD0-5541-87BA-5CB903E89B2C}" type="datetimeFigureOut">
              <a:rPr lang="en-OM" smtClean="0"/>
              <a:t>07/02/2024</a:t>
            </a:fld>
            <a:endParaRPr lang="en-O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CEC23-E1F8-DFB5-7306-E0B543CBF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O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7A286-1088-35FA-C180-11B3BBE0A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0EE26-75BB-314C-921E-2022448C2262}" type="slidenum">
              <a:rPr lang="en-OM" smtClean="0"/>
              <a:t>‹#›</a:t>
            </a:fld>
            <a:endParaRPr lang="en-OM"/>
          </a:p>
        </p:txBody>
      </p:sp>
    </p:spTree>
    <p:extLst>
      <p:ext uri="{BB962C8B-B14F-4D97-AF65-F5344CB8AC3E}">
        <p14:creationId xmlns:p14="http://schemas.microsoft.com/office/powerpoint/2010/main" val="416142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O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EA66-9501-7362-012A-849461681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4035"/>
            <a:ext cx="9144000" cy="1205687"/>
          </a:xfrm>
        </p:spPr>
        <p:txBody>
          <a:bodyPr>
            <a:normAutofit fontScale="90000"/>
          </a:bodyPr>
          <a:lstStyle/>
          <a:p>
            <a:r>
              <a:rPr lang="ar-OM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التقرير الربع السنوي</a:t>
            </a:r>
            <a: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/>
            </a:r>
            <a:br>
              <a:rPr lang="en-GB" b="1" dirty="0" smtClean="0">
                <a:solidFill>
                  <a:srgbClr val="CCA862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</a:br>
            <a:r>
              <a:rPr lang="ar-OM" sz="3600" b="1" dirty="0" smtClean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للمديرية العامة لخدمات المتعاملين  </a:t>
            </a:r>
            <a:endParaRPr lang="en-OM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200C2-8B6C-9D74-4B7E-4C2A1CD2B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1289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OM" sz="1800" b="1" dirty="0" smtClean="0">
                <a:solidFill>
                  <a:schemeClr val="bg1"/>
                </a:solidFill>
                <a:cs typeface="DIN Next LT Arabic" panose="020B0503020203050203" pitchFamily="34" charset="-78"/>
              </a:rPr>
              <a:t>مارس 2024</a:t>
            </a:r>
            <a:endParaRPr lang="en-OM" sz="1800" b="1" dirty="0">
              <a:solidFill>
                <a:schemeClr val="bg1"/>
              </a:solidFill>
              <a:cs typeface="DIN Next LT Arabic" panose="020B0503020203050203" pitchFamily="34" charset="-78"/>
            </a:endParaRP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24552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460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C6CE04-24CA-7131-63C7-C9054D61804A}"/>
              </a:ext>
            </a:extLst>
          </p:cNvPr>
          <p:cNvCxnSpPr/>
          <p:nvPr/>
        </p:nvCxnSpPr>
        <p:spPr>
          <a:xfrm flipH="1">
            <a:off x="7345027" y="6671338"/>
            <a:ext cx="1408043" cy="0"/>
          </a:xfrm>
          <a:prstGeom prst="line">
            <a:avLst/>
          </a:prstGeom>
          <a:ln>
            <a:solidFill>
              <a:srgbClr val="C48F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17388" y="1909413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b="1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</a:t>
            </a:r>
            <a:endParaRPr lang="en-US" sz="1600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817388" y="2498193"/>
            <a:ext cx="582286" cy="40872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5-7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17388" y="3108889"/>
            <a:ext cx="582288" cy="397127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8-9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17388" y="3665951"/>
            <a:ext cx="582286" cy="376035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10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817388" y="4233772"/>
            <a:ext cx="582286" cy="400792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11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817388" y="1352908"/>
            <a:ext cx="582286" cy="408791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20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3</a:t>
            </a:r>
            <a:endParaRPr lang="en-US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817388" y="4799798"/>
            <a:ext cx="582286" cy="423404"/>
          </a:xfrm>
          <a:prstGeom prst="ellipse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34910" y="1309248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الملخص التنفيذي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09935" y="1942275"/>
            <a:ext cx="3807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الدائرة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94452" y="2500135"/>
            <a:ext cx="224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المبادرات التشغيلية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للمديرية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4538" y="3108889"/>
            <a:ext cx="222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الكوادر البشرية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01507" y="3644068"/>
            <a:ext cx="1771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مؤشرات أداء المديرية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89863" y="4198256"/>
            <a:ext cx="34900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المؤشرات </a:t>
            </a:r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الإحصائية لمركز الخدمة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الهاتفية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45069" y="4761538"/>
            <a:ext cx="3712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أهم المؤشرات الإحصائيات على مستوى </a:t>
            </a:r>
            <a:r>
              <a:rPr lang="ar-OM" sz="2400" dirty="0" smtClean="0">
                <a:solidFill>
                  <a:srgbClr val="3A564C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المديرية  </a:t>
            </a:r>
            <a:endParaRPr lang="en-US" sz="2400" dirty="0">
              <a:solidFill>
                <a:srgbClr val="3A564C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57945" y="4825155"/>
            <a:ext cx="67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b="1" dirty="0">
                <a:solidFill>
                  <a:srgbClr val="3A564C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12-23</a:t>
            </a:r>
            <a:endParaRPr lang="en-US" b="1" dirty="0">
              <a:solidFill>
                <a:srgbClr val="3A564C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838632" y="328278"/>
            <a:ext cx="1414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المحتوى: </a:t>
            </a:r>
            <a:r>
              <a:rPr lang="ar-OM" sz="3200" dirty="0" smtClean="0">
                <a:solidFill>
                  <a:srgbClr val="3A564C"/>
                </a:solidFill>
                <a:latin typeface="Book Antiqua" panose="02040602050305030304" pitchFamily="18" charset="0"/>
                <a:cs typeface="+mj-cs"/>
              </a:rPr>
              <a:t> </a:t>
            </a:r>
            <a:endParaRPr lang="en-US" sz="3200" dirty="0">
              <a:solidFill>
                <a:srgbClr val="3A564C"/>
              </a:solidFill>
              <a:latin typeface="Book Antiqua" panose="02040602050305030304" pitchFamily="18" charset="0"/>
              <a:cs typeface="+mj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2993586" y="997563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ctagon 5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8919597" y="133081"/>
            <a:ext cx="3331714" cy="7386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4800" dirty="0" smtClean="0">
                <a:solidFill>
                  <a:srgbClr val="CCA86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الملخص التنفيذي: </a:t>
            </a:r>
            <a:endParaRPr lang="en-US" sz="4800" dirty="0">
              <a:solidFill>
                <a:srgbClr val="CCA86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189421"/>
            <a:ext cx="4301102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(</a:t>
            </a:r>
            <a:r>
              <a:rPr lang="en-GB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23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</a:t>
            </a:r>
            <a:r>
              <a:rPr lang="en-US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هدف تشغيلي و (1) هدف </a:t>
            </a:r>
            <a:r>
              <a:rPr lang="ar-OM" sz="2000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استراتيجي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18942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4" y="1836544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249103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2491035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141605"/>
            <a:ext cx="4301103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5" y="3143552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3765598"/>
            <a:ext cx="4301101" cy="529902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على مستوى الفروع الإقليمية والدائرة، تنوعت بين ورش توعوية عامة، وورش تثقيفية خاصة، وأنشطة تدريبية داخلية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3760581"/>
            <a:ext cx="2155116" cy="534920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444124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4A317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3" y="4443191"/>
            <a:ext cx="2155115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A317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5097681"/>
            <a:ext cx="4301100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10036882" y="5097682"/>
            <a:ext cx="2155116" cy="499431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bg1"/>
              </a:solidFill>
              <a:latin typeface="Microsoft Uighur" panose="02000000000000000000" pitchFamily="2" charset="-78"/>
              <a:ea typeface="Microsoft Sans Serif" panose="020B0604020202020204" pitchFamily="34" charset="0"/>
              <a:cs typeface="Microsoft Uighur" panose="02000000000000000000" pitchFamily="2" charset="-78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36882" y="1225190"/>
            <a:ext cx="194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23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إجمالي الأهداف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03033" y="1899893"/>
            <a:ext cx="169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US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82,535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معاملة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42641" y="3213432"/>
            <a:ext cx="184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في مختلق محافظات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السلطنة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297690" y="3179819"/>
            <a:ext cx="1792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(</a:t>
            </a:r>
            <a:r>
              <a:rPr lang="en-GB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11,761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خدمه ميدانيه 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305756" y="3819178"/>
            <a:ext cx="18944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</a:t>
            </a:r>
            <a:r>
              <a:rPr lang="en-GB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(140</a:t>
            </a:r>
            <a:r>
              <a:rPr lang="ar-OM" sz="2000" b="1" dirty="0" smtClean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نشاط إعلامي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  <a:p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10500100" y="5116562"/>
            <a:ext cx="13981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US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110,884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مكالمه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406475" y="5162729"/>
            <a:ext cx="28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مستلمه </a:t>
            </a:r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من خلال مركز الخدمة الهاتفية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الذكي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10054695" y="4460126"/>
            <a:ext cx="21194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OM" sz="2000" b="1" dirty="0">
                <a:solidFill>
                  <a:schemeClr val="bg1"/>
                </a:solidFill>
                <a:latin typeface="Microsoft Uighur" panose="02000000000000000000" pitchFamily="2" charset="-78"/>
                <a:ea typeface="Microsoft Sans Serif" panose="020B0604020202020204" pitchFamily="34" charset="0"/>
                <a:cs typeface="Microsoft Uighur" panose="02000000000000000000" pitchFamily="2" charset="-78"/>
              </a:rPr>
              <a:t> 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(3) فعاليات وأنشطة وإنجازا</a:t>
            </a:r>
            <a:r>
              <a:rPr lang="ar-OM" sz="20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</a:t>
            </a:r>
            <a:endParaRPr lang="en-US" sz="2000" b="1" dirty="0">
              <a:solidFill>
                <a:srgbClr val="FFFFFF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44642" y="4536044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الأنشطة والفعاليات والإنجازات على مستوى الدائرة  </a:t>
            </a:r>
            <a:endParaRPr lang="en-US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735782" y="1825514"/>
            <a:ext cx="4301101" cy="499431"/>
          </a:xfrm>
          <a:prstGeom prst="rect">
            <a:avLst/>
          </a:prstGeom>
          <a:solidFill>
            <a:srgbClr val="E4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OM" sz="2000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لأصحاب الأعمال والمؤمن عليهم  في مختلف الأنظمة التأمينية</a:t>
            </a:r>
            <a:endParaRPr lang="en-US" sz="2000" dirty="0">
              <a:solidFill>
                <a:srgbClr val="013631"/>
              </a:solidFill>
              <a:latin typeface="Microsoft Uighur" panose="02000000000000000000" pitchFamily="2" charset="-78"/>
              <a:ea typeface="SimSun" panose="02010600030101010101" pitchFamily="2" charset="-122"/>
              <a:cs typeface="Microsoft Uighur" panose="02000000000000000000" pitchFamily="2" charset="-78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05756" y="2518191"/>
            <a:ext cx="14915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(</a:t>
            </a:r>
            <a:r>
              <a:rPr lang="en-GB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10,193</a:t>
            </a:r>
            <a:r>
              <a:rPr lang="ar-OM" sz="2000" b="1" dirty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) موعد </a:t>
            </a:r>
          </a:p>
          <a:p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733308" y="2493673"/>
            <a:ext cx="3240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OM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تم استلامه لمختلف الخدمات </a:t>
            </a:r>
            <a:r>
              <a:rPr lang="ar-OM" dirty="0" smtClean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التأمينية </a:t>
            </a:r>
            <a:r>
              <a:rPr lang="ar-OM" sz="2400" b="1" dirty="0" smtClean="0">
                <a:solidFill>
                  <a:srgbClr val="FFFFFF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rPr>
              <a:t> </a:t>
            </a:r>
            <a:endParaRPr lang="en-US" sz="24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1406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52310" y="809327"/>
            <a:ext cx="8406088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468677" y="279381"/>
            <a:ext cx="6314736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2800" b="1" dirty="0" smtClean="0">
                <a:solidFill>
                  <a:srgbClr val="CCA862"/>
                </a:solidFill>
                <a:cs typeface="Microsoft Uighur" panose="02000000000000000000" pitchFamily="2" charset="-78"/>
              </a:rPr>
              <a:t>الأنشطة والفعاليات والإنجازات على مستوى المديريه  </a:t>
            </a:r>
            <a:endParaRPr lang="en-US" sz="2800" b="1" dirty="0">
              <a:solidFill>
                <a:srgbClr val="CCA862"/>
              </a:solidFill>
              <a:cs typeface="Microsoft Uighur" panose="02000000000000000000" pitchFamily="2" charset="-7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52113" y="4408892"/>
            <a:ext cx="2612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b="1" dirty="0">
                <a:solidFill>
                  <a:schemeClr val="tx2"/>
                </a:solidFill>
                <a:latin typeface="Microsoft Uighur" panose="02000000000000000000" pitchFamily="2" charset="-78"/>
                <a:ea typeface="Open Sans" pitchFamily="34" charset="0"/>
                <a:cs typeface="Microsoft Uighur" panose="02000000000000000000" pitchFamily="2" charset="-78"/>
              </a:rPr>
              <a:t>مشاركة  دائرة  صندوق  الحماية  الاجتماعية  بمحافظة  الظاهرة في  ملتقى  الظاهرة  السياحي 2024</a:t>
            </a:r>
            <a:endParaRPr lang="en-US" dirty="0">
              <a:solidFill>
                <a:srgbClr val="C0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682986" y="6469363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OM" sz="1600" dirty="0" smtClean="0"/>
              <a:t>2</a:t>
            </a:r>
            <a:endParaRPr lang="en-US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921" y="2787087"/>
            <a:ext cx="2004951" cy="1427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" name="Straight Connector 3"/>
          <p:cNvCxnSpPr/>
          <p:nvPr/>
        </p:nvCxnSpPr>
        <p:spPr>
          <a:xfrm>
            <a:off x="2173056" y="2218962"/>
            <a:ext cx="7885342" cy="0"/>
          </a:xfrm>
          <a:prstGeom prst="line">
            <a:avLst/>
          </a:prstGeom>
          <a:ln w="28575">
            <a:solidFill>
              <a:srgbClr val="3A5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058398" y="2218962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359234" y="2225890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186911" y="2232817"/>
            <a:ext cx="0" cy="346364"/>
          </a:xfrm>
          <a:prstGeom prst="straightConnector1">
            <a:avLst/>
          </a:prstGeom>
          <a:ln w="28575">
            <a:solidFill>
              <a:srgbClr val="3A56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311234" y="54583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rtl="1"/>
            <a:r>
              <a:rPr lang="ar-OM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المشاركة في القمة </a:t>
            </a:r>
            <a:r>
              <a:rPr lang="ar-OM" b="1" dirty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الـ 14 للمنتدى العالمي للهجرة والتنمية </a:t>
            </a:r>
          </a:p>
          <a:p>
            <a:pPr algn="ctr" rtl="1"/>
            <a:r>
              <a:rPr lang="ar-OM" b="1" dirty="0">
                <a:solidFill>
                  <a:srgbClr val="3A564C"/>
                </a:solidFill>
                <a:ea typeface="Open Sans" pitchFamily="34" charset="0"/>
                <a:cs typeface="Microsoft Uighur" panose="02000000000000000000" pitchFamily="2" charset="-78"/>
              </a:rPr>
              <a:t>سويسرا، جنيف 23-25 يناير </a:t>
            </a:r>
          </a:p>
        </p:txBody>
      </p:sp>
      <p:pic>
        <p:nvPicPr>
          <p:cNvPr id="12" name="Picture 3" descr="18dbb05458fc0a9662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443" y="4065126"/>
            <a:ext cx="2043582" cy="1078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14" name="Picture 4" descr="18dbb054f939cc6052d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443" y="2735062"/>
            <a:ext cx="2043582" cy="1247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5" name="Rectangle 14"/>
          <p:cNvSpPr/>
          <p:nvPr/>
        </p:nvSpPr>
        <p:spPr>
          <a:xfrm>
            <a:off x="-758071" y="45441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rtl="1"/>
            <a:r>
              <a:rPr lang="ar-OM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المشاركة في القمة العالمية للحكومات </a:t>
            </a:r>
          </a:p>
          <a:p>
            <a:pPr algn="ctr" rtl="1"/>
            <a:r>
              <a:rPr lang="ar-OM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دبي</a:t>
            </a:r>
            <a:r>
              <a:rPr lang="en-GB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-</a:t>
            </a:r>
            <a:r>
              <a:rPr lang="ar-OM" b="1" dirty="0" smtClean="0">
                <a:solidFill>
                  <a:schemeClr val="tx2"/>
                </a:solidFill>
                <a:ea typeface="Open Sans" pitchFamily="34" charset="0"/>
                <a:cs typeface="Microsoft Uighur" panose="02000000000000000000" pitchFamily="2" charset="-78"/>
              </a:rPr>
              <a:t> 2024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4" t="5699" r="7943" b="4719"/>
          <a:stretch/>
        </p:blipFill>
        <p:spPr>
          <a:xfrm>
            <a:off x="2289929" y="2665771"/>
            <a:ext cx="1608993" cy="15650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92"/>
          <a:stretch/>
        </p:blipFill>
        <p:spPr>
          <a:xfrm>
            <a:off x="661845" y="2665771"/>
            <a:ext cx="1446717" cy="156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0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92037"/>
              </p:ext>
            </p:extLst>
          </p:nvPr>
        </p:nvGraphicFramePr>
        <p:xfrm>
          <a:off x="206478" y="943897"/>
          <a:ext cx="10847882" cy="2339532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0748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62936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513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82813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8900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الخطة التشغيلية للعام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2025م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54894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الخدمات المقدمة (حجز المواعيد + الخدمات الذاتية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سجل مخاطر الدائرة والإجراءات التصحيحية المحددة للدائرة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1"/>
            <a:ext cx="1132197" cy="5491232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0" y="1267476"/>
            <a:ext cx="1123413" cy="1789696"/>
            <a:chOff x="10968460" y="1219803"/>
            <a:chExt cx="1146604" cy="18140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57512" y="12198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en-US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88910"/>
              </p:ext>
            </p:extLst>
          </p:nvPr>
        </p:nvGraphicFramePr>
        <p:xfrm>
          <a:off x="277058" y="3308419"/>
          <a:ext cx="10776488" cy="3206784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8892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3781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3461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354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704892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المشاركة في الفعاليات الداخلية والخارجية ( الفعاليات على مستوى الفرع/القسم أو أية فعاليات أخرى/ مقالات / أنشطة إعلامية 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49342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مبادرة تلمس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إحتياجات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المواطنين "حاضرين " (تنفيذ الخدمات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الميدانيه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/الخدمات الاستباقية)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520481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تنفيذ المشروعات الرقمية (المستشار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الذكي+التطبيق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الهاتفي+المقابلات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الإفتراضية+المنصة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الإفتراضية+مقاييس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التميز في الخدمات)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704892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دراسة لاستحداث آلية إلكترونية وذكية للمتابعات الخاصة بالمؤمن عليهم والمستحقين(اشعارات إلكترونية وذكية و استحداث رقم هاتف آلي للاتصال بالمستحق الوحيد للمتابعة الدورية)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693976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تصور لإقامة ملتقى خاص بالمتعاملين بكافة أنواعهم لتطوير الأنظمة والخدمات الحالية ومناقشة التحديات والصعوبات (اختيار شريحة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Focus Group)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47384"/>
              </p:ext>
            </p:extLst>
          </p:nvPr>
        </p:nvGraphicFramePr>
        <p:xfrm>
          <a:off x="276280" y="1023971"/>
          <a:ext cx="10778079" cy="2385408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45274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20705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381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73915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5792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 للإنجاز</a:t>
                      </a:r>
                      <a:r>
                        <a:rPr lang="ar-OM" sz="2200" b="1" u="none" strike="noStrike" kern="1200" baseline="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%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9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دراسات لتطوير تقديم الخدمات 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Chat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GPT+Customer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Behavior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Insight+Voice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GPT)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530158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10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الإطار العام لمركزية المتعاملين 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Customer </a:t>
                      </a:r>
                      <a:r>
                        <a:rPr lang="en-US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Centercity</a:t>
                      </a: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1507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11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إعداد وثيقة مرجعية تحتوي على كافة المعلومات عن صندوق الحماية الاجتماعية ليتم الاستفادة منها في تغذية خدمة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الواتس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آب والمستشار الإلكتروني وأي انظمة ذات علاقة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4193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2"/>
            <a:ext cx="1132197" cy="5527512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0" y="1267476"/>
            <a:ext cx="1123413" cy="1789696"/>
            <a:chOff x="10968460" y="1219803"/>
            <a:chExt cx="1146604" cy="18140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57512" y="12198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en-US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84685"/>
              </p:ext>
            </p:extLst>
          </p:nvPr>
        </p:nvGraphicFramePr>
        <p:xfrm>
          <a:off x="276280" y="3417274"/>
          <a:ext cx="10777266" cy="3134209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895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425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3606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454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693322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أدلة السياسات والإجراءات لأقسام المديرية العامة لخدمات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48532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تحديث بروتوكول خدمات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599594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رفع كفاءة الاستجابة للطلبات الواردة من المتعاملين ومن دوائر الهيئة بنسبة لا تقل عن 70% في النصف  الأول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66337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15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تحقيق نسبة إنجاز في الخطة التشغيلية للعام 2024 لا تقل عن 90% في النصف الأول من عام 2024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682585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16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%  الاستجابة للشكاوى و المقترحات التطويرية الواردة من المتعاملين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804857" y="6491616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879344" y="813036"/>
            <a:ext cx="8236069" cy="0"/>
          </a:xfrm>
          <a:prstGeom prst="line">
            <a:avLst/>
          </a:prstGeom>
          <a:ln>
            <a:solidFill>
              <a:srgbClr val="CCA86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65453"/>
              </p:ext>
            </p:extLst>
          </p:nvPr>
        </p:nvGraphicFramePr>
        <p:xfrm>
          <a:off x="276280" y="1023971"/>
          <a:ext cx="10778079" cy="1611410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45274">
                  <a:extLst>
                    <a:ext uri="{9D8B030D-6E8A-4147-A177-3AD203B41FA5}">
                      <a16:colId xmlns:a16="http://schemas.microsoft.com/office/drawing/2014/main" val="3446591263"/>
                    </a:ext>
                  </a:extLst>
                </a:gridCol>
                <a:gridCol w="6520705">
                  <a:extLst>
                    <a:ext uri="{9D8B030D-6E8A-4147-A177-3AD203B41FA5}">
                      <a16:colId xmlns:a16="http://schemas.microsoft.com/office/drawing/2014/main" val="3011913205"/>
                    </a:ext>
                  </a:extLst>
                </a:gridCol>
                <a:gridCol w="2038185">
                  <a:extLst>
                    <a:ext uri="{9D8B030D-6E8A-4147-A177-3AD203B41FA5}">
                      <a16:colId xmlns:a16="http://schemas.microsoft.com/office/drawing/2014/main" val="1434764207"/>
                    </a:ext>
                  </a:extLst>
                </a:gridCol>
                <a:gridCol w="1373915">
                  <a:extLst>
                    <a:ext uri="{9D8B030D-6E8A-4147-A177-3AD203B41FA5}">
                      <a16:colId xmlns:a16="http://schemas.microsoft.com/office/drawing/2014/main" val="4274385730"/>
                    </a:ext>
                  </a:extLst>
                </a:gridCol>
              </a:tblGrid>
              <a:tr h="757925"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الرقم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التوزيع النسبي للأعمال المنجزة</a:t>
                      </a:r>
                      <a:r>
                        <a:rPr lang="en-GB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28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%</a:t>
                      </a: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2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الوزن النسبي %  </a:t>
                      </a:r>
                      <a:endParaRPr lang="ar-OM" sz="2200" b="1" u="none" strike="noStrike" kern="1200" dirty="0">
                        <a:solidFill>
                          <a:schemeClr val="bg1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3A56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18359"/>
                  </a:ext>
                </a:extLst>
              </a:tr>
              <a:tr h="48365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17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متابعة تطوير مركز الخدمة الهاتفية (مركز التواصل)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1612"/>
                  </a:ext>
                </a:extLst>
              </a:tr>
              <a:tr h="321179">
                <a:tc gridSpan="4">
                  <a:txBody>
                    <a:bodyPr/>
                    <a:lstStyle/>
                    <a:p>
                      <a:pPr algn="ctr" rtl="1" fontAlgn="ctr"/>
                      <a:r>
                        <a:rPr lang="ar-OM" sz="24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4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الإضافية </a:t>
                      </a:r>
                      <a:endParaRPr lang="ar-OM" sz="2400" b="1" i="0" u="none" strike="noStrike" dirty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1845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48303" y="214537"/>
            <a:ext cx="706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A86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الأهداف التشغيلية والاستراتيجية  لدائرة الخدمة التأمينية والفروع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CA86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68767" y="1023971"/>
            <a:ext cx="1132197" cy="5118749"/>
          </a:xfrm>
          <a:prstGeom prst="rect">
            <a:avLst/>
          </a:prstGeom>
          <a:solidFill>
            <a:srgbClr val="3A5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991652" y="1197036"/>
            <a:ext cx="1239104" cy="1860136"/>
            <a:chOff x="10968460" y="1148403"/>
            <a:chExt cx="1264683" cy="1885495"/>
          </a:xfrm>
        </p:grpSpPr>
        <p:sp>
          <p:nvSpPr>
            <p:cNvPr id="25" name="TextBox 24"/>
            <p:cNvSpPr txBox="1"/>
            <p:nvPr/>
          </p:nvSpPr>
          <p:spPr>
            <a:xfrm>
              <a:off x="10968460" y="2191572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تشغيلي 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301810" y="1148403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23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1053546" y="2817698"/>
            <a:ext cx="1237226" cy="1751229"/>
            <a:chOff x="11049876" y="4540841"/>
            <a:chExt cx="1245377" cy="1775103"/>
          </a:xfrm>
        </p:grpSpPr>
        <p:sp>
          <p:nvSpPr>
            <p:cNvPr id="28" name="TextBox 27"/>
            <p:cNvSpPr txBox="1"/>
            <p:nvPr/>
          </p:nvSpPr>
          <p:spPr>
            <a:xfrm>
              <a:off x="11363920" y="4540841"/>
              <a:ext cx="931333" cy="1123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 </a:t>
              </a:r>
              <a:r>
                <a:rPr kumimoji="0" lang="ar-OM" sz="4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1</a:t>
              </a:r>
              <a:endParaRPr kumimoji="0" lang="ar-OM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876" y="5473618"/>
              <a:ext cx="1146604" cy="84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هدف استراتيجي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774456" y="4792542"/>
            <a:ext cx="1724072" cy="986925"/>
            <a:chOff x="10667204" y="3066134"/>
            <a:chExt cx="1759662" cy="1000380"/>
          </a:xfrm>
        </p:grpSpPr>
        <p:sp>
          <p:nvSpPr>
            <p:cNvPr id="31" name="TextBox 30"/>
            <p:cNvSpPr txBox="1"/>
            <p:nvPr/>
          </p:nvSpPr>
          <p:spPr>
            <a:xfrm>
              <a:off x="10667204" y="3066134"/>
              <a:ext cx="1759662" cy="779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4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48F22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50%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0038" y="3598555"/>
              <a:ext cx="1184168" cy="467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OM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Uighur" panose="02000000000000000000" pitchFamily="2" charset="-78"/>
                  <a:ea typeface="+mn-ea"/>
                  <a:cs typeface="Microsoft Uighur" panose="02000000000000000000" pitchFamily="2" charset="-78"/>
                </a:rPr>
                <a:t>نسبة الإنجاز 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061219" y="3179545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078152" y="4743350"/>
            <a:ext cx="1152602" cy="4571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89934"/>
              </p:ext>
            </p:extLst>
          </p:nvPr>
        </p:nvGraphicFramePr>
        <p:xfrm>
          <a:off x="276281" y="2631702"/>
          <a:ext cx="10781164" cy="3511018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859264">
                  <a:extLst>
                    <a:ext uri="{9D8B030D-6E8A-4147-A177-3AD203B41FA5}">
                      <a16:colId xmlns:a16="http://schemas.microsoft.com/office/drawing/2014/main" val="191819981"/>
                    </a:ext>
                  </a:extLst>
                </a:gridCol>
                <a:gridCol w="6526612">
                  <a:extLst>
                    <a:ext uri="{9D8B030D-6E8A-4147-A177-3AD203B41FA5}">
                      <a16:colId xmlns:a16="http://schemas.microsoft.com/office/drawing/2014/main" val="1698874473"/>
                    </a:ext>
                  </a:extLst>
                </a:gridCol>
                <a:gridCol w="2014335">
                  <a:extLst>
                    <a:ext uri="{9D8B030D-6E8A-4147-A177-3AD203B41FA5}">
                      <a16:colId xmlns:a16="http://schemas.microsoft.com/office/drawing/2014/main" val="4209656204"/>
                    </a:ext>
                  </a:extLst>
                </a:gridCol>
                <a:gridCol w="1380953">
                  <a:extLst>
                    <a:ext uri="{9D8B030D-6E8A-4147-A177-3AD203B41FA5}">
                      <a16:colId xmlns:a16="http://schemas.microsoft.com/office/drawing/2014/main" val="4101016788"/>
                    </a:ext>
                  </a:extLst>
                </a:gridCol>
              </a:tblGrid>
              <a:tr h="51291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18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نسبة الخدمات المدونة والمعلنة في دليل استرشادي من اجمالي الخدمات المقدمة للمستفيدين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2869"/>
                  </a:ext>
                </a:extLst>
              </a:tr>
              <a:tr h="304019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19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التفاني والالتزام بالسلوك الوظيفي وأخلاقيات العمل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805838"/>
                  </a:ext>
                </a:extLst>
              </a:tr>
              <a:tr h="32069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20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كفاءة استجابة مركز الخدمة الهاتفية للمكالمات الواردة من المتعاملين %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6595"/>
                  </a:ext>
                </a:extLst>
              </a:tr>
              <a:tr h="434313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21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الالتزام بتوفير كافة  المتطلبات اللوجستية والإدارية  للدائرة بالمحافظة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967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22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كفاءة الاستجابة للطلبات الدعم الفني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54011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23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اعداد دراسة لتطوير خدمة </a:t>
                      </a:r>
                      <a:r>
                        <a:rPr lang="ar-OM" sz="2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الواتس</a:t>
                      </a: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آب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84068"/>
                  </a:ext>
                </a:extLst>
              </a:tr>
              <a:tr h="427587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الأهداف</a:t>
                      </a:r>
                      <a:r>
                        <a:rPr lang="ar-OM" sz="2000" b="1" i="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الاستراتيجية  </a:t>
                      </a:r>
                      <a:endParaRPr lang="ar-OM" sz="2000" b="1" i="0" u="none" strike="noStrike" dirty="0" smtClean="0">
                        <a:solidFill>
                          <a:srgbClr val="C00000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69893"/>
                  </a:ext>
                </a:extLst>
              </a:tr>
              <a:tr h="427587"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الهدف # 24</a:t>
                      </a:r>
                    </a:p>
                  </a:txBody>
                  <a:tcPr marL="0" marR="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فريق</a:t>
                      </a:r>
                      <a:r>
                        <a:rPr lang="ar-OM" sz="2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Microsoft Uighur" panose="02000000000000000000" pitchFamily="2" charset="-78"/>
                          <a:cs typeface="Microsoft Uighur" panose="02000000000000000000" pitchFamily="2" charset="-78"/>
                        </a:rPr>
                        <a:t> إعادة تصميم الهيكل التنظيمي لصندوق الحماية الاجتماعية </a:t>
                      </a:r>
                      <a:endParaRPr lang="ar-OM" sz="2000" b="1" i="0" u="none" strike="noStrike" dirty="0">
                        <a:solidFill>
                          <a:schemeClr val="tx1"/>
                        </a:solidFill>
                        <a:effectLst/>
                        <a:latin typeface="Microsoft Uighur" panose="02000000000000000000" pitchFamily="2" charset="-78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OM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60000"/>
                          </a:solidFill>
                          <a:effectLst/>
                          <a:uLnTx/>
                          <a:uFillTx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100</a:t>
                      </a:r>
                      <a:endParaRPr lang="ar-OM" sz="2800" b="1" i="0" u="none" strike="noStrike" kern="1200" dirty="0" smtClean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OM" sz="2800" b="1" i="0" u="none" strike="noStrike" kern="1200" dirty="0" smtClean="0">
                          <a:solidFill>
                            <a:srgbClr val="760000"/>
                          </a:solidFill>
                          <a:effectLst/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50</a:t>
                      </a:r>
                      <a:endParaRPr lang="ar-OM" sz="2800" b="1" i="0" u="none" strike="noStrike" kern="1200" dirty="0">
                        <a:solidFill>
                          <a:srgbClr val="760000"/>
                        </a:solidFill>
                        <a:effectLst/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0" marR="0" marT="0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76844"/>
                  </a:ext>
                </a:extLst>
              </a:tr>
            </a:tbl>
          </a:graphicData>
        </a:graphic>
      </p:graphicFrame>
      <p:sp>
        <p:nvSpPr>
          <p:cNvPr id="18" name="Octagon 17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9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40745" y="612932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37165" y="28157"/>
            <a:ext cx="2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70077"/>
              </p:ext>
            </p:extLst>
          </p:nvPr>
        </p:nvGraphicFramePr>
        <p:xfrm>
          <a:off x="202225" y="703385"/>
          <a:ext cx="11873821" cy="606317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43474">
                  <a:extLst>
                    <a:ext uri="{9D8B030D-6E8A-4147-A177-3AD203B41FA5}">
                      <a16:colId xmlns:a16="http://schemas.microsoft.com/office/drawing/2014/main" val="73286599"/>
                    </a:ext>
                  </a:extLst>
                </a:gridCol>
                <a:gridCol w="1836359">
                  <a:extLst>
                    <a:ext uri="{9D8B030D-6E8A-4147-A177-3AD203B41FA5}">
                      <a16:colId xmlns:a16="http://schemas.microsoft.com/office/drawing/2014/main" val="2674827092"/>
                    </a:ext>
                  </a:extLst>
                </a:gridCol>
                <a:gridCol w="729121">
                  <a:extLst>
                    <a:ext uri="{9D8B030D-6E8A-4147-A177-3AD203B41FA5}">
                      <a16:colId xmlns:a16="http://schemas.microsoft.com/office/drawing/2014/main" val="2829396419"/>
                    </a:ext>
                  </a:extLst>
                </a:gridCol>
                <a:gridCol w="640869">
                  <a:extLst>
                    <a:ext uri="{9D8B030D-6E8A-4147-A177-3AD203B41FA5}">
                      <a16:colId xmlns:a16="http://schemas.microsoft.com/office/drawing/2014/main" val="1336621364"/>
                    </a:ext>
                  </a:extLst>
                </a:gridCol>
                <a:gridCol w="671592">
                  <a:extLst>
                    <a:ext uri="{9D8B030D-6E8A-4147-A177-3AD203B41FA5}">
                      <a16:colId xmlns:a16="http://schemas.microsoft.com/office/drawing/2014/main" val="631596574"/>
                    </a:ext>
                  </a:extLst>
                </a:gridCol>
                <a:gridCol w="937903">
                  <a:extLst>
                    <a:ext uri="{9D8B030D-6E8A-4147-A177-3AD203B41FA5}">
                      <a16:colId xmlns:a16="http://schemas.microsoft.com/office/drawing/2014/main" val="455940285"/>
                    </a:ext>
                  </a:extLst>
                </a:gridCol>
                <a:gridCol w="996608">
                  <a:extLst>
                    <a:ext uri="{9D8B030D-6E8A-4147-A177-3AD203B41FA5}">
                      <a16:colId xmlns:a16="http://schemas.microsoft.com/office/drawing/2014/main" val="956867628"/>
                    </a:ext>
                  </a:extLst>
                </a:gridCol>
                <a:gridCol w="816098">
                  <a:extLst>
                    <a:ext uri="{9D8B030D-6E8A-4147-A177-3AD203B41FA5}">
                      <a16:colId xmlns:a16="http://schemas.microsoft.com/office/drawing/2014/main" val="4134308186"/>
                    </a:ext>
                  </a:extLst>
                </a:gridCol>
                <a:gridCol w="847804">
                  <a:extLst>
                    <a:ext uri="{9D8B030D-6E8A-4147-A177-3AD203B41FA5}">
                      <a16:colId xmlns:a16="http://schemas.microsoft.com/office/drawing/2014/main" val="1843386720"/>
                    </a:ext>
                  </a:extLst>
                </a:gridCol>
                <a:gridCol w="715964">
                  <a:extLst>
                    <a:ext uri="{9D8B030D-6E8A-4147-A177-3AD203B41FA5}">
                      <a16:colId xmlns:a16="http://schemas.microsoft.com/office/drawing/2014/main" val="2257472203"/>
                    </a:ext>
                  </a:extLst>
                </a:gridCol>
                <a:gridCol w="595801">
                  <a:extLst>
                    <a:ext uri="{9D8B030D-6E8A-4147-A177-3AD203B41FA5}">
                      <a16:colId xmlns:a16="http://schemas.microsoft.com/office/drawing/2014/main" val="3454258601"/>
                    </a:ext>
                  </a:extLst>
                </a:gridCol>
                <a:gridCol w="608371">
                  <a:extLst>
                    <a:ext uri="{9D8B030D-6E8A-4147-A177-3AD203B41FA5}">
                      <a16:colId xmlns:a16="http://schemas.microsoft.com/office/drawing/2014/main" val="825718830"/>
                    </a:ext>
                  </a:extLst>
                </a:gridCol>
                <a:gridCol w="531870">
                  <a:extLst>
                    <a:ext uri="{9D8B030D-6E8A-4147-A177-3AD203B41FA5}">
                      <a16:colId xmlns:a16="http://schemas.microsoft.com/office/drawing/2014/main" val="3031644428"/>
                    </a:ext>
                  </a:extLst>
                </a:gridCol>
                <a:gridCol w="585366">
                  <a:extLst>
                    <a:ext uri="{9D8B030D-6E8A-4147-A177-3AD203B41FA5}">
                      <a16:colId xmlns:a16="http://schemas.microsoft.com/office/drawing/2014/main" val="1790617402"/>
                    </a:ext>
                  </a:extLst>
                </a:gridCol>
                <a:gridCol w="580292">
                  <a:extLst>
                    <a:ext uri="{9D8B030D-6E8A-4147-A177-3AD203B41FA5}">
                      <a16:colId xmlns:a16="http://schemas.microsoft.com/office/drawing/2014/main" val="1894796741"/>
                    </a:ext>
                  </a:extLst>
                </a:gridCol>
                <a:gridCol w="536329">
                  <a:extLst>
                    <a:ext uri="{9D8B030D-6E8A-4147-A177-3AD203B41FA5}">
                      <a16:colId xmlns:a16="http://schemas.microsoft.com/office/drawing/2014/main" val="3453795335"/>
                    </a:ext>
                  </a:extLst>
                </a:gridCol>
              </a:tblGrid>
              <a:tr h="124255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6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495997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845127651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565358263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3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67706773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4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أول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121763838"/>
                  </a:ext>
                </a:extLst>
              </a:tr>
              <a:tr h="69979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5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اول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25239040"/>
                  </a:ext>
                </a:extLst>
              </a:tr>
              <a:tr h="465676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6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خدمات المتعاملين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3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8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0131529"/>
                  </a:ext>
                </a:extLst>
              </a:tr>
              <a:tr h="61942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7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أخصائي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669485210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8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إدارة علاقات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958449851"/>
                  </a:ext>
                </a:extLst>
              </a:tr>
              <a:tr h="526095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9</a:t>
                      </a:r>
                      <a:endParaRPr lang="ar-OM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6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6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4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10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52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40865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6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709325" y="674488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51E41F3-FCC7-8151-51F0-E9C95F9D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t>7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09325" y="28157"/>
            <a:ext cx="7794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الكوادر البشرية  في دوائر الحماية الاجتماعية</a:t>
            </a:r>
            <a:r>
              <a:rPr kumimoji="0" lang="ar-OM" sz="3200" b="1" i="0" u="none" strike="noStrike" kern="1200" cap="none" spc="0" normalizeH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في المحافظات  </a:t>
            </a:r>
            <a:r>
              <a:rPr kumimoji="0" lang="ar-OM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48F22"/>
                </a:solidFill>
                <a:effectLst/>
                <a:uLnTx/>
                <a:uFillTx/>
                <a:latin typeface="Microsoft Uighur" panose="02000000000000000000" pitchFamily="2" charset="-78"/>
                <a:ea typeface="+mn-ea"/>
                <a:cs typeface="Microsoft Uighur" panose="02000000000000000000" pitchFamily="2" charset="-78"/>
              </a:rPr>
              <a:t>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48F22"/>
              </a:solidFill>
              <a:effectLst/>
              <a:uLnTx/>
              <a:uFillTx/>
              <a:latin typeface="Microsoft Uighur" panose="02000000000000000000" pitchFamily="2" charset="-78"/>
              <a:ea typeface="+mn-ea"/>
              <a:cs typeface="Microsoft Uighur" panose="02000000000000000000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73929"/>
              </p:ext>
            </p:extLst>
          </p:nvPr>
        </p:nvGraphicFramePr>
        <p:xfrm>
          <a:off x="140677" y="514349"/>
          <a:ext cx="11801188" cy="6205105"/>
        </p:xfrm>
        <a:graphic>
          <a:graphicData uri="http://schemas.openxmlformats.org/drawingml/2006/table">
            <a:tbl>
              <a:tblPr rtl="1">
                <a:tableStyleId>{F5AB1C69-6EDB-4FF4-983F-18BD219EF322}</a:tableStyleId>
              </a:tblPr>
              <a:tblGrid>
                <a:gridCol w="422526">
                  <a:extLst>
                    <a:ext uri="{9D8B030D-6E8A-4147-A177-3AD203B41FA5}">
                      <a16:colId xmlns:a16="http://schemas.microsoft.com/office/drawing/2014/main" val="2528130455"/>
                    </a:ext>
                  </a:extLst>
                </a:gridCol>
                <a:gridCol w="1936431">
                  <a:extLst>
                    <a:ext uri="{9D8B030D-6E8A-4147-A177-3AD203B41FA5}">
                      <a16:colId xmlns:a16="http://schemas.microsoft.com/office/drawing/2014/main" val="2278694373"/>
                    </a:ext>
                  </a:extLst>
                </a:gridCol>
                <a:gridCol w="724658">
                  <a:extLst>
                    <a:ext uri="{9D8B030D-6E8A-4147-A177-3AD203B41FA5}">
                      <a16:colId xmlns:a16="http://schemas.microsoft.com/office/drawing/2014/main" val="4052696795"/>
                    </a:ext>
                  </a:extLst>
                </a:gridCol>
                <a:gridCol w="574468">
                  <a:extLst>
                    <a:ext uri="{9D8B030D-6E8A-4147-A177-3AD203B41FA5}">
                      <a16:colId xmlns:a16="http://schemas.microsoft.com/office/drawing/2014/main" val="373252798"/>
                    </a:ext>
                  </a:extLst>
                </a:gridCol>
                <a:gridCol w="661090">
                  <a:extLst>
                    <a:ext uri="{9D8B030D-6E8A-4147-A177-3AD203B41FA5}">
                      <a16:colId xmlns:a16="http://schemas.microsoft.com/office/drawing/2014/main" val="314012147"/>
                    </a:ext>
                  </a:extLst>
                </a:gridCol>
                <a:gridCol w="810412">
                  <a:extLst>
                    <a:ext uri="{9D8B030D-6E8A-4147-A177-3AD203B41FA5}">
                      <a16:colId xmlns:a16="http://schemas.microsoft.com/office/drawing/2014/main" val="23670199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8021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431815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512398872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37607344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3036935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175928868"/>
                    </a:ext>
                  </a:extLst>
                </a:gridCol>
                <a:gridCol w="556953">
                  <a:extLst>
                    <a:ext uri="{9D8B030D-6E8A-4147-A177-3AD203B41FA5}">
                      <a16:colId xmlns:a16="http://schemas.microsoft.com/office/drawing/2014/main" val="512467592"/>
                    </a:ext>
                  </a:extLst>
                </a:gridCol>
                <a:gridCol w="661937">
                  <a:extLst>
                    <a:ext uri="{9D8B030D-6E8A-4147-A177-3AD203B41FA5}">
                      <a16:colId xmlns:a16="http://schemas.microsoft.com/office/drawing/2014/main" val="3428546222"/>
                    </a:ext>
                  </a:extLst>
                </a:gridCol>
                <a:gridCol w="587050">
                  <a:extLst>
                    <a:ext uri="{9D8B030D-6E8A-4147-A177-3AD203B41FA5}">
                      <a16:colId xmlns:a16="http://schemas.microsoft.com/office/drawing/2014/main" val="719590270"/>
                    </a:ext>
                  </a:extLst>
                </a:gridCol>
                <a:gridCol w="522263">
                  <a:extLst>
                    <a:ext uri="{9D8B030D-6E8A-4147-A177-3AD203B41FA5}">
                      <a16:colId xmlns:a16="http://schemas.microsoft.com/office/drawing/2014/main" val="626231943"/>
                    </a:ext>
                  </a:extLst>
                </a:gridCol>
              </a:tblGrid>
              <a:tr h="12495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المسميات</a:t>
                      </a:r>
                      <a:r>
                        <a:rPr lang="ar-OM" sz="1600" b="1" kern="1200" baseline="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الوظيفية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CCA8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إدارة وتطوير الخدمات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البريمي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الداخلية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الظاهرة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جنوب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الباطنة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شمال </a:t>
                      </a:r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الشرقية 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ظفار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مسقط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مسندم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الوسطى </a:t>
                      </a:r>
                      <a:endParaRPr lang="ar-OM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OM" sz="16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المديرية العامة لخدمات المتعاملين</a:t>
                      </a: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OM" sz="1600" b="1" kern="1200" dirty="0" smtClean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الإجمالي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ctr"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86912"/>
                  </a:ext>
                </a:extLst>
              </a:tr>
              <a:tr h="678278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شؤون الدوائر والمنافذ في المحافظات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39016860"/>
                  </a:ext>
                </a:extLst>
              </a:tr>
              <a:tr h="343791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11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تنفيذي  مركز الخدمة الهاتفية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975630099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12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710497809"/>
                  </a:ext>
                </a:extLst>
              </a:tr>
              <a:tr h="337020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13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رئيس قسم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1300164"/>
                  </a:ext>
                </a:extLst>
              </a:tr>
              <a:tr h="346003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14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سائق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9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028232589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15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إدارة وتطوير الخدمات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292926956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16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دائرة الحماية </a:t>
                      </a:r>
                      <a:r>
                        <a:rPr lang="ar-OM" sz="1800" b="1" kern="1200" dirty="0" smtClean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الاجتماعية </a:t>
                      </a:r>
                      <a:endParaRPr lang="ar-OM" sz="1800" b="1" kern="1200" dirty="0">
                        <a:solidFill>
                          <a:schemeClr val="bg1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1510038633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17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مدير عام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54209742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18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مساعد مفتش  خدمات المتعاملين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4136237748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19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 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1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3335188311"/>
                  </a:ext>
                </a:extLst>
              </a:tr>
              <a:tr h="285314">
                <a:tc>
                  <a:txBody>
                    <a:bodyPr/>
                    <a:lstStyle/>
                    <a:p>
                      <a:pPr algn="ctr" rtl="1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+mj-cs"/>
                        </a:rPr>
                        <a:t>20</a:t>
                      </a:r>
                      <a:endParaRPr lang="ar-OM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rgbClr val="CCA8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OM" sz="1800" b="1" kern="1200" dirty="0">
                          <a:solidFill>
                            <a:schemeClr val="bg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منسقة</a:t>
                      </a:r>
                    </a:p>
                  </a:txBody>
                  <a:tcPr marL="5272" marR="5272" marT="5272" marB="0" anchor="b">
                    <a:solidFill>
                      <a:srgbClr val="3A564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 </a:t>
                      </a:r>
                    </a:p>
                  </a:txBody>
                  <a:tcPr marL="5272" marR="5272" marT="527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2</a:t>
                      </a:r>
                    </a:p>
                  </a:txBody>
                  <a:tcPr marL="5272" marR="5272" marT="5272" marB="0" anchor="b"/>
                </a:tc>
                <a:extLst>
                  <a:ext uri="{0D108BD9-81ED-4DB2-BD59-A6C34878D82A}">
                    <a16:rowId xmlns:a16="http://schemas.microsoft.com/office/drawing/2014/main" val="709193091"/>
                  </a:ext>
                </a:extLst>
              </a:tr>
              <a:tr h="341566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ar-OM" sz="2000" b="1" kern="1200" dirty="0" smtClean="0">
                          <a:solidFill>
                            <a:srgbClr val="3A564C"/>
                          </a:solidFill>
                          <a:latin typeface="Microsoft Uighur" panose="02000000000000000000" pitchFamily="2" charset="-78"/>
                          <a:ea typeface="+mn-ea"/>
                          <a:cs typeface="Microsoft Uighur" panose="02000000000000000000" pitchFamily="2" charset="-78"/>
                        </a:rPr>
                        <a:t>إجمالي عدد الموظفين </a:t>
                      </a:r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b="1" kern="1200" dirty="0">
                        <a:solidFill>
                          <a:srgbClr val="3A564C"/>
                        </a:solidFill>
                        <a:latin typeface="Microsoft Uighur" panose="02000000000000000000" pitchFamily="2" charset="-78"/>
                        <a:ea typeface="+mn-ea"/>
                        <a:cs typeface="Microsoft Uighur" panose="02000000000000000000" pitchFamily="2" charset="-78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22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19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23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>
                          <a:solidFill>
                            <a:srgbClr val="3A564C"/>
                          </a:solidFill>
                          <a:effectLst/>
                        </a:rPr>
                        <a:t>157</a:t>
                      </a:r>
                      <a:endParaRPr lang="en-US" sz="1600" b="1" i="0" u="none" strike="noStrike" dirty="0">
                        <a:solidFill>
                          <a:srgbClr val="3A564C"/>
                        </a:solidFill>
                        <a:effectLst/>
                        <a:latin typeface="+mn-lt"/>
                        <a:cs typeface="+mj-cs"/>
                      </a:endParaRPr>
                    </a:p>
                  </a:txBody>
                  <a:tcPr marL="5272" marR="5272" marT="5272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744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9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1C4B0-6D2A-BD55-6F9E-B76F09E2FA58}"/>
              </a:ext>
            </a:extLst>
          </p:cNvPr>
          <p:cNvSpPr txBox="1"/>
          <p:nvPr/>
        </p:nvSpPr>
        <p:spPr>
          <a:xfrm>
            <a:off x="3560683" y="261753"/>
            <a:ext cx="6314736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الإحصائيات على مستوى المديريه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140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</a:t>
              </a:r>
              <a:r>
                <a:rPr lang="ar-OM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الإعلامية</a:t>
              </a:r>
              <a:endParaRPr lang="en-US" sz="14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82,353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1,873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10,193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b="1" dirty="0" smtClean="0">
                  <a:solidFill>
                    <a:srgbClr val="C48F22"/>
                  </a:solidFill>
                </a:rPr>
                <a:t>41,311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219624" y="1715620"/>
            <a:ext cx="17572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48F22"/>
                </a:solidFill>
              </a:rPr>
              <a:t>11,761</a:t>
            </a:r>
            <a:endParaRPr lang="en-US" sz="4400" b="1" dirty="0">
              <a:solidFill>
                <a:srgbClr val="DCD084"/>
              </a:solidFill>
              <a:latin typeface="Century Gothic" panose="020B0502020202020204" pitchFamily="34" charset="0"/>
              <a:cs typeface="Microsoft Uighur" panose="02000000000000000000" pitchFamily="2" charset="-78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96DFE5-67FE-5396-69D0-1988537D7F87}"/>
              </a:ext>
            </a:extLst>
          </p:cNvPr>
          <p:cNvCxnSpPr>
            <a:cxnSpLocks/>
          </p:cNvCxnSpPr>
          <p:nvPr/>
        </p:nvCxnSpPr>
        <p:spPr>
          <a:xfrm>
            <a:off x="1630794" y="883384"/>
            <a:ext cx="8406088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46991" y="1894895"/>
            <a:ext cx="2039341" cy="1634266"/>
            <a:chOff x="4760844" y="3420826"/>
            <a:chExt cx="3126992" cy="2505875"/>
          </a:xfrm>
        </p:grpSpPr>
        <p:sp>
          <p:nvSpPr>
            <p:cNvPr id="25" name="Rectangle 24"/>
            <p:cNvSpPr/>
            <p:nvPr/>
          </p:nvSpPr>
          <p:spPr>
            <a:xfrm>
              <a:off x="5215208" y="4677085"/>
              <a:ext cx="2218267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760844" y="3420826"/>
              <a:ext cx="3126992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147,762</a:t>
              </a:r>
              <a:endParaRPr lang="en-US" sz="4400" b="1" dirty="0">
                <a:solidFill>
                  <a:srgbClr val="760000"/>
                </a:solidFill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80549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في</a:t>
            </a:r>
            <a:r>
              <a:rPr lang="ar-OM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23</a:t>
            </a:r>
            <a:r>
              <a:rPr lang="ar-OM" sz="2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مبادرة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3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157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9" name="Octagon 2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24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مستوى الخدمة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</a:rPr>
                <a:t> </a:t>
              </a:r>
              <a:r>
                <a:rPr lang="ar-OM" sz="4000" b="1" dirty="0" smtClean="0">
                  <a:solidFill>
                    <a:srgbClr val="C48F22"/>
                  </a:solidFill>
                </a:rPr>
                <a:t>1681</a:t>
              </a:r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معدل المكالمات يومياً</a:t>
              </a:r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8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61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%</a:t>
              </a:r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معدل الاستجابة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730215"/>
            <a:ext cx="3199208" cy="1280598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 موظف- بمعدل 141 مكالمه يوميا لكل موظف  </a:t>
            </a:r>
            <a:endParaRPr lang="en-GB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14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endParaRPr lang="en-US" sz="1826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18411" y="1715592"/>
            <a:ext cx="2348420" cy="1900845"/>
            <a:chOff x="935333" y="1334911"/>
            <a:chExt cx="2348420" cy="1900845"/>
          </a:xfrm>
        </p:grpSpPr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110</a:t>
              </a:r>
              <a:r>
                <a:rPr lang="en-US" sz="4400" b="1" dirty="0">
                  <a:solidFill>
                    <a:srgbClr val="C48F22"/>
                  </a:solidFill>
                  <a:cs typeface="Arial" panose="020B0604020202020204" pitchFamily="34" charset="0"/>
                </a:rPr>
                <a:t>,</a:t>
              </a:r>
              <a:r>
                <a:rPr lang="en-US" sz="44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884 </a:t>
              </a:r>
              <a:endParaRPr lang="ar-OM" sz="4400" b="1" dirty="0">
                <a:solidFill>
                  <a:srgbClr val="C48F2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عدد المكالمات التي تم الرد عليها  </a:t>
              </a:r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56462" y="1715591"/>
            <a:ext cx="2341531" cy="1882558"/>
            <a:chOff x="942222" y="1212149"/>
            <a:chExt cx="2341531" cy="2023607"/>
          </a:xfrm>
        </p:grpSpPr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1212149"/>
              <a:ext cx="2341531" cy="1500872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ar-OM" sz="4400" b="1" dirty="0" smtClean="0">
                  <a:solidFill>
                    <a:srgbClr val="C48F22"/>
                  </a:solidFill>
                </a:rPr>
                <a:t>4:48 </a:t>
              </a:r>
              <a:r>
                <a:rPr lang="ar-OM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دقيقه</a:t>
              </a:r>
              <a:r>
                <a:rPr lang="ar-OM" sz="72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 </a:t>
              </a:r>
              <a:endParaRPr lang="en-US" sz="72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وقت الانتظار</a:t>
              </a:r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480735" y="1759134"/>
            <a:ext cx="2348420" cy="1857303"/>
            <a:chOff x="935333" y="1378453"/>
            <a:chExt cx="2348420" cy="1857303"/>
          </a:xfrm>
        </p:grpSpPr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7845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r>
                <a:rPr lang="ar-OM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دقيقة </a:t>
              </a:r>
              <a:r>
                <a:rPr lang="en-US" sz="4000" b="1" dirty="0">
                  <a:solidFill>
                    <a:srgbClr val="C48F22"/>
                  </a:solidFill>
                  <a:cs typeface="Microsoft Uighur" panose="02000000000000000000" pitchFamily="2" charset="-78"/>
                </a:rPr>
                <a:t>3:</a:t>
              </a:r>
              <a:r>
                <a:rPr lang="ar-OM" sz="4000" b="1" dirty="0" smtClean="0">
                  <a:solidFill>
                    <a:srgbClr val="C48F22"/>
                  </a:solidFill>
                  <a:cs typeface="Arial" panose="020B0604020202020204" pitchFamily="34" charset="0"/>
                </a:rPr>
                <a:t>01</a:t>
              </a:r>
              <a:r>
                <a:rPr lang="en-US" sz="4000" b="1" dirty="0" smtClean="0">
                  <a:solidFill>
                    <a:srgbClr val="C48F22"/>
                  </a:solidFill>
                  <a:cs typeface="Microsoft Uighur" panose="02000000000000000000" pitchFamily="2" charset="-78"/>
                </a:rPr>
                <a:t> </a:t>
              </a:r>
              <a:endParaRPr lang="en-US" sz="44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1600" b="1" dirty="0" smtClean="0">
                  <a:solidFill>
                    <a:schemeClr val="bg1"/>
                  </a:solidFill>
                  <a:cs typeface="Microsoft Uighur" panose="02000000000000000000" pitchFamily="2" charset="-78"/>
                </a:rPr>
                <a:t>متوسط مدة المكالمة </a:t>
              </a:r>
              <a:endParaRPr lang="fr-FR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 rot="20292324">
            <a:off x="572315" y="1852780"/>
            <a:ext cx="1840568" cy="461665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OM" sz="2400" dirty="0">
                <a:solidFill>
                  <a:srgbClr val="C48F22"/>
                </a:solidFill>
                <a:ea typeface="Arial Unicode MS"/>
                <a:cs typeface="FreeHand" pitchFamily="2" charset="-78"/>
              </a:rPr>
              <a:t>(صوتك مسموع) </a:t>
            </a:r>
            <a:endParaRPr lang="en-US" sz="2400" dirty="0">
              <a:solidFill>
                <a:srgbClr val="C48F22"/>
              </a:solidFill>
              <a:ea typeface="Arial Unicode MS"/>
              <a:cs typeface="FreeHand" pitchFamily="2" charset="-78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3" r="13311" b="11871"/>
          <a:stretch/>
        </p:blipFill>
        <p:spPr>
          <a:xfrm>
            <a:off x="1270284" y="2194560"/>
            <a:ext cx="1839977" cy="25356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لمركز الخدمة الهاتفية 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Octagon 25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8623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3201701" y="129037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646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26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18411" y="1715592"/>
            <a:ext cx="2348420" cy="1900845"/>
            <a:chOff x="935333" y="1334911"/>
            <a:chExt cx="2348420" cy="1900845"/>
          </a:xfrm>
        </p:grpSpPr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OM" sz="4400" b="1" dirty="0">
                <a:solidFill>
                  <a:srgbClr val="C48F22"/>
                </a:solidFill>
                <a:latin typeface="Calibri (Body)"/>
              </a:endParaRPr>
            </a:p>
          </p:txBody>
        </p:sp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56462" y="1715591"/>
            <a:ext cx="2341531" cy="1882558"/>
            <a:chOff x="942222" y="1212149"/>
            <a:chExt cx="2341531" cy="2023607"/>
          </a:xfrm>
        </p:grpSpPr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1212149"/>
              <a:ext cx="2341531" cy="1500872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72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480735" y="1759134"/>
            <a:ext cx="2348420" cy="1857303"/>
            <a:chOff x="935333" y="1378453"/>
            <a:chExt cx="2348420" cy="1857303"/>
          </a:xfrm>
        </p:grpSpPr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78453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C48F22"/>
                </a:solidFill>
                <a:cs typeface="Microsoft Uighur" panose="02000000000000000000" pitchFamily="2" charset="-78"/>
              </a:endParaRPr>
            </a:p>
          </p:txBody>
        </p:sp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cs typeface="Microsoft Uighur" panose="02000000000000000000" pitchFamily="2" charset="-78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656854" y="479586"/>
            <a:ext cx="6589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لقسم إدارة علاقات المتعاملين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4" name="Octagon 2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4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123897" y="1310279"/>
            <a:ext cx="6284259" cy="22197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932159" y="236655"/>
            <a:ext cx="6667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( محافظة البريمي)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243457" y="1882342"/>
            <a:ext cx="1579746" cy="1646820"/>
            <a:chOff x="5188801" y="2230785"/>
            <a:chExt cx="2422276" cy="2525125"/>
          </a:xfrm>
        </p:grpSpPr>
        <p:sp>
          <p:nvSpPr>
            <p:cNvPr id="102" name="Rectangle 101"/>
            <p:cNvSpPr/>
            <p:nvPr/>
          </p:nvSpPr>
          <p:spPr>
            <a:xfrm>
              <a:off x="5188801" y="3506294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373862" y="2230785"/>
              <a:ext cx="2237215" cy="10854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3</a:t>
              </a:r>
              <a:r>
                <a:rPr lang="en-GB" sz="4000" b="1" dirty="0" smtClean="0">
                  <a:solidFill>
                    <a:srgbClr val="760000"/>
                  </a:solidFill>
                </a:rPr>
                <a:t>,</a:t>
              </a:r>
              <a:r>
                <a:rPr lang="ar-OM" sz="4000" b="1" dirty="0" smtClean="0">
                  <a:solidFill>
                    <a:srgbClr val="760000"/>
                  </a:solidFill>
                </a:rPr>
                <a:t>275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70101" y="3902295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0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0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743466" y="1534638"/>
            <a:ext cx="2341531" cy="1900845"/>
            <a:chOff x="935333" y="1334911"/>
            <a:chExt cx="2341531" cy="1900845"/>
          </a:xfrm>
        </p:grpSpPr>
        <p:sp>
          <p:nvSpPr>
            <p:cNvPr id="10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6000" b="1" dirty="0" smtClean="0">
                  <a:solidFill>
                    <a:srgbClr val="C48F22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9</a:t>
              </a:r>
              <a:endParaRPr lang="en-US" sz="6000" b="1" dirty="0">
                <a:solidFill>
                  <a:srgbClr val="C48F22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2,200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1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258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1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114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1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277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r>
                <a:rPr lang="en-US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t</a:t>
              </a:r>
              <a:endParaRPr lang="en-US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123" name="Rectangle 122"/>
          <p:cNvSpPr/>
          <p:nvPr/>
        </p:nvSpPr>
        <p:spPr>
          <a:xfrm>
            <a:off x="4748371" y="1715620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417</a:t>
            </a:r>
            <a:endParaRPr lang="en-US" sz="44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57334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439356" y="44623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651663" y="56517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201530" y="69673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56354" y="48720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Octagon 33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72382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42277" y="1300317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865007" y="205092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(محافظة مسقط)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6,020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222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437478" y="1685344"/>
            <a:ext cx="159851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1,024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14,166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12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23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7687" y="151227"/>
            <a:ext cx="268357" cy="268357"/>
          </a:xfrm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B827A-04A0-4CE7-9CB1-098404624EF8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74013" y="285362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( محافظة جنوب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457646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083145" y="1976272"/>
            <a:ext cx="1911101" cy="1610996"/>
            <a:chOff x="4942993" y="2374814"/>
            <a:chExt cx="2930355" cy="2470197"/>
          </a:xfrm>
        </p:grpSpPr>
        <p:sp>
          <p:nvSpPr>
            <p:cNvPr id="41" name="Rectangle 40"/>
            <p:cNvSpPr/>
            <p:nvPr/>
          </p:nvSpPr>
          <p:spPr>
            <a:xfrm>
              <a:off x="5151483" y="3595395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942993" y="2374814"/>
              <a:ext cx="2930355" cy="1415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17,653</a:t>
              </a:r>
              <a:r>
                <a:rPr lang="en-US" sz="5400" dirty="0" smtClean="0"/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73017" y="3921633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5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8,775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5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5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682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5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6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4,056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6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4410371" y="1715620"/>
            <a:ext cx="159851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4,071</a:t>
            </a:r>
            <a:endParaRPr lang="en-US" sz="4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448369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15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79019" y="419584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91326" y="538522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41193" y="670078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96017" y="460551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Octagon 3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5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2556" y="1262960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72855" y="419308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85162" y="538246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935029" y="669802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853" y="460275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30640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32880" y="1878105"/>
            <a:ext cx="2046926" cy="1597123"/>
            <a:chOff x="5373387" y="3384253"/>
            <a:chExt cx="3138619" cy="2448922"/>
          </a:xfrm>
        </p:grpSpPr>
        <p:sp>
          <p:nvSpPr>
            <p:cNvPr id="12" name="Rectangle 11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5626" y="3384253"/>
              <a:ext cx="3016380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31,938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61383" y="4041952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197641" y="1531076"/>
            <a:ext cx="2358326" cy="1900845"/>
            <a:chOff x="1368125" y="1334911"/>
            <a:chExt cx="2358326" cy="1900845"/>
          </a:xfrm>
        </p:grpSpPr>
        <p:sp>
          <p:nvSpPr>
            <p:cNvPr id="1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16460" y="1531076"/>
            <a:ext cx="2341531" cy="1900845"/>
            <a:chOff x="935333" y="1334911"/>
            <a:chExt cx="2341531" cy="1900845"/>
          </a:xfrm>
        </p:grpSpPr>
        <p:sp>
          <p:nvSpPr>
            <p:cNvPr id="1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632261" y="1531076"/>
            <a:ext cx="2348420" cy="1900845"/>
            <a:chOff x="935333" y="1334911"/>
            <a:chExt cx="2348420" cy="1900845"/>
          </a:xfrm>
        </p:grpSpPr>
        <p:sp>
          <p:nvSpPr>
            <p:cNvPr id="2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3600" b="1" dirty="0">
                  <a:solidFill>
                    <a:srgbClr val="C48F22"/>
                  </a:solidFill>
                </a:rPr>
                <a:t>17,138 </a:t>
              </a:r>
              <a:endParaRPr lang="en-US" sz="3600" b="1" dirty="0">
                <a:solidFill>
                  <a:srgbClr val="C48F22"/>
                </a:solidFill>
              </a:endParaRPr>
            </a:p>
          </p:txBody>
        </p:sp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197641" y="4053552"/>
            <a:ext cx="2358326" cy="1900845"/>
            <a:chOff x="935333" y="1334911"/>
            <a:chExt cx="2358326" cy="1900845"/>
          </a:xfrm>
        </p:grpSpPr>
        <p:sp>
          <p:nvSpPr>
            <p:cNvPr id="2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565097" y="4109968"/>
            <a:ext cx="2415584" cy="1900845"/>
            <a:chOff x="935333" y="1334911"/>
            <a:chExt cx="2415584" cy="1900845"/>
          </a:xfrm>
        </p:grpSpPr>
        <p:sp>
          <p:nvSpPr>
            <p:cNvPr id="2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2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91045" y="4053552"/>
            <a:ext cx="2366946" cy="1900845"/>
            <a:chOff x="935333" y="1334911"/>
            <a:chExt cx="2366946" cy="1900845"/>
          </a:xfrm>
        </p:grpSpPr>
        <p:sp>
          <p:nvSpPr>
            <p:cNvPr id="3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المجموع الكلي للخدمات </a:t>
              </a:r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30640" y="4955238"/>
            <a:ext cx="3199208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22 </a:t>
            </a:r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09904" y="122840"/>
            <a:ext cx="9055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</a:t>
            </a:r>
            <a:r>
              <a:rPr lang="ar-OM" sz="3200" b="1" dirty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الاجتماعية </a:t>
            </a:r>
            <a:endParaRPr lang="ar-OM" sz="3200" b="1" dirty="0" smtClean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( محافظة شمال الباطنة)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61584" y="1794204"/>
            <a:ext cx="8258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>
                <a:solidFill>
                  <a:srgbClr val="C48F22"/>
                </a:solidFill>
              </a:rPr>
              <a:t>22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93909" y="1851003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48F22"/>
                </a:solidFill>
              </a:rPr>
              <a:t>1,589 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850389" y="4308907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48F22"/>
                </a:solidFill>
              </a:rPr>
              <a:t>406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37273" y="4356067"/>
            <a:ext cx="1595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48F22"/>
                </a:solidFill>
              </a:rPr>
              <a:t>12,188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975234" y="4308907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3600" b="1" dirty="0" smtClean="0">
                <a:solidFill>
                  <a:srgbClr val="C48F22"/>
                </a:solidFill>
              </a:rPr>
              <a:t>595</a:t>
            </a:r>
            <a:endParaRPr lang="en-US" sz="3600" b="1" dirty="0">
              <a:solidFill>
                <a:srgbClr val="C48F22"/>
              </a:solidFill>
            </a:endParaRPr>
          </a:p>
        </p:txBody>
      </p:sp>
      <p:sp>
        <p:nvSpPr>
          <p:cNvPr id="40" name="Octagon 39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8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379120" y="936467"/>
            <a:ext cx="5611091" cy="27769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355DCE6-5919-5FC0-A6CE-6D5C4B577207}"/>
              </a:ext>
            </a:extLst>
          </p:cNvPr>
          <p:cNvSpPr txBox="1">
            <a:spLocks/>
          </p:cNvSpPr>
          <p:nvPr/>
        </p:nvSpPr>
        <p:spPr>
          <a:xfrm>
            <a:off x="11955968" y="151227"/>
            <a:ext cx="268357" cy="26835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60035" y="305892"/>
            <a:ext cx="8712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الظاهرة)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605927" y="1531076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461432" y="1878103"/>
            <a:ext cx="2028638" cy="1633699"/>
            <a:chOff x="5373387" y="3328169"/>
            <a:chExt cx="3110576" cy="2505006"/>
          </a:xfrm>
        </p:grpSpPr>
        <p:sp>
          <p:nvSpPr>
            <p:cNvPr id="28" name="Rectangle 2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67584" y="3328169"/>
              <a:ext cx="3016379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11,248</a:t>
              </a:r>
              <a:r>
                <a:rPr lang="en-US" sz="4000" b="1" dirty="0" smtClean="0">
                  <a:solidFill>
                    <a:srgbClr val="760000"/>
                  </a:solidFill>
                </a:rPr>
                <a:t> </a:t>
              </a:r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621298" y="3907248"/>
            <a:ext cx="3187402" cy="764384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172928" y="1531076"/>
            <a:ext cx="2358326" cy="1900845"/>
            <a:chOff x="1368125" y="1334911"/>
            <a:chExt cx="2358326" cy="190084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91747" y="1531076"/>
            <a:ext cx="2341531" cy="1900845"/>
            <a:chOff x="935333" y="1334911"/>
            <a:chExt cx="2341531" cy="1900845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607548" y="1531076"/>
            <a:ext cx="2348420" cy="1900845"/>
            <a:chOff x="935333" y="1334911"/>
            <a:chExt cx="2348420" cy="1900845"/>
          </a:xfrm>
        </p:grpSpPr>
        <p:sp>
          <p:nvSpPr>
            <p:cNvPr id="3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3,142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39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172928" y="4053552"/>
            <a:ext cx="2358326" cy="1900845"/>
            <a:chOff x="935333" y="1334911"/>
            <a:chExt cx="2358326" cy="1900845"/>
          </a:xfrm>
        </p:grpSpPr>
        <p:sp>
          <p:nvSpPr>
            <p:cNvPr id="4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146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540384" y="4109968"/>
            <a:ext cx="2415584" cy="1900845"/>
            <a:chOff x="935333" y="1334911"/>
            <a:chExt cx="2415584" cy="1900845"/>
          </a:xfrm>
        </p:grpSpPr>
        <p:sp>
          <p:nvSpPr>
            <p:cNvPr id="4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1,397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4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66332" y="4053552"/>
            <a:ext cx="2366946" cy="1900845"/>
            <a:chOff x="935333" y="1334911"/>
            <a:chExt cx="2366946" cy="1900845"/>
          </a:xfrm>
        </p:grpSpPr>
        <p:sp>
          <p:nvSpPr>
            <p:cNvPr id="4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6,457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4896652" y="1715620"/>
            <a:ext cx="8130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84</a:t>
            </a:r>
            <a:endParaRPr lang="en-US" sz="4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96650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7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241888" y="389679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454195" y="508617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1004062" y="640173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58886" y="430646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55" name="Octagon 54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026414" y="1202345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662020" y="76255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شمال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1591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>
                  <a:solidFill>
                    <a:srgbClr val="C48F22"/>
                  </a:solidFill>
                </a:rPr>
                <a:t>1,287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>
                  <a:solidFill>
                    <a:srgbClr val="C48F22"/>
                  </a:solidFill>
                </a:rPr>
                <a:t>7,195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>
                  <a:solidFill>
                    <a:srgbClr val="C48F22"/>
                  </a:solidFill>
                </a:rPr>
                <a:t>5,371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707731" y="1715620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332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15,800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12</a:t>
            </a:r>
            <a:r>
              <a:rPr lang="ar-OM" sz="20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4808695" y="1186016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59017" y="100818"/>
            <a:ext cx="93156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</a:t>
            </a:r>
          </a:p>
          <a:p>
            <a:pPr algn="ctr"/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 (محافظة جنوب الشرقية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11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6,020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222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437478" y="1685344"/>
            <a:ext cx="159851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1,024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7,386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11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ظفار)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26,000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344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3,376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3,529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496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33,769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19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7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7195" y="303591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مسندم)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1,047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527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497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387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2,471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4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الوسطى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5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1,434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63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10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1,889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846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595701" cy="1613121"/>
            <a:chOff x="5200997" y="3415806"/>
            <a:chExt cx="2446739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251961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4,247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4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60D64F-6F4F-EAF0-BAB7-5E47E078B92D}"/>
              </a:ext>
            </a:extLst>
          </p:cNvPr>
          <p:cNvCxnSpPr>
            <a:cxnSpLocks/>
          </p:cNvCxnSpPr>
          <p:nvPr/>
        </p:nvCxnSpPr>
        <p:spPr>
          <a:xfrm flipH="1">
            <a:off x="5149163" y="892102"/>
            <a:ext cx="5791200" cy="0"/>
          </a:xfrm>
          <a:prstGeom prst="line">
            <a:avLst/>
          </a:prstGeom>
          <a:ln>
            <a:solidFill>
              <a:srgbClr val="C48F2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42878" y="287250"/>
            <a:ext cx="9315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3200" b="1" dirty="0" smtClean="0">
                <a:solidFill>
                  <a:srgbClr val="C48F22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أهم المؤشرات الإحصائية والإنجازات لصندوق الحماية الاجتماعية  (محافظة الداخلية )  </a:t>
            </a:r>
            <a:endParaRPr lang="en-US" sz="3200" b="1" dirty="0">
              <a:solidFill>
                <a:srgbClr val="C48F22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499807" y="665332"/>
            <a:ext cx="1820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60674" y="2634603"/>
            <a:ext cx="1549857" cy="1597123"/>
            <a:chOff x="5215205" y="3384253"/>
            <a:chExt cx="2376448" cy="2448922"/>
          </a:xfrm>
        </p:grpSpPr>
        <p:sp>
          <p:nvSpPr>
            <p:cNvPr id="8" name="Rectangle 7"/>
            <p:cNvSpPr/>
            <p:nvPr/>
          </p:nvSpPr>
          <p:spPr>
            <a:xfrm>
              <a:off x="5373387" y="4583559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15205" y="3384253"/>
              <a:ext cx="2148731" cy="13728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5218" b="1" dirty="0" smtClean="0">
                  <a:solidFill>
                    <a:schemeClr val="accent2">
                      <a:lumMod val="50000"/>
                    </a:schemeClr>
                  </a:solidFill>
                  <a:latin typeface="Microsoft Uighur" panose="02000000000000000000" pitchFamily="2" charset="-78"/>
                  <a:ea typeface="SimSun" panose="02010600030101010101" pitchFamily="2" charset="-122"/>
                  <a:cs typeface="Microsoft Uighur" panose="02000000000000000000" pitchFamily="2" charset="-78"/>
                </a:rPr>
                <a:t>4,345 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24647" y="1531076"/>
            <a:ext cx="2358326" cy="1900845"/>
            <a:chOff x="1368125" y="1334911"/>
            <a:chExt cx="2358326" cy="1900845"/>
          </a:xfrm>
        </p:grpSpPr>
        <p:sp>
          <p:nvSpPr>
            <p:cNvPr id="1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2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1368125" y="2518030"/>
              <a:ext cx="235143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</a:t>
              </a:r>
              <a:r>
                <a:rPr lang="ar-OM" sz="2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الخدمات الميدانية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43466" y="1531076"/>
            <a:ext cx="2341531" cy="1900845"/>
            <a:chOff x="935333" y="1334911"/>
            <a:chExt cx="2341531" cy="1900845"/>
          </a:xfrm>
        </p:grpSpPr>
        <p:sp>
          <p:nvSpPr>
            <p:cNvPr id="1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1531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3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5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34642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للأنشطة الإعلامية</a:t>
              </a:r>
              <a:r>
                <a:rPr lang="ar-OM" sz="16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 </a:t>
              </a:r>
              <a:endParaRPr lang="en-US" sz="16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59267" y="1531076"/>
            <a:ext cx="2348420" cy="1900845"/>
            <a:chOff x="935333" y="1334911"/>
            <a:chExt cx="2348420" cy="1900845"/>
          </a:xfrm>
        </p:grpSpPr>
        <p:sp>
          <p:nvSpPr>
            <p:cNvPr id="1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48420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8,606</a:t>
              </a:r>
              <a:endParaRPr lang="en-US" sz="4400" b="1" dirty="0">
                <a:solidFill>
                  <a:srgbClr val="DCD084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  <p:sp>
          <p:nvSpPr>
            <p:cNvPr id="18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1531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إجمالي حجم المعاملات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24647" y="4053552"/>
            <a:ext cx="2358326" cy="1900845"/>
            <a:chOff x="935333" y="1334911"/>
            <a:chExt cx="2358326" cy="1900845"/>
          </a:xfrm>
        </p:grpSpPr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5832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13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1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44548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الاستباقية 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92103" y="4109968"/>
            <a:ext cx="2415584" cy="1900845"/>
            <a:chOff x="935333" y="1334911"/>
            <a:chExt cx="2415584" cy="1900845"/>
          </a:xfrm>
        </p:grpSpPr>
        <p:sp>
          <p:nvSpPr>
            <p:cNvPr id="23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415584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134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408695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لطلبات حجز المواعيد </a:t>
              </a:r>
              <a:endParaRPr lang="fr-FR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18051" y="4053552"/>
            <a:ext cx="2366946" cy="1900845"/>
            <a:chOff x="935333" y="1334911"/>
            <a:chExt cx="2366946" cy="1900845"/>
          </a:xfrm>
        </p:grpSpPr>
        <p:sp>
          <p:nvSpPr>
            <p:cNvPr id="26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35333" y="1334911"/>
              <a:ext cx="2366946" cy="1138530"/>
            </a:xfrm>
            <a:prstGeom prst="roundRect">
              <a:avLst>
                <a:gd name="adj" fmla="val 5329"/>
              </a:avLst>
            </a:prstGeom>
            <a:solidFill>
              <a:srgbClr val="E6E6E6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4400" b="1" dirty="0" smtClean="0">
                  <a:solidFill>
                    <a:srgbClr val="C48F22"/>
                  </a:solidFill>
                </a:rPr>
                <a:t>4,385</a:t>
              </a:r>
              <a:endParaRPr lang="en-US" sz="4400" b="1" dirty="0">
                <a:solidFill>
                  <a:srgbClr val="C48F22"/>
                </a:solidFill>
              </a:endParaRPr>
            </a:p>
          </p:txBody>
        </p:sp>
        <p:sp>
          <p:nvSpPr>
            <p:cNvPr id="27" name="Rounded Rectangle 31">
              <a:extLst>
                <a:ext uri="{FF2B5EF4-FFF2-40B4-BE49-F238E27FC236}">
                  <a16:creationId xmlns:a16="http://schemas.microsoft.com/office/drawing/2014/main" id="{1B622561-49EC-422B-ACC3-DDB248C33DCE}"/>
                </a:ext>
              </a:extLst>
            </p:cNvPr>
            <p:cNvSpPr/>
            <p:nvPr/>
          </p:nvSpPr>
          <p:spPr>
            <a:xfrm>
              <a:off x="942222" y="2518030"/>
              <a:ext cx="2360057" cy="717726"/>
            </a:xfrm>
            <a:prstGeom prst="roundRect">
              <a:avLst>
                <a:gd name="adj" fmla="val 5329"/>
              </a:avLst>
            </a:prstGeom>
            <a:solidFill>
              <a:srgbClr val="3A564C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OM" sz="2000" b="1" dirty="0" smtClean="0">
                  <a:solidFill>
                    <a:schemeClr val="bg1"/>
                  </a:solidFill>
                  <a:latin typeface="Century Gothic" panose="020B0502020202020204" pitchFamily="34" charset="0"/>
                  <a:cs typeface="Microsoft Uighur" panose="02000000000000000000" pitchFamily="2" charset="-78"/>
                </a:rPr>
                <a:t>المجموع الكلي للخدمات الذاتية</a:t>
              </a:r>
              <a:endParaRPr lang="en-US" sz="2000" b="1" dirty="0">
                <a:solidFill>
                  <a:schemeClr val="bg1"/>
                </a:solidFill>
                <a:latin typeface="Century Gothic" panose="020B0502020202020204" pitchFamily="34" charset="0"/>
                <a:cs typeface="Microsoft Uighur" panose="020000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585547" y="1699649"/>
            <a:ext cx="11272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OM" sz="4400" b="1" dirty="0" smtClean="0">
                <a:solidFill>
                  <a:srgbClr val="C48F22"/>
                </a:solidFill>
              </a:rPr>
              <a:t>196</a:t>
            </a:r>
            <a:endParaRPr lang="en-US" sz="4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1D46E-147C-49AA-1082-D50B53FFCC23}"/>
              </a:ext>
            </a:extLst>
          </p:cNvPr>
          <p:cNvSpPr/>
          <p:nvPr/>
        </p:nvSpPr>
        <p:spPr>
          <a:xfrm>
            <a:off x="511861" y="1544567"/>
            <a:ext cx="3218145" cy="4352859"/>
          </a:xfrm>
          <a:prstGeom prst="rect">
            <a:avLst/>
          </a:prstGeom>
          <a:solidFill>
            <a:srgbClr val="D8CFCE"/>
          </a:solidFill>
          <a:ln>
            <a:noFill/>
          </a:ln>
          <a:effectLst>
            <a:outerShdw blurRad="254000" sx="105000" sy="105000" algn="c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46318" y="1891623"/>
            <a:ext cx="1754006" cy="1613121"/>
            <a:chOff x="5200997" y="3415806"/>
            <a:chExt cx="2689473" cy="2473452"/>
          </a:xfrm>
        </p:grpSpPr>
        <p:sp>
          <p:nvSpPr>
            <p:cNvPr id="31" name="Rectangle 30"/>
            <p:cNvSpPr/>
            <p:nvPr/>
          </p:nvSpPr>
          <p:spPr>
            <a:xfrm>
              <a:off x="5429470" y="4639642"/>
              <a:ext cx="2218266" cy="12496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ar-OM" sz="2348" b="1" dirty="0">
                  <a:solidFill>
                    <a:srgbClr val="013631"/>
                  </a:solidFill>
                  <a:latin typeface="Microsoft Uighur" panose="02000000000000000000" pitchFamily="2" charset="-78"/>
                  <a:cs typeface="Microsoft Uighur" panose="02000000000000000000" pitchFamily="2" charset="-78"/>
                </a:rPr>
                <a:t>إجمالي حجم الأعمال المنجزة </a:t>
              </a:r>
              <a:endParaRPr lang="ar-OM" sz="1044" b="1" dirty="0">
                <a:solidFill>
                  <a:srgbClr val="013631"/>
                </a:solidFill>
                <a:latin typeface="Microsoft Uighur" panose="02000000000000000000" pitchFamily="2" charset="-78"/>
                <a:ea typeface="SimSun" panose="02010600030101010101" pitchFamily="2" charset="-122"/>
                <a:cs typeface="Microsoft Uighur" panose="02000000000000000000" pitchFamily="2" charset="-78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00997" y="3415806"/>
              <a:ext cx="2689473" cy="10854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OM" sz="4000" b="1" dirty="0" smtClean="0">
                  <a:solidFill>
                    <a:srgbClr val="760000"/>
                  </a:solidFill>
                </a:rPr>
                <a:t>13,337</a:t>
              </a:r>
              <a:endParaRPr lang="en-US" sz="5218" dirty="0">
                <a:solidFill>
                  <a:schemeClr val="accent2">
                    <a:lumMod val="50000"/>
                  </a:schemeClr>
                </a:solidFill>
                <a:latin typeface="Microsoft Uighur" panose="02000000000000000000" pitchFamily="2" charset="-78"/>
                <a:cs typeface="Microsoft Uighur" panose="02000000000000000000" pitchFamily="2" charset="-78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3938984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المشاركة في </a:t>
            </a:r>
            <a:r>
              <a:rPr lang="en-GB" sz="3200" b="1" spc="33" dirty="0" smtClean="0">
                <a:solidFill>
                  <a:srgbClr val="760000"/>
                </a:solidFill>
                <a:latin typeface="Microsoft Uighur" panose="02000000000000000000" pitchFamily="2" charset="-78"/>
                <a:ea typeface="Segoe UI" panose="020B0502040204020203" pitchFamily="34" charset="0"/>
                <a:cs typeface="Microsoft Uighur" panose="02000000000000000000" pitchFamily="2" charset="-78"/>
              </a:rPr>
              <a:t>15 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مبادرات </a:t>
            </a:r>
            <a:r>
              <a:rPr lang="ar-OM" sz="2200" b="1" dirty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تشغيلية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23099B-6F7C-4BBD-9F4E-A5126796931E}"/>
              </a:ext>
            </a:extLst>
          </p:cNvPr>
          <p:cNvSpPr/>
          <p:nvPr/>
        </p:nvSpPr>
        <p:spPr>
          <a:xfrm>
            <a:off x="521521" y="4790646"/>
            <a:ext cx="3208485" cy="74024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OM" sz="28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13</a:t>
            </a:r>
            <a:r>
              <a:rPr lang="ar-OM" sz="2200" b="1" dirty="0" smtClean="0">
                <a:solidFill>
                  <a:srgbClr val="760000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 موظف</a:t>
            </a:r>
            <a:endParaRPr lang="en-US" sz="2200" b="1" dirty="0">
              <a:solidFill>
                <a:srgbClr val="760000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6A0D7B-C2BD-55C2-BDE8-6DD2DE363709}"/>
              </a:ext>
            </a:extLst>
          </p:cNvPr>
          <p:cNvSpPr/>
          <p:nvPr/>
        </p:nvSpPr>
        <p:spPr>
          <a:xfrm>
            <a:off x="121968" y="373842"/>
            <a:ext cx="2720051" cy="500988"/>
          </a:xfrm>
          <a:prstGeom prst="rect">
            <a:avLst/>
          </a:prstGeom>
          <a:gradFill>
            <a:gsLst>
              <a:gs pos="0">
                <a:srgbClr val="241F21">
                  <a:alpha val="85000"/>
                </a:srgbClr>
              </a:gs>
              <a:gs pos="100000">
                <a:srgbClr val="241F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702577-6522-C60A-9629-8528414077DB}"/>
              </a:ext>
            </a:extLst>
          </p:cNvPr>
          <p:cNvSpPr/>
          <p:nvPr/>
        </p:nvSpPr>
        <p:spPr>
          <a:xfrm>
            <a:off x="2334275" y="492780"/>
            <a:ext cx="1005840" cy="302020"/>
          </a:xfrm>
          <a:prstGeom prst="rect">
            <a:avLst/>
          </a:prstGeom>
          <a:solidFill>
            <a:srgbClr val="C48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OM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Uighur" panose="02000000000000000000" pitchFamily="2" charset="-78"/>
                <a:cs typeface="Microsoft Uighur" panose="02000000000000000000" pitchFamily="2" charset="-78"/>
              </a:rPr>
              <a:t>يناير</a:t>
            </a:r>
            <a:r>
              <a:rPr kumimoji="0" lang="ar-OM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C8AB7D-86D5-F874-9DE3-98B5C7FC131B}"/>
              </a:ext>
            </a:extLst>
          </p:cNvPr>
          <p:cNvCxnSpPr/>
          <p:nvPr/>
        </p:nvCxnSpPr>
        <p:spPr>
          <a:xfrm>
            <a:off x="884142" y="624336"/>
            <a:ext cx="18135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966" y="414809"/>
            <a:ext cx="71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OM" sz="2000" b="1" dirty="0">
                <a:solidFill>
                  <a:prstClr val="white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مارس </a:t>
            </a:r>
            <a:endParaRPr lang="en-US" sz="2000" b="1" dirty="0">
              <a:solidFill>
                <a:prstClr val="white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  <p:sp>
        <p:nvSpPr>
          <p:cNvPr id="39" name="Octagon 38">
            <a:extLst>
              <a:ext uri="{FF2B5EF4-FFF2-40B4-BE49-F238E27FC236}">
                <a16:creationId xmlns:a16="http://schemas.microsoft.com/office/drawing/2014/main" id="{8F86244E-E4BF-5A5A-2854-9EE6B1A483EE}"/>
              </a:ext>
            </a:extLst>
          </p:cNvPr>
          <p:cNvSpPr/>
          <p:nvPr/>
        </p:nvSpPr>
        <p:spPr>
          <a:xfrm>
            <a:off x="11766110" y="6358527"/>
            <a:ext cx="268357" cy="268357"/>
          </a:xfrm>
          <a:prstGeom prst="octagon">
            <a:avLst/>
          </a:prstGeom>
          <a:solidFill>
            <a:srgbClr val="CCA862"/>
          </a:solidFill>
          <a:ln>
            <a:noFill/>
          </a:ln>
          <a:effectLst>
            <a:outerShdw blurRad="1270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DA08-55BC-F717-DD5C-A2315587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7" y="2791864"/>
            <a:ext cx="7216302" cy="1325563"/>
          </a:xfrm>
        </p:spPr>
        <p:txBody>
          <a:bodyPr>
            <a:normAutofit/>
          </a:bodyPr>
          <a:lstStyle/>
          <a:p>
            <a:pPr algn="ctr" rtl="1"/>
            <a:r>
              <a:rPr lang="ar-SA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شكر</a:t>
            </a:r>
            <a:r>
              <a:rPr lang="ar-OM" sz="4800" b="1" dirty="0" smtClean="0">
                <a:solidFill>
                  <a:srgbClr val="CCA862"/>
                </a:solidFill>
                <a:latin typeface="+mn-lt"/>
                <a:cs typeface="DIN Next LT Arabic" panose="020B0503020203050203" pitchFamily="34" charset="-78"/>
              </a:rPr>
              <a:t>اً</a:t>
            </a:r>
            <a:endParaRPr lang="en-OM" sz="4800" b="1" dirty="0">
              <a:solidFill>
                <a:srgbClr val="CCA862"/>
              </a:solidFill>
              <a:latin typeface="+mn-lt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901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1905</Words>
  <Application>Microsoft Office PowerPoint</Application>
  <PresentationFormat>Widescreen</PresentationFormat>
  <Paragraphs>817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0" baseType="lpstr">
      <vt:lpstr>Arial Unicode MS</vt:lpstr>
      <vt:lpstr>SimSun</vt:lpstr>
      <vt:lpstr>Arial</vt:lpstr>
      <vt:lpstr>Book Antiqua</vt:lpstr>
      <vt:lpstr>Calibri</vt:lpstr>
      <vt:lpstr>Calibri (Body)</vt:lpstr>
      <vt:lpstr>Calibri Light</vt:lpstr>
      <vt:lpstr>Century Gothic</vt:lpstr>
      <vt:lpstr>DIN Next LT Arabic</vt:lpstr>
      <vt:lpstr>FreeHand</vt:lpstr>
      <vt:lpstr>Microsoft Sans Serif</vt:lpstr>
      <vt:lpstr>Microsoft Uighur</vt:lpstr>
      <vt:lpstr>Open Sans</vt:lpstr>
      <vt:lpstr>Segoe UI</vt:lpstr>
      <vt:lpstr>Times New Roman</vt:lpstr>
      <vt:lpstr>Office Theme</vt:lpstr>
      <vt:lpstr>التقرير الربع السنوي للمديرية العامة لخدمات المتعاملين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شكراً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العنوان</dc:title>
  <dc:creator>Microsoft Office User</dc:creator>
  <cp:lastModifiedBy>Hassna Rashid Al Manji</cp:lastModifiedBy>
  <cp:revision>78</cp:revision>
  <dcterms:created xsi:type="dcterms:W3CDTF">2023-10-25T10:34:05Z</dcterms:created>
  <dcterms:modified xsi:type="dcterms:W3CDTF">2024-07-02T09:28:33Z</dcterms:modified>
</cp:coreProperties>
</file>